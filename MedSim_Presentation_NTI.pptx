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.jpg" ContentType="image/jpg"/>
  <Override PartName="/ppt/media/image11.jpg" ContentType="image/jpg"/>
  <Override PartName="/ppt/media/image2.jpg" ContentType="image/jp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76" r:id="rId5"/>
    <p:sldId id="277" r:id="rId6"/>
    <p:sldId id="278" r:id="rId7"/>
    <p:sldId id="280" r:id="rId8"/>
    <p:sldId id="279" r:id="rId9"/>
    <p:sldId id="281" r:id="rId10"/>
    <p:sldId id="282" r:id="rId11"/>
    <p:sldId id="283" r:id="rId12"/>
    <p:sldId id="284" r:id="rId13"/>
    <p:sldId id="259" r:id="rId14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22" d="100"/>
          <a:sy n="122" d="100"/>
        </p:scale>
        <p:origin x="114" y="11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EC8850-4F7C-4F32-A428-B45380D9B717}" type="datetimeFigureOut">
              <a:rPr lang="ru-RU" smtClean="0"/>
              <a:t>20.08.2026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87F60A-D650-4C24-A25C-12FAA49429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03557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87F60A-D650-4C24-A25C-12FAA49429E4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1771943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pPr marL="115570">
              <a:lnSpc>
                <a:spcPts val="1655"/>
              </a:lnSpc>
            </a:pPr>
            <a:fld id="{81D60167-4931-47E6-BA6A-407CBD079E47}" type="slidenum">
              <a:rPr spc="-50" dirty="0">
                <a:solidFill>
                  <a:srgbClr val="FFFFFF"/>
                </a:solidFill>
              </a:rPr>
              <a:t>‹#›</a:t>
            </a:fld>
            <a:endParaRPr spc="-5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pPr marL="115570">
              <a:lnSpc>
                <a:spcPts val="1655"/>
              </a:lnSpc>
            </a:pPr>
            <a:fld id="{81D60167-4931-47E6-BA6A-407CBD079E47}" type="slidenum">
              <a:rPr spc="-50" dirty="0">
                <a:solidFill>
                  <a:srgbClr val="FFFFFF"/>
                </a:solidFill>
              </a:rPr>
              <a:t>‹#›</a:t>
            </a:fld>
            <a:endParaRPr spc="-5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625475" y="584200"/>
            <a:ext cx="0" cy="684530"/>
          </a:xfrm>
          <a:custGeom>
            <a:avLst/>
            <a:gdLst/>
            <a:ahLst/>
            <a:cxnLst/>
            <a:rect l="l" t="t" r="r" b="b"/>
            <a:pathLst>
              <a:path h="684530">
                <a:moveTo>
                  <a:pt x="0" y="0"/>
                </a:moveTo>
                <a:lnTo>
                  <a:pt x="0" y="684276"/>
                </a:lnTo>
              </a:path>
            </a:pathLst>
          </a:custGeom>
          <a:ln w="762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pPr marL="115570">
              <a:lnSpc>
                <a:spcPts val="1655"/>
              </a:lnSpc>
            </a:pPr>
            <a:fld id="{81D60167-4931-47E6-BA6A-407CBD079E47}" type="slidenum">
              <a:rPr spc="-50" dirty="0">
                <a:solidFill>
                  <a:srgbClr val="FFFFFF"/>
                </a:solidFill>
              </a:rPr>
              <a:t>‹#›</a:t>
            </a:fld>
            <a:endParaRPr spc="-5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pPr marL="115570">
              <a:lnSpc>
                <a:spcPts val="1655"/>
              </a:lnSpc>
            </a:pPr>
            <a:fld id="{81D60167-4931-47E6-BA6A-407CBD079E47}" type="slidenum">
              <a:rPr spc="-50" dirty="0">
                <a:solidFill>
                  <a:srgbClr val="FFFFFF"/>
                </a:solidFill>
              </a:rPr>
              <a:t>‹#›</a:t>
            </a:fld>
            <a:endParaRPr spc="-5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pPr marL="115570">
              <a:lnSpc>
                <a:spcPts val="1655"/>
              </a:lnSpc>
            </a:pPr>
            <a:fld id="{81D60167-4931-47E6-BA6A-407CBD079E47}" type="slidenum">
              <a:rPr spc="-50" dirty="0">
                <a:solidFill>
                  <a:srgbClr val="FFFFFF"/>
                </a:solidFill>
              </a:rPr>
              <a:t>‹#›</a:t>
            </a:fld>
            <a:endParaRPr spc="-5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25500" y="554287"/>
            <a:ext cx="10050780" cy="8331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17499" y="1479092"/>
            <a:ext cx="11125835" cy="47929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709145" y="6442645"/>
            <a:ext cx="282575" cy="228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pPr marL="115570">
              <a:lnSpc>
                <a:spcPts val="1655"/>
              </a:lnSpc>
            </a:pPr>
            <a:fld id="{81D60167-4931-47E6-BA6A-407CBD079E47}" type="slidenum">
              <a:rPr spc="-50" dirty="0">
                <a:solidFill>
                  <a:srgbClr val="FFFFFF"/>
                </a:solidFill>
              </a:rPr>
              <a:t>‹#›</a:t>
            </a:fld>
            <a:endParaRPr spc="-50" dirty="0">
              <a:solidFill>
                <a:srgbClr val="FFFFFF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image" Target="../media/image11.jpg"/><Relationship Id="rId4" Type="http://schemas.openxmlformats.org/officeDocument/2006/relationships/image" Target="../media/image1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3" Type="http://schemas.openxmlformats.org/officeDocument/2006/relationships/image" Target="../media/image12.png"/><Relationship Id="rId4" Type="http://schemas.openxmlformats.org/officeDocument/2006/relationships/image" Target="../media/image1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3" Type="http://schemas.openxmlformats.org/officeDocument/2006/relationships/image" Target="../media/image12.png"/><Relationship Id="rId4" Type="http://schemas.openxmlformats.org/officeDocument/2006/relationships/image" Target="../media/image1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3" Type="http://schemas.openxmlformats.org/officeDocument/2006/relationships/image" Target="../media/image1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3" Type="http://schemas.openxmlformats.org/officeDocument/2006/relationships/image" Target="../media/image12.png"/><Relationship Id="rId4" Type="http://schemas.openxmlformats.org/officeDocument/2006/relationships/image" Target="../media/image1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3" Type="http://schemas.openxmlformats.org/officeDocument/2006/relationships/image" Target="../media/image12.png"/><Relationship Id="rId4" Type="http://schemas.openxmlformats.org/officeDocument/2006/relationships/image" Target="../media/image1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3" Type="http://schemas.openxmlformats.org/officeDocument/2006/relationships/image" Target="../media/image12.png"/><Relationship Id="rId4" Type="http://schemas.openxmlformats.org/officeDocument/2006/relationships/image" Target="../media/image1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3" Type="http://schemas.openxmlformats.org/officeDocument/2006/relationships/image" Target="../media/image1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3" Type="http://schemas.openxmlformats.org/officeDocument/2006/relationships/image" Target="../media/image1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3" Type="http://schemas.openxmlformats.org/officeDocument/2006/relationships/image" Target="../media/image12.png"/><Relationship Id="rId4" Type="http://schemas.openxmlformats.org/officeDocument/2006/relationships/image" Target="../media/image1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3" Type="http://schemas.openxmlformats.org/officeDocument/2006/relationships/image" Target="../media/image12.png"/><Relationship Id="rId4" Type="http://schemas.openxmlformats.org/officeDocument/2006/relationships/image" Target="../media/image1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390296" y="511962"/>
            <a:ext cx="1520825" cy="551558"/>
          </a:xfrm>
          <a:custGeom>
            <a:avLst/>
            <a:gdLst/>
            <a:ahLst/>
            <a:cxnLst/>
            <a:rect l="l" t="t" r="r" b="b"/>
            <a:pathLst>
              <a:path w="5154295" h="1972945">
                <a:moveTo>
                  <a:pt x="1779397" y="1558163"/>
                </a:moveTo>
                <a:lnTo>
                  <a:pt x="1663064" y="1558163"/>
                </a:lnTo>
                <a:lnTo>
                  <a:pt x="1663064" y="1729867"/>
                </a:lnTo>
                <a:lnTo>
                  <a:pt x="1710563" y="1729867"/>
                </a:lnTo>
                <a:lnTo>
                  <a:pt x="1710563" y="1674876"/>
                </a:lnTo>
                <a:lnTo>
                  <a:pt x="1779397" y="1674876"/>
                </a:lnTo>
                <a:lnTo>
                  <a:pt x="1813046" y="1670518"/>
                </a:lnTo>
                <a:lnTo>
                  <a:pt x="1834943" y="1658493"/>
                </a:lnTo>
                <a:lnTo>
                  <a:pt x="1846816" y="1640371"/>
                </a:lnTo>
                <a:lnTo>
                  <a:pt x="1847403" y="1636649"/>
                </a:lnTo>
                <a:lnTo>
                  <a:pt x="1710563" y="1636649"/>
                </a:lnTo>
                <a:lnTo>
                  <a:pt x="1710563" y="1596517"/>
                </a:lnTo>
                <a:lnTo>
                  <a:pt x="1847555" y="1596517"/>
                </a:lnTo>
                <a:lnTo>
                  <a:pt x="1846905" y="1592238"/>
                </a:lnTo>
                <a:lnTo>
                  <a:pt x="1835181" y="1574196"/>
                </a:lnTo>
                <a:lnTo>
                  <a:pt x="1813313" y="1562393"/>
                </a:lnTo>
                <a:lnTo>
                  <a:pt x="1779397" y="1558163"/>
                </a:lnTo>
                <a:close/>
              </a:path>
              <a:path w="5154295" h="1972945">
                <a:moveTo>
                  <a:pt x="1847555" y="1596517"/>
                </a:moveTo>
                <a:lnTo>
                  <a:pt x="1775968" y="1596517"/>
                </a:lnTo>
                <a:lnTo>
                  <a:pt x="1787270" y="1597876"/>
                </a:lnTo>
                <a:lnTo>
                  <a:pt x="1795049" y="1601771"/>
                </a:lnTo>
                <a:lnTo>
                  <a:pt x="1799542" y="1607929"/>
                </a:lnTo>
                <a:lnTo>
                  <a:pt x="1800987" y="1616075"/>
                </a:lnTo>
                <a:lnTo>
                  <a:pt x="1800987" y="1616964"/>
                </a:lnTo>
                <a:lnTo>
                  <a:pt x="1799542" y="1625236"/>
                </a:lnTo>
                <a:lnTo>
                  <a:pt x="1795049" y="1631426"/>
                </a:lnTo>
                <a:lnTo>
                  <a:pt x="1787270" y="1635305"/>
                </a:lnTo>
                <a:lnTo>
                  <a:pt x="1775968" y="1636649"/>
                </a:lnTo>
                <a:lnTo>
                  <a:pt x="1847403" y="1636649"/>
                </a:lnTo>
                <a:lnTo>
                  <a:pt x="1850389" y="1617726"/>
                </a:lnTo>
                <a:lnTo>
                  <a:pt x="1850389" y="1615186"/>
                </a:lnTo>
                <a:lnTo>
                  <a:pt x="1847555" y="1596517"/>
                </a:lnTo>
                <a:close/>
              </a:path>
              <a:path w="5154295" h="1972945">
                <a:moveTo>
                  <a:pt x="1629791" y="1558163"/>
                </a:moveTo>
                <a:lnTo>
                  <a:pt x="1451864" y="1558163"/>
                </a:lnTo>
                <a:lnTo>
                  <a:pt x="1451864" y="1729867"/>
                </a:lnTo>
                <a:lnTo>
                  <a:pt x="1499362" y="1729867"/>
                </a:lnTo>
                <a:lnTo>
                  <a:pt x="1499362" y="1596009"/>
                </a:lnTo>
                <a:lnTo>
                  <a:pt x="1629791" y="1596009"/>
                </a:lnTo>
                <a:lnTo>
                  <a:pt x="1629791" y="1558163"/>
                </a:lnTo>
                <a:close/>
              </a:path>
              <a:path w="5154295" h="1972945">
                <a:moveTo>
                  <a:pt x="1629791" y="1596009"/>
                </a:moveTo>
                <a:lnTo>
                  <a:pt x="1582293" y="1596009"/>
                </a:lnTo>
                <a:lnTo>
                  <a:pt x="1582293" y="1729867"/>
                </a:lnTo>
                <a:lnTo>
                  <a:pt x="1629791" y="1729867"/>
                </a:lnTo>
                <a:lnTo>
                  <a:pt x="1629791" y="1596009"/>
                </a:lnTo>
                <a:close/>
              </a:path>
              <a:path w="5154295" h="1972945">
                <a:moveTo>
                  <a:pt x="1598676" y="1448562"/>
                </a:moveTo>
                <a:lnTo>
                  <a:pt x="1551177" y="1448562"/>
                </a:lnTo>
                <a:lnTo>
                  <a:pt x="1551177" y="1468374"/>
                </a:lnTo>
                <a:lnTo>
                  <a:pt x="1598676" y="1468374"/>
                </a:lnTo>
                <a:lnTo>
                  <a:pt x="1598676" y="1448562"/>
                </a:lnTo>
                <a:close/>
              </a:path>
              <a:path w="5154295" h="1972945">
                <a:moveTo>
                  <a:pt x="1630299" y="1309751"/>
                </a:moveTo>
                <a:lnTo>
                  <a:pt x="1519555" y="1309751"/>
                </a:lnTo>
                <a:lnTo>
                  <a:pt x="1487714" y="1313404"/>
                </a:lnTo>
                <a:lnTo>
                  <a:pt x="1462079" y="1325070"/>
                </a:lnTo>
                <a:lnTo>
                  <a:pt x="1444999" y="1345809"/>
                </a:lnTo>
                <a:lnTo>
                  <a:pt x="1438783" y="1376680"/>
                </a:lnTo>
                <a:lnTo>
                  <a:pt x="1438808" y="1378712"/>
                </a:lnTo>
                <a:lnTo>
                  <a:pt x="1462358" y="1431766"/>
                </a:lnTo>
                <a:lnTo>
                  <a:pt x="1519936" y="1448562"/>
                </a:lnTo>
                <a:lnTo>
                  <a:pt x="1629918" y="1448562"/>
                </a:lnTo>
                <a:lnTo>
                  <a:pt x="1661886" y="1444450"/>
                </a:lnTo>
                <a:lnTo>
                  <a:pt x="1687639" y="1431766"/>
                </a:lnTo>
                <a:lnTo>
                  <a:pt x="1704043" y="1410970"/>
                </a:lnTo>
                <a:lnTo>
                  <a:pt x="1529461" y="1410970"/>
                </a:lnTo>
                <a:lnTo>
                  <a:pt x="1511794" y="1409197"/>
                </a:lnTo>
                <a:lnTo>
                  <a:pt x="1498806" y="1403556"/>
                </a:lnTo>
                <a:lnTo>
                  <a:pt x="1490795" y="1393557"/>
                </a:lnTo>
                <a:lnTo>
                  <a:pt x="1488058" y="1378712"/>
                </a:lnTo>
                <a:lnTo>
                  <a:pt x="1488085" y="1376680"/>
                </a:lnTo>
                <a:lnTo>
                  <a:pt x="1490849" y="1363650"/>
                </a:lnTo>
                <a:lnTo>
                  <a:pt x="1498949" y="1354518"/>
                </a:lnTo>
                <a:lnTo>
                  <a:pt x="1511954" y="1349196"/>
                </a:lnTo>
                <a:lnTo>
                  <a:pt x="1529461" y="1347470"/>
                </a:lnTo>
                <a:lnTo>
                  <a:pt x="1705179" y="1347470"/>
                </a:lnTo>
                <a:lnTo>
                  <a:pt x="1704844" y="1345809"/>
                </a:lnTo>
                <a:lnTo>
                  <a:pt x="1687734" y="1325070"/>
                </a:lnTo>
                <a:lnTo>
                  <a:pt x="1662100" y="1313404"/>
                </a:lnTo>
                <a:lnTo>
                  <a:pt x="1630299" y="1309751"/>
                </a:lnTo>
                <a:close/>
              </a:path>
              <a:path w="5154295" h="1972945">
                <a:moveTo>
                  <a:pt x="1598676" y="1347470"/>
                </a:moveTo>
                <a:lnTo>
                  <a:pt x="1551177" y="1347470"/>
                </a:lnTo>
                <a:lnTo>
                  <a:pt x="1551177" y="1410970"/>
                </a:lnTo>
                <a:lnTo>
                  <a:pt x="1598676" y="1410970"/>
                </a:lnTo>
                <a:lnTo>
                  <a:pt x="1598676" y="1347470"/>
                </a:lnTo>
                <a:close/>
              </a:path>
              <a:path w="5154295" h="1972945">
                <a:moveTo>
                  <a:pt x="1705179" y="1347470"/>
                </a:moveTo>
                <a:lnTo>
                  <a:pt x="1620393" y="1347470"/>
                </a:lnTo>
                <a:lnTo>
                  <a:pt x="1637825" y="1349196"/>
                </a:lnTo>
                <a:lnTo>
                  <a:pt x="1650793" y="1354518"/>
                </a:lnTo>
                <a:lnTo>
                  <a:pt x="1658879" y="1363650"/>
                </a:lnTo>
                <a:lnTo>
                  <a:pt x="1661641" y="1376680"/>
                </a:lnTo>
                <a:lnTo>
                  <a:pt x="1661668" y="1378712"/>
                </a:lnTo>
                <a:lnTo>
                  <a:pt x="1658951" y="1393557"/>
                </a:lnTo>
                <a:lnTo>
                  <a:pt x="1650984" y="1403556"/>
                </a:lnTo>
                <a:lnTo>
                  <a:pt x="1638040" y="1409197"/>
                </a:lnTo>
                <a:lnTo>
                  <a:pt x="1620393" y="1410970"/>
                </a:lnTo>
                <a:lnTo>
                  <a:pt x="1704043" y="1410970"/>
                </a:lnTo>
                <a:lnTo>
                  <a:pt x="1704820" y="1409985"/>
                </a:lnTo>
                <a:lnTo>
                  <a:pt x="1711045" y="1378712"/>
                </a:lnTo>
                <a:lnTo>
                  <a:pt x="1711070" y="1376680"/>
                </a:lnTo>
                <a:lnTo>
                  <a:pt x="1705179" y="1347470"/>
                </a:lnTo>
                <a:close/>
              </a:path>
              <a:path w="5154295" h="1972945">
                <a:moveTo>
                  <a:pt x="1598676" y="1291971"/>
                </a:moveTo>
                <a:lnTo>
                  <a:pt x="1551177" y="1291971"/>
                </a:lnTo>
                <a:lnTo>
                  <a:pt x="1551177" y="1309751"/>
                </a:lnTo>
                <a:lnTo>
                  <a:pt x="1598676" y="1309751"/>
                </a:lnTo>
                <a:lnTo>
                  <a:pt x="1598676" y="1291971"/>
                </a:lnTo>
                <a:close/>
              </a:path>
              <a:path w="5154295" h="1972945">
                <a:moveTo>
                  <a:pt x="1565656" y="881253"/>
                </a:moveTo>
                <a:lnTo>
                  <a:pt x="1459230" y="881253"/>
                </a:lnTo>
                <a:lnTo>
                  <a:pt x="1459230" y="1094486"/>
                </a:lnTo>
                <a:lnTo>
                  <a:pt x="1565656" y="1094486"/>
                </a:lnTo>
                <a:lnTo>
                  <a:pt x="1565656" y="881253"/>
                </a:lnTo>
                <a:close/>
              </a:path>
              <a:path w="5154295" h="1972945">
                <a:moveTo>
                  <a:pt x="1683639" y="800100"/>
                </a:moveTo>
                <a:lnTo>
                  <a:pt x="1341374" y="800100"/>
                </a:lnTo>
                <a:lnTo>
                  <a:pt x="1341374" y="881253"/>
                </a:lnTo>
                <a:lnTo>
                  <a:pt x="1683639" y="881253"/>
                </a:lnTo>
                <a:lnTo>
                  <a:pt x="1683639" y="800100"/>
                </a:lnTo>
                <a:close/>
              </a:path>
              <a:path w="5154295" h="1972945">
                <a:moveTo>
                  <a:pt x="2550033" y="800100"/>
                </a:moveTo>
                <a:lnTo>
                  <a:pt x="2443099" y="800100"/>
                </a:lnTo>
                <a:lnTo>
                  <a:pt x="2443099" y="1094486"/>
                </a:lnTo>
                <a:lnTo>
                  <a:pt x="2550033" y="1094486"/>
                </a:lnTo>
                <a:lnTo>
                  <a:pt x="2550033" y="982853"/>
                </a:lnTo>
                <a:lnTo>
                  <a:pt x="2805557" y="982853"/>
                </a:lnTo>
                <a:lnTo>
                  <a:pt x="2805557" y="903732"/>
                </a:lnTo>
                <a:lnTo>
                  <a:pt x="2550033" y="903732"/>
                </a:lnTo>
                <a:lnTo>
                  <a:pt x="2550033" y="800100"/>
                </a:lnTo>
                <a:close/>
              </a:path>
              <a:path w="5154295" h="1972945">
                <a:moveTo>
                  <a:pt x="2805557" y="982853"/>
                </a:moveTo>
                <a:lnTo>
                  <a:pt x="2699130" y="982853"/>
                </a:lnTo>
                <a:lnTo>
                  <a:pt x="2699130" y="1094486"/>
                </a:lnTo>
                <a:lnTo>
                  <a:pt x="2805557" y="1094486"/>
                </a:lnTo>
                <a:lnTo>
                  <a:pt x="2805557" y="982853"/>
                </a:lnTo>
                <a:close/>
              </a:path>
              <a:path w="5154295" h="1972945">
                <a:moveTo>
                  <a:pt x="2805557" y="800100"/>
                </a:moveTo>
                <a:lnTo>
                  <a:pt x="2699130" y="800100"/>
                </a:lnTo>
                <a:lnTo>
                  <a:pt x="2699130" y="903732"/>
                </a:lnTo>
                <a:lnTo>
                  <a:pt x="2805557" y="903732"/>
                </a:lnTo>
                <a:lnTo>
                  <a:pt x="2805557" y="800100"/>
                </a:lnTo>
                <a:close/>
              </a:path>
              <a:path w="5154295" h="1972945">
                <a:moveTo>
                  <a:pt x="2450211" y="1294511"/>
                </a:moveTo>
                <a:lnTo>
                  <a:pt x="2333879" y="1294511"/>
                </a:lnTo>
                <a:lnTo>
                  <a:pt x="2333879" y="1466088"/>
                </a:lnTo>
                <a:lnTo>
                  <a:pt x="2381377" y="1466088"/>
                </a:lnTo>
                <a:lnTo>
                  <a:pt x="2381377" y="1411097"/>
                </a:lnTo>
                <a:lnTo>
                  <a:pt x="2450211" y="1411097"/>
                </a:lnTo>
                <a:lnTo>
                  <a:pt x="2483860" y="1406739"/>
                </a:lnTo>
                <a:lnTo>
                  <a:pt x="2505757" y="1394714"/>
                </a:lnTo>
                <a:lnTo>
                  <a:pt x="2517630" y="1376592"/>
                </a:lnTo>
                <a:lnTo>
                  <a:pt x="2518217" y="1372870"/>
                </a:lnTo>
                <a:lnTo>
                  <a:pt x="2381377" y="1372870"/>
                </a:lnTo>
                <a:lnTo>
                  <a:pt x="2381377" y="1332611"/>
                </a:lnTo>
                <a:lnTo>
                  <a:pt x="2518361" y="1332611"/>
                </a:lnTo>
                <a:lnTo>
                  <a:pt x="2517805" y="1328928"/>
                </a:lnTo>
                <a:lnTo>
                  <a:pt x="2517737" y="1328479"/>
                </a:lnTo>
                <a:lnTo>
                  <a:pt x="2506043" y="1310481"/>
                </a:lnTo>
                <a:lnTo>
                  <a:pt x="2484181" y="1298721"/>
                </a:lnTo>
                <a:lnTo>
                  <a:pt x="2450211" y="1294511"/>
                </a:lnTo>
                <a:close/>
              </a:path>
              <a:path w="5154295" h="1972945">
                <a:moveTo>
                  <a:pt x="2649151" y="1294511"/>
                </a:moveTo>
                <a:lnTo>
                  <a:pt x="2585409" y="1294511"/>
                </a:lnTo>
                <a:lnTo>
                  <a:pt x="2509393" y="1466088"/>
                </a:lnTo>
                <a:lnTo>
                  <a:pt x="2557018" y="1466088"/>
                </a:lnTo>
                <a:lnTo>
                  <a:pt x="2570861" y="1434211"/>
                </a:lnTo>
                <a:lnTo>
                  <a:pt x="2713938" y="1434211"/>
                </a:lnTo>
                <a:lnTo>
                  <a:pt x="2697565" y="1398905"/>
                </a:lnTo>
                <a:lnTo>
                  <a:pt x="2586355" y="1398905"/>
                </a:lnTo>
                <a:lnTo>
                  <a:pt x="2616581" y="1328928"/>
                </a:lnTo>
                <a:lnTo>
                  <a:pt x="2665113" y="1328928"/>
                </a:lnTo>
                <a:lnTo>
                  <a:pt x="2649151" y="1294511"/>
                </a:lnTo>
                <a:close/>
              </a:path>
              <a:path w="5154295" h="1972945">
                <a:moveTo>
                  <a:pt x="2713938" y="1434211"/>
                </a:moveTo>
                <a:lnTo>
                  <a:pt x="2663698" y="1434211"/>
                </a:lnTo>
                <a:lnTo>
                  <a:pt x="2677795" y="1466088"/>
                </a:lnTo>
                <a:lnTo>
                  <a:pt x="2728722" y="1466088"/>
                </a:lnTo>
                <a:lnTo>
                  <a:pt x="2713938" y="1434211"/>
                </a:lnTo>
                <a:close/>
              </a:path>
              <a:path w="5154295" h="1972945">
                <a:moveTo>
                  <a:pt x="2665113" y="1328928"/>
                </a:moveTo>
                <a:lnTo>
                  <a:pt x="2616581" y="1328928"/>
                </a:lnTo>
                <a:lnTo>
                  <a:pt x="2647823" y="1398905"/>
                </a:lnTo>
                <a:lnTo>
                  <a:pt x="2697565" y="1398905"/>
                </a:lnTo>
                <a:lnTo>
                  <a:pt x="2665113" y="1328928"/>
                </a:lnTo>
                <a:close/>
              </a:path>
              <a:path w="5154295" h="1972945">
                <a:moveTo>
                  <a:pt x="2518361" y="1332611"/>
                </a:moveTo>
                <a:lnTo>
                  <a:pt x="2446782" y="1332611"/>
                </a:lnTo>
                <a:lnTo>
                  <a:pt x="2458104" y="1333990"/>
                </a:lnTo>
                <a:lnTo>
                  <a:pt x="2465927" y="1337929"/>
                </a:lnTo>
                <a:lnTo>
                  <a:pt x="2470463" y="1344130"/>
                </a:lnTo>
                <a:lnTo>
                  <a:pt x="2471928" y="1352296"/>
                </a:lnTo>
                <a:lnTo>
                  <a:pt x="2471928" y="1353185"/>
                </a:lnTo>
                <a:lnTo>
                  <a:pt x="2470463" y="1361404"/>
                </a:lnTo>
                <a:lnTo>
                  <a:pt x="2465927" y="1367599"/>
                </a:lnTo>
                <a:lnTo>
                  <a:pt x="2458104" y="1371508"/>
                </a:lnTo>
                <a:lnTo>
                  <a:pt x="2446782" y="1372870"/>
                </a:lnTo>
                <a:lnTo>
                  <a:pt x="2518217" y="1372870"/>
                </a:lnTo>
                <a:lnTo>
                  <a:pt x="2521204" y="1353947"/>
                </a:lnTo>
                <a:lnTo>
                  <a:pt x="2521204" y="1351407"/>
                </a:lnTo>
                <a:lnTo>
                  <a:pt x="2518361" y="1332611"/>
                </a:lnTo>
                <a:close/>
              </a:path>
              <a:path w="5154295" h="1972945">
                <a:moveTo>
                  <a:pt x="3050413" y="794893"/>
                </a:moveTo>
                <a:lnTo>
                  <a:pt x="3032633" y="794893"/>
                </a:lnTo>
                <a:lnTo>
                  <a:pt x="2964036" y="801449"/>
                </a:lnTo>
                <a:lnTo>
                  <a:pt x="2964237" y="801449"/>
                </a:lnTo>
                <a:lnTo>
                  <a:pt x="2913782" y="819112"/>
                </a:lnTo>
                <a:lnTo>
                  <a:pt x="2913909" y="819112"/>
                </a:lnTo>
                <a:lnTo>
                  <a:pt x="2879264" y="844724"/>
                </a:lnTo>
                <a:lnTo>
                  <a:pt x="2857532" y="875533"/>
                </a:lnTo>
                <a:lnTo>
                  <a:pt x="2846328" y="908472"/>
                </a:lnTo>
                <a:lnTo>
                  <a:pt x="2843149" y="940562"/>
                </a:lnTo>
                <a:lnTo>
                  <a:pt x="2843149" y="952373"/>
                </a:lnTo>
                <a:lnTo>
                  <a:pt x="2857476" y="1017288"/>
                </a:lnTo>
                <a:lnTo>
                  <a:pt x="2913911" y="1074782"/>
                </a:lnTo>
                <a:lnTo>
                  <a:pt x="2964225" y="1092843"/>
                </a:lnTo>
                <a:lnTo>
                  <a:pt x="3032633" y="1099566"/>
                </a:lnTo>
                <a:lnTo>
                  <a:pt x="3050413" y="1099566"/>
                </a:lnTo>
                <a:lnTo>
                  <a:pt x="3119129" y="1092843"/>
                </a:lnTo>
                <a:lnTo>
                  <a:pt x="3169529" y="1074782"/>
                </a:lnTo>
                <a:lnTo>
                  <a:pt x="3204209" y="1048543"/>
                </a:lnTo>
                <a:lnTo>
                  <a:pt x="3224991" y="1018413"/>
                </a:lnTo>
                <a:lnTo>
                  <a:pt x="3041777" y="1018413"/>
                </a:lnTo>
                <a:lnTo>
                  <a:pt x="2996928" y="1011420"/>
                </a:lnTo>
                <a:lnTo>
                  <a:pt x="2970450" y="993902"/>
                </a:lnTo>
                <a:lnTo>
                  <a:pt x="2957855" y="971049"/>
                </a:lnTo>
                <a:lnTo>
                  <a:pt x="2954654" y="948055"/>
                </a:lnTo>
                <a:lnTo>
                  <a:pt x="2954654" y="943737"/>
                </a:lnTo>
                <a:lnTo>
                  <a:pt x="2957742" y="920980"/>
                </a:lnTo>
                <a:lnTo>
                  <a:pt x="2970117" y="898652"/>
                </a:lnTo>
                <a:lnTo>
                  <a:pt x="2996445" y="881657"/>
                </a:lnTo>
                <a:lnTo>
                  <a:pt x="3041396" y="874903"/>
                </a:lnTo>
                <a:lnTo>
                  <a:pt x="3225121" y="874903"/>
                </a:lnTo>
                <a:lnTo>
                  <a:pt x="3204067" y="844867"/>
                </a:lnTo>
                <a:lnTo>
                  <a:pt x="3169360" y="819112"/>
                </a:lnTo>
                <a:lnTo>
                  <a:pt x="3118997" y="801449"/>
                </a:lnTo>
                <a:lnTo>
                  <a:pt x="3050413" y="794893"/>
                </a:lnTo>
                <a:close/>
              </a:path>
              <a:path w="5154295" h="1972945">
                <a:moveTo>
                  <a:pt x="3225121" y="874903"/>
                </a:moveTo>
                <a:lnTo>
                  <a:pt x="3041396" y="874903"/>
                </a:lnTo>
                <a:lnTo>
                  <a:pt x="3086332" y="881657"/>
                </a:lnTo>
                <a:lnTo>
                  <a:pt x="3112754" y="898652"/>
                </a:lnTo>
                <a:lnTo>
                  <a:pt x="3125245" y="920980"/>
                </a:lnTo>
                <a:lnTo>
                  <a:pt x="3128391" y="943737"/>
                </a:lnTo>
                <a:lnTo>
                  <a:pt x="3128391" y="948055"/>
                </a:lnTo>
                <a:lnTo>
                  <a:pt x="3125251" y="971049"/>
                </a:lnTo>
                <a:lnTo>
                  <a:pt x="3112801" y="993902"/>
                </a:lnTo>
                <a:lnTo>
                  <a:pt x="3086492" y="1011420"/>
                </a:lnTo>
                <a:lnTo>
                  <a:pt x="3041777" y="1018413"/>
                </a:lnTo>
                <a:lnTo>
                  <a:pt x="3224991" y="1018413"/>
                </a:lnTo>
                <a:lnTo>
                  <a:pt x="3225767" y="1017288"/>
                </a:lnTo>
                <a:lnTo>
                  <a:pt x="3236797" y="984178"/>
                </a:lnTo>
                <a:lnTo>
                  <a:pt x="3239897" y="952373"/>
                </a:lnTo>
                <a:lnTo>
                  <a:pt x="3239897" y="940562"/>
                </a:lnTo>
                <a:lnTo>
                  <a:pt x="3236770" y="908605"/>
                </a:lnTo>
                <a:lnTo>
                  <a:pt x="3225682" y="875702"/>
                </a:lnTo>
                <a:lnTo>
                  <a:pt x="3225121" y="874903"/>
                </a:lnTo>
                <a:close/>
              </a:path>
              <a:path w="5154295" h="1972945">
                <a:moveTo>
                  <a:pt x="2161032" y="800100"/>
                </a:moveTo>
                <a:lnTo>
                  <a:pt x="2028825" y="800100"/>
                </a:lnTo>
                <a:lnTo>
                  <a:pt x="2144014" y="941832"/>
                </a:lnTo>
                <a:lnTo>
                  <a:pt x="2024126" y="1094486"/>
                </a:lnTo>
                <a:lnTo>
                  <a:pt x="2149983" y="1094486"/>
                </a:lnTo>
                <a:lnTo>
                  <a:pt x="2224786" y="1000252"/>
                </a:lnTo>
                <a:lnTo>
                  <a:pt x="2353254" y="1000252"/>
                </a:lnTo>
                <a:lnTo>
                  <a:pt x="2307082" y="941832"/>
                </a:lnTo>
                <a:lnTo>
                  <a:pt x="2350789" y="886841"/>
                </a:lnTo>
                <a:lnTo>
                  <a:pt x="2229485" y="886841"/>
                </a:lnTo>
                <a:lnTo>
                  <a:pt x="2161032" y="800100"/>
                </a:lnTo>
                <a:close/>
              </a:path>
              <a:path w="5154295" h="1972945">
                <a:moveTo>
                  <a:pt x="2353254" y="1000252"/>
                </a:moveTo>
                <a:lnTo>
                  <a:pt x="2224786" y="1000252"/>
                </a:lnTo>
                <a:lnTo>
                  <a:pt x="2299970" y="1094486"/>
                </a:lnTo>
                <a:lnTo>
                  <a:pt x="2427732" y="1094486"/>
                </a:lnTo>
                <a:lnTo>
                  <a:pt x="2353254" y="1000252"/>
                </a:lnTo>
                <a:close/>
              </a:path>
              <a:path w="5154295" h="1972945">
                <a:moveTo>
                  <a:pt x="2419731" y="800100"/>
                </a:moveTo>
                <a:lnTo>
                  <a:pt x="2298319" y="800100"/>
                </a:lnTo>
                <a:lnTo>
                  <a:pt x="2229485" y="886841"/>
                </a:lnTo>
                <a:lnTo>
                  <a:pt x="2350789" y="886841"/>
                </a:lnTo>
                <a:lnTo>
                  <a:pt x="2419731" y="800100"/>
                </a:lnTo>
                <a:close/>
              </a:path>
              <a:path w="5154295" h="1972945">
                <a:moveTo>
                  <a:pt x="1888363" y="1294384"/>
                </a:moveTo>
                <a:lnTo>
                  <a:pt x="1731137" y="1294384"/>
                </a:lnTo>
                <a:lnTo>
                  <a:pt x="1731137" y="1466088"/>
                </a:lnTo>
                <a:lnTo>
                  <a:pt x="1889760" y="1466088"/>
                </a:lnTo>
                <a:lnTo>
                  <a:pt x="1889760" y="1428242"/>
                </a:lnTo>
                <a:lnTo>
                  <a:pt x="1778000" y="1428242"/>
                </a:lnTo>
                <a:lnTo>
                  <a:pt x="1778000" y="1398397"/>
                </a:lnTo>
                <a:lnTo>
                  <a:pt x="1884807" y="1398397"/>
                </a:lnTo>
                <a:lnTo>
                  <a:pt x="1884807" y="1359662"/>
                </a:lnTo>
                <a:lnTo>
                  <a:pt x="1778000" y="1359662"/>
                </a:lnTo>
                <a:lnTo>
                  <a:pt x="1778000" y="1331722"/>
                </a:lnTo>
                <a:lnTo>
                  <a:pt x="1888363" y="1331722"/>
                </a:lnTo>
                <a:lnTo>
                  <a:pt x="1888363" y="1294384"/>
                </a:lnTo>
                <a:close/>
              </a:path>
              <a:path w="5154295" h="1972945">
                <a:moveTo>
                  <a:pt x="2013204" y="800100"/>
                </a:moveTo>
                <a:lnTo>
                  <a:pt x="1719199" y="800100"/>
                </a:lnTo>
                <a:lnTo>
                  <a:pt x="1719199" y="1094486"/>
                </a:lnTo>
                <a:lnTo>
                  <a:pt x="2015998" y="1094486"/>
                </a:lnTo>
                <a:lnTo>
                  <a:pt x="2015998" y="1022477"/>
                </a:lnTo>
                <a:lnTo>
                  <a:pt x="1825625" y="1022477"/>
                </a:lnTo>
                <a:lnTo>
                  <a:pt x="1825625" y="982091"/>
                </a:lnTo>
                <a:lnTo>
                  <a:pt x="2007235" y="982091"/>
                </a:lnTo>
                <a:lnTo>
                  <a:pt x="2007235" y="908812"/>
                </a:lnTo>
                <a:lnTo>
                  <a:pt x="1825625" y="908812"/>
                </a:lnTo>
                <a:lnTo>
                  <a:pt x="1825625" y="871220"/>
                </a:lnTo>
                <a:lnTo>
                  <a:pt x="2013204" y="871220"/>
                </a:lnTo>
                <a:lnTo>
                  <a:pt x="2013204" y="800100"/>
                </a:lnTo>
                <a:close/>
              </a:path>
              <a:path w="5154295" h="1972945">
                <a:moveTo>
                  <a:pt x="2303653" y="1294384"/>
                </a:moveTo>
                <a:lnTo>
                  <a:pt x="2146554" y="1294384"/>
                </a:lnTo>
                <a:lnTo>
                  <a:pt x="2146554" y="1466088"/>
                </a:lnTo>
                <a:lnTo>
                  <a:pt x="2305050" y="1466088"/>
                </a:lnTo>
                <a:lnTo>
                  <a:pt x="2305050" y="1428242"/>
                </a:lnTo>
                <a:lnTo>
                  <a:pt x="2193417" y="1428242"/>
                </a:lnTo>
                <a:lnTo>
                  <a:pt x="2193417" y="1398397"/>
                </a:lnTo>
                <a:lnTo>
                  <a:pt x="2300224" y="1398397"/>
                </a:lnTo>
                <a:lnTo>
                  <a:pt x="2300224" y="1359662"/>
                </a:lnTo>
                <a:lnTo>
                  <a:pt x="2193417" y="1359662"/>
                </a:lnTo>
                <a:lnTo>
                  <a:pt x="2193417" y="1331722"/>
                </a:lnTo>
                <a:lnTo>
                  <a:pt x="2303653" y="1331722"/>
                </a:lnTo>
                <a:lnTo>
                  <a:pt x="2303653" y="1294384"/>
                </a:lnTo>
                <a:close/>
              </a:path>
              <a:path w="5154295" h="1972945">
                <a:moveTo>
                  <a:pt x="4900803" y="800100"/>
                </a:moveTo>
                <a:lnTo>
                  <a:pt x="4793996" y="800100"/>
                </a:lnTo>
                <a:lnTo>
                  <a:pt x="4793996" y="1094486"/>
                </a:lnTo>
                <a:lnTo>
                  <a:pt x="4900803" y="1094486"/>
                </a:lnTo>
                <a:lnTo>
                  <a:pt x="4997264" y="977646"/>
                </a:lnTo>
                <a:lnTo>
                  <a:pt x="4900803" y="977646"/>
                </a:lnTo>
                <a:lnTo>
                  <a:pt x="4900803" y="800100"/>
                </a:lnTo>
                <a:close/>
              </a:path>
              <a:path w="5154295" h="1972945">
                <a:moveTo>
                  <a:pt x="5153914" y="916813"/>
                </a:moveTo>
                <a:lnTo>
                  <a:pt x="5047488" y="916813"/>
                </a:lnTo>
                <a:lnTo>
                  <a:pt x="5047488" y="1094486"/>
                </a:lnTo>
                <a:lnTo>
                  <a:pt x="5153914" y="1094486"/>
                </a:lnTo>
                <a:lnTo>
                  <a:pt x="5153914" y="916813"/>
                </a:lnTo>
                <a:close/>
              </a:path>
              <a:path w="5154295" h="1972945">
                <a:moveTo>
                  <a:pt x="5153914" y="800100"/>
                </a:moveTo>
                <a:lnTo>
                  <a:pt x="5047488" y="800100"/>
                </a:lnTo>
                <a:lnTo>
                  <a:pt x="4900803" y="977646"/>
                </a:lnTo>
                <a:lnTo>
                  <a:pt x="4997264" y="977646"/>
                </a:lnTo>
                <a:lnTo>
                  <a:pt x="5047488" y="916813"/>
                </a:lnTo>
                <a:lnTo>
                  <a:pt x="5153914" y="916813"/>
                </a:lnTo>
                <a:lnTo>
                  <a:pt x="5153914" y="800100"/>
                </a:lnTo>
                <a:close/>
              </a:path>
              <a:path w="5154295" h="1972945">
                <a:moveTo>
                  <a:pt x="3726179" y="1294384"/>
                </a:moveTo>
                <a:lnTo>
                  <a:pt x="3678682" y="1294384"/>
                </a:lnTo>
                <a:lnTo>
                  <a:pt x="3678682" y="1466088"/>
                </a:lnTo>
                <a:lnTo>
                  <a:pt x="3726179" y="1466088"/>
                </a:lnTo>
                <a:lnTo>
                  <a:pt x="3775137" y="1409827"/>
                </a:lnTo>
                <a:lnTo>
                  <a:pt x="3726179" y="1409827"/>
                </a:lnTo>
                <a:lnTo>
                  <a:pt x="3726179" y="1294384"/>
                </a:lnTo>
                <a:close/>
              </a:path>
              <a:path w="5154295" h="1972945">
                <a:moveTo>
                  <a:pt x="3874135" y="1350645"/>
                </a:moveTo>
                <a:lnTo>
                  <a:pt x="3826637" y="1350645"/>
                </a:lnTo>
                <a:lnTo>
                  <a:pt x="3826637" y="1466088"/>
                </a:lnTo>
                <a:lnTo>
                  <a:pt x="3874135" y="1466088"/>
                </a:lnTo>
                <a:lnTo>
                  <a:pt x="3874135" y="1350645"/>
                </a:lnTo>
                <a:close/>
              </a:path>
              <a:path w="5154295" h="1972945">
                <a:moveTo>
                  <a:pt x="3874135" y="1294384"/>
                </a:moveTo>
                <a:lnTo>
                  <a:pt x="3826637" y="1294384"/>
                </a:lnTo>
                <a:lnTo>
                  <a:pt x="3726179" y="1409827"/>
                </a:lnTo>
                <a:lnTo>
                  <a:pt x="3775137" y="1409827"/>
                </a:lnTo>
                <a:lnTo>
                  <a:pt x="3826637" y="1350645"/>
                </a:lnTo>
                <a:lnTo>
                  <a:pt x="3874135" y="1350645"/>
                </a:lnTo>
                <a:lnTo>
                  <a:pt x="3874135" y="1294384"/>
                </a:lnTo>
                <a:close/>
              </a:path>
              <a:path w="5154295" h="1972945">
                <a:moveTo>
                  <a:pt x="3438779" y="1294384"/>
                </a:moveTo>
                <a:lnTo>
                  <a:pt x="3391280" y="1294384"/>
                </a:lnTo>
                <a:lnTo>
                  <a:pt x="3391280" y="1466088"/>
                </a:lnTo>
                <a:lnTo>
                  <a:pt x="3508755" y="1466088"/>
                </a:lnTo>
                <a:lnTo>
                  <a:pt x="3541871" y="1461710"/>
                </a:lnTo>
                <a:lnTo>
                  <a:pt x="3563461" y="1449641"/>
                </a:lnTo>
                <a:lnTo>
                  <a:pt x="3575192" y="1431476"/>
                </a:lnTo>
                <a:lnTo>
                  <a:pt x="3575698" y="1428242"/>
                </a:lnTo>
                <a:lnTo>
                  <a:pt x="3438779" y="1428242"/>
                </a:lnTo>
                <a:lnTo>
                  <a:pt x="3438779" y="1387602"/>
                </a:lnTo>
                <a:lnTo>
                  <a:pt x="3575880" y="1387602"/>
                </a:lnTo>
                <a:lnTo>
                  <a:pt x="3575300" y="1383778"/>
                </a:lnTo>
                <a:lnTo>
                  <a:pt x="3563747" y="1365837"/>
                </a:lnTo>
                <a:lnTo>
                  <a:pt x="3542192" y="1354016"/>
                </a:lnTo>
                <a:lnTo>
                  <a:pt x="3508755" y="1349756"/>
                </a:lnTo>
                <a:lnTo>
                  <a:pt x="3438779" y="1349756"/>
                </a:lnTo>
                <a:lnTo>
                  <a:pt x="3438779" y="1294384"/>
                </a:lnTo>
                <a:close/>
              </a:path>
              <a:path w="5154295" h="1972945">
                <a:moveTo>
                  <a:pt x="3575880" y="1387602"/>
                </a:moveTo>
                <a:lnTo>
                  <a:pt x="3505073" y="1387602"/>
                </a:lnTo>
                <a:lnTo>
                  <a:pt x="3515774" y="1388935"/>
                </a:lnTo>
                <a:lnTo>
                  <a:pt x="3523345" y="1392745"/>
                </a:lnTo>
                <a:lnTo>
                  <a:pt x="3527843" y="1398746"/>
                </a:lnTo>
                <a:lnTo>
                  <a:pt x="3529282" y="1406398"/>
                </a:lnTo>
                <a:lnTo>
                  <a:pt x="3529259" y="1408811"/>
                </a:lnTo>
                <a:lnTo>
                  <a:pt x="3527843" y="1416454"/>
                </a:lnTo>
                <a:lnTo>
                  <a:pt x="3523345" y="1422717"/>
                </a:lnTo>
                <a:lnTo>
                  <a:pt x="3515774" y="1426789"/>
                </a:lnTo>
                <a:lnTo>
                  <a:pt x="3505073" y="1428242"/>
                </a:lnTo>
                <a:lnTo>
                  <a:pt x="3575698" y="1428242"/>
                </a:lnTo>
                <a:lnTo>
                  <a:pt x="3578733" y="1408811"/>
                </a:lnTo>
                <a:lnTo>
                  <a:pt x="3578733" y="1406398"/>
                </a:lnTo>
                <a:lnTo>
                  <a:pt x="3575880" y="1387602"/>
                </a:lnTo>
                <a:close/>
              </a:path>
              <a:path w="5154295" h="1972945">
                <a:moveTo>
                  <a:pt x="3645408" y="1294384"/>
                </a:moveTo>
                <a:lnTo>
                  <a:pt x="3597910" y="1294384"/>
                </a:lnTo>
                <a:lnTo>
                  <a:pt x="3597910" y="1466088"/>
                </a:lnTo>
                <a:lnTo>
                  <a:pt x="3645408" y="1466088"/>
                </a:lnTo>
                <a:lnTo>
                  <a:pt x="3645408" y="1294384"/>
                </a:lnTo>
                <a:close/>
              </a:path>
              <a:path w="5154295" h="1972945">
                <a:moveTo>
                  <a:pt x="3614928" y="800100"/>
                </a:moveTo>
                <a:lnTo>
                  <a:pt x="3304413" y="800100"/>
                </a:lnTo>
                <a:lnTo>
                  <a:pt x="3304139" y="874522"/>
                </a:lnTo>
                <a:lnTo>
                  <a:pt x="3304097" y="885892"/>
                </a:lnTo>
                <a:lnTo>
                  <a:pt x="3302746" y="939609"/>
                </a:lnTo>
                <a:lnTo>
                  <a:pt x="3294507" y="988441"/>
                </a:lnTo>
                <a:lnTo>
                  <a:pt x="3259328" y="1010920"/>
                </a:lnTo>
                <a:lnTo>
                  <a:pt x="3252978" y="1010920"/>
                </a:lnTo>
                <a:lnTo>
                  <a:pt x="3252978" y="1094486"/>
                </a:lnTo>
                <a:lnTo>
                  <a:pt x="3286633" y="1094486"/>
                </a:lnTo>
                <a:lnTo>
                  <a:pt x="3326469" y="1090576"/>
                </a:lnTo>
                <a:lnTo>
                  <a:pt x="3376376" y="1060946"/>
                </a:lnTo>
                <a:lnTo>
                  <a:pt x="3397553" y="1009896"/>
                </a:lnTo>
                <a:lnTo>
                  <a:pt x="3405479" y="929806"/>
                </a:lnTo>
                <a:lnTo>
                  <a:pt x="3406394" y="874522"/>
                </a:lnTo>
                <a:lnTo>
                  <a:pt x="3614928" y="874522"/>
                </a:lnTo>
                <a:lnTo>
                  <a:pt x="3614928" y="800100"/>
                </a:lnTo>
                <a:close/>
              </a:path>
              <a:path w="5154295" h="1972945">
                <a:moveTo>
                  <a:pt x="3614928" y="874522"/>
                </a:moveTo>
                <a:lnTo>
                  <a:pt x="3508121" y="874522"/>
                </a:lnTo>
                <a:lnTo>
                  <a:pt x="3508121" y="1094486"/>
                </a:lnTo>
                <a:lnTo>
                  <a:pt x="3614928" y="1094486"/>
                </a:lnTo>
                <a:lnTo>
                  <a:pt x="3614928" y="874522"/>
                </a:lnTo>
                <a:close/>
              </a:path>
              <a:path w="5154295" h="1972945">
                <a:moveTo>
                  <a:pt x="4490085" y="800100"/>
                </a:moveTo>
                <a:lnTo>
                  <a:pt x="4383278" y="800100"/>
                </a:lnTo>
                <a:lnTo>
                  <a:pt x="4383278" y="1094486"/>
                </a:lnTo>
                <a:lnTo>
                  <a:pt x="4490085" y="1094486"/>
                </a:lnTo>
                <a:lnTo>
                  <a:pt x="4586525" y="977773"/>
                </a:lnTo>
                <a:lnTo>
                  <a:pt x="4490085" y="977773"/>
                </a:lnTo>
                <a:lnTo>
                  <a:pt x="4490085" y="800100"/>
                </a:lnTo>
                <a:close/>
              </a:path>
              <a:path w="5154295" h="1972945">
                <a:moveTo>
                  <a:pt x="4743323" y="916813"/>
                </a:moveTo>
                <a:lnTo>
                  <a:pt x="4636897" y="916813"/>
                </a:lnTo>
                <a:lnTo>
                  <a:pt x="4636897" y="1094486"/>
                </a:lnTo>
                <a:lnTo>
                  <a:pt x="4743323" y="1094486"/>
                </a:lnTo>
                <a:lnTo>
                  <a:pt x="4743323" y="916813"/>
                </a:lnTo>
                <a:close/>
              </a:path>
              <a:path w="5154295" h="1972945">
                <a:moveTo>
                  <a:pt x="4743323" y="800100"/>
                </a:moveTo>
                <a:lnTo>
                  <a:pt x="4636897" y="800100"/>
                </a:lnTo>
                <a:lnTo>
                  <a:pt x="4490085" y="977773"/>
                </a:lnTo>
                <a:lnTo>
                  <a:pt x="4586525" y="977773"/>
                </a:lnTo>
                <a:lnTo>
                  <a:pt x="4636897" y="916813"/>
                </a:lnTo>
                <a:lnTo>
                  <a:pt x="4743323" y="916813"/>
                </a:lnTo>
                <a:lnTo>
                  <a:pt x="4743323" y="800100"/>
                </a:lnTo>
                <a:close/>
              </a:path>
              <a:path w="5154295" h="1972945">
                <a:moveTo>
                  <a:pt x="4357624" y="800100"/>
                </a:moveTo>
                <a:lnTo>
                  <a:pt x="4086987" y="800100"/>
                </a:lnTo>
                <a:lnTo>
                  <a:pt x="4086987" y="1094486"/>
                </a:lnTo>
                <a:lnTo>
                  <a:pt x="4193794" y="1094486"/>
                </a:lnTo>
                <a:lnTo>
                  <a:pt x="4193794" y="874522"/>
                </a:lnTo>
                <a:lnTo>
                  <a:pt x="4357624" y="874522"/>
                </a:lnTo>
                <a:lnTo>
                  <a:pt x="4357624" y="800100"/>
                </a:lnTo>
                <a:close/>
              </a:path>
              <a:path w="5154295" h="1972945">
                <a:moveTo>
                  <a:pt x="3214878" y="1294384"/>
                </a:moveTo>
                <a:lnTo>
                  <a:pt x="3167253" y="1294384"/>
                </a:lnTo>
                <a:lnTo>
                  <a:pt x="3167253" y="1466088"/>
                </a:lnTo>
                <a:lnTo>
                  <a:pt x="3214878" y="1466088"/>
                </a:lnTo>
                <a:lnTo>
                  <a:pt x="3214878" y="1397000"/>
                </a:lnTo>
                <a:lnTo>
                  <a:pt x="3358134" y="1397000"/>
                </a:lnTo>
                <a:lnTo>
                  <a:pt x="3358134" y="1358011"/>
                </a:lnTo>
                <a:lnTo>
                  <a:pt x="3214878" y="1358011"/>
                </a:lnTo>
                <a:lnTo>
                  <a:pt x="3214878" y="1294384"/>
                </a:lnTo>
                <a:close/>
              </a:path>
              <a:path w="5154295" h="1972945">
                <a:moveTo>
                  <a:pt x="3358134" y="1397000"/>
                </a:moveTo>
                <a:lnTo>
                  <a:pt x="3310636" y="1397000"/>
                </a:lnTo>
                <a:lnTo>
                  <a:pt x="3310636" y="1466088"/>
                </a:lnTo>
                <a:lnTo>
                  <a:pt x="3358134" y="1466088"/>
                </a:lnTo>
                <a:lnTo>
                  <a:pt x="3358134" y="1397000"/>
                </a:lnTo>
                <a:close/>
              </a:path>
              <a:path w="5154295" h="1972945">
                <a:moveTo>
                  <a:pt x="3358134" y="1294384"/>
                </a:moveTo>
                <a:lnTo>
                  <a:pt x="3310636" y="1294384"/>
                </a:lnTo>
                <a:lnTo>
                  <a:pt x="3310636" y="1358011"/>
                </a:lnTo>
                <a:lnTo>
                  <a:pt x="3358134" y="1358011"/>
                </a:lnTo>
                <a:lnTo>
                  <a:pt x="3358134" y="1294384"/>
                </a:lnTo>
                <a:close/>
              </a:path>
              <a:path w="5154295" h="1972945">
                <a:moveTo>
                  <a:pt x="3859911" y="794893"/>
                </a:moveTo>
                <a:lnTo>
                  <a:pt x="3842004" y="794893"/>
                </a:lnTo>
                <a:lnTo>
                  <a:pt x="3773451" y="801449"/>
                </a:lnTo>
                <a:lnTo>
                  <a:pt x="3773653" y="801449"/>
                </a:lnTo>
                <a:lnTo>
                  <a:pt x="3723210" y="819112"/>
                </a:lnTo>
                <a:lnTo>
                  <a:pt x="3723337" y="819112"/>
                </a:lnTo>
                <a:lnTo>
                  <a:pt x="3688683" y="844724"/>
                </a:lnTo>
                <a:lnTo>
                  <a:pt x="3666932" y="875533"/>
                </a:lnTo>
                <a:lnTo>
                  <a:pt x="3655707" y="908472"/>
                </a:lnTo>
                <a:lnTo>
                  <a:pt x="3652520" y="940562"/>
                </a:lnTo>
                <a:lnTo>
                  <a:pt x="3652520" y="952373"/>
                </a:lnTo>
                <a:lnTo>
                  <a:pt x="3666847" y="1017288"/>
                </a:lnTo>
                <a:lnTo>
                  <a:pt x="3723282" y="1074782"/>
                </a:lnTo>
                <a:lnTo>
                  <a:pt x="3773596" y="1092843"/>
                </a:lnTo>
                <a:lnTo>
                  <a:pt x="3842004" y="1099566"/>
                </a:lnTo>
                <a:lnTo>
                  <a:pt x="3859911" y="1099566"/>
                </a:lnTo>
                <a:lnTo>
                  <a:pt x="3928627" y="1092843"/>
                </a:lnTo>
                <a:lnTo>
                  <a:pt x="3979027" y="1074782"/>
                </a:lnTo>
                <a:lnTo>
                  <a:pt x="4013707" y="1048543"/>
                </a:lnTo>
                <a:lnTo>
                  <a:pt x="4034489" y="1018413"/>
                </a:lnTo>
                <a:lnTo>
                  <a:pt x="3851148" y="1018413"/>
                </a:lnTo>
                <a:lnTo>
                  <a:pt x="3806372" y="1011420"/>
                </a:lnTo>
                <a:lnTo>
                  <a:pt x="3779932" y="993902"/>
                </a:lnTo>
                <a:lnTo>
                  <a:pt x="3767351" y="971049"/>
                </a:lnTo>
                <a:lnTo>
                  <a:pt x="3764153" y="948055"/>
                </a:lnTo>
                <a:lnTo>
                  <a:pt x="3764153" y="943737"/>
                </a:lnTo>
                <a:lnTo>
                  <a:pt x="3767220" y="920980"/>
                </a:lnTo>
                <a:lnTo>
                  <a:pt x="3779551" y="898652"/>
                </a:lnTo>
                <a:lnTo>
                  <a:pt x="3805836" y="881657"/>
                </a:lnTo>
                <a:lnTo>
                  <a:pt x="3850766" y="874903"/>
                </a:lnTo>
                <a:lnTo>
                  <a:pt x="4034591" y="874903"/>
                </a:lnTo>
                <a:lnTo>
                  <a:pt x="4013517" y="844867"/>
                </a:lnTo>
                <a:lnTo>
                  <a:pt x="3978801" y="819112"/>
                </a:lnTo>
                <a:lnTo>
                  <a:pt x="3928451" y="801449"/>
                </a:lnTo>
                <a:lnTo>
                  <a:pt x="3859911" y="794893"/>
                </a:lnTo>
                <a:close/>
              </a:path>
              <a:path w="5154295" h="1972945">
                <a:moveTo>
                  <a:pt x="4034591" y="874903"/>
                </a:moveTo>
                <a:lnTo>
                  <a:pt x="3850766" y="874903"/>
                </a:lnTo>
                <a:lnTo>
                  <a:pt x="3895756" y="881657"/>
                </a:lnTo>
                <a:lnTo>
                  <a:pt x="3922172" y="898652"/>
                </a:lnTo>
                <a:lnTo>
                  <a:pt x="3934634" y="920980"/>
                </a:lnTo>
                <a:lnTo>
                  <a:pt x="3937762" y="943737"/>
                </a:lnTo>
                <a:lnTo>
                  <a:pt x="3937762" y="948055"/>
                </a:lnTo>
                <a:lnTo>
                  <a:pt x="3934640" y="971049"/>
                </a:lnTo>
                <a:lnTo>
                  <a:pt x="3922220" y="993902"/>
                </a:lnTo>
                <a:lnTo>
                  <a:pt x="3895917" y="1011420"/>
                </a:lnTo>
                <a:lnTo>
                  <a:pt x="3851148" y="1018413"/>
                </a:lnTo>
                <a:lnTo>
                  <a:pt x="4034489" y="1018413"/>
                </a:lnTo>
                <a:lnTo>
                  <a:pt x="4035265" y="1017288"/>
                </a:lnTo>
                <a:lnTo>
                  <a:pt x="4046295" y="984178"/>
                </a:lnTo>
                <a:lnTo>
                  <a:pt x="4049395" y="952373"/>
                </a:lnTo>
                <a:lnTo>
                  <a:pt x="4049395" y="940562"/>
                </a:lnTo>
                <a:lnTo>
                  <a:pt x="4046259" y="908605"/>
                </a:lnTo>
                <a:lnTo>
                  <a:pt x="4035152" y="875702"/>
                </a:lnTo>
                <a:lnTo>
                  <a:pt x="4034591" y="874903"/>
                </a:lnTo>
                <a:close/>
              </a:path>
              <a:path w="5154295" h="1972945">
                <a:moveTo>
                  <a:pt x="3760978" y="1243838"/>
                </a:moveTo>
                <a:lnTo>
                  <a:pt x="3727323" y="1243838"/>
                </a:lnTo>
                <a:lnTo>
                  <a:pt x="3727323" y="1244473"/>
                </a:lnTo>
                <a:lnTo>
                  <a:pt x="3729036" y="1255337"/>
                </a:lnTo>
                <a:lnTo>
                  <a:pt x="3735531" y="1267475"/>
                </a:lnTo>
                <a:lnTo>
                  <a:pt x="3748905" y="1277352"/>
                </a:lnTo>
                <a:lnTo>
                  <a:pt x="3771138" y="1281430"/>
                </a:lnTo>
                <a:lnTo>
                  <a:pt x="3778123" y="1281430"/>
                </a:lnTo>
                <a:lnTo>
                  <a:pt x="3798980" y="1277352"/>
                </a:lnTo>
                <a:lnTo>
                  <a:pt x="3812301" y="1267475"/>
                </a:lnTo>
                <a:lnTo>
                  <a:pt x="3818957" y="1256030"/>
                </a:lnTo>
                <a:lnTo>
                  <a:pt x="3763264" y="1256030"/>
                </a:lnTo>
                <a:lnTo>
                  <a:pt x="3761613" y="1247521"/>
                </a:lnTo>
                <a:lnTo>
                  <a:pt x="3761087" y="1244473"/>
                </a:lnTo>
                <a:lnTo>
                  <a:pt x="3760978" y="1243838"/>
                </a:lnTo>
                <a:close/>
              </a:path>
              <a:path w="5154295" h="1972945">
                <a:moveTo>
                  <a:pt x="3821429" y="1243838"/>
                </a:moveTo>
                <a:lnTo>
                  <a:pt x="3788029" y="1243838"/>
                </a:lnTo>
                <a:lnTo>
                  <a:pt x="3787266" y="1247521"/>
                </a:lnTo>
                <a:lnTo>
                  <a:pt x="3785616" y="1256030"/>
                </a:lnTo>
                <a:lnTo>
                  <a:pt x="3818957" y="1256030"/>
                </a:lnTo>
                <a:lnTo>
                  <a:pt x="3819360" y="1255337"/>
                </a:lnTo>
                <a:lnTo>
                  <a:pt x="3821429" y="1244473"/>
                </a:lnTo>
                <a:lnTo>
                  <a:pt x="3821429" y="1243838"/>
                </a:lnTo>
                <a:close/>
              </a:path>
              <a:path w="5154295" h="1972945">
                <a:moveTo>
                  <a:pt x="2128774" y="1428242"/>
                </a:moveTo>
                <a:lnTo>
                  <a:pt x="1900682" y="1428242"/>
                </a:lnTo>
                <a:lnTo>
                  <a:pt x="1900682" y="1494917"/>
                </a:lnTo>
                <a:lnTo>
                  <a:pt x="1945894" y="1494917"/>
                </a:lnTo>
                <a:lnTo>
                  <a:pt x="1945894" y="1466088"/>
                </a:lnTo>
                <a:lnTo>
                  <a:pt x="2128774" y="1466088"/>
                </a:lnTo>
                <a:lnTo>
                  <a:pt x="2128774" y="1428242"/>
                </a:lnTo>
                <a:close/>
              </a:path>
              <a:path w="5154295" h="1972945">
                <a:moveTo>
                  <a:pt x="2128774" y="1466088"/>
                </a:moveTo>
                <a:lnTo>
                  <a:pt x="2083562" y="1466088"/>
                </a:lnTo>
                <a:lnTo>
                  <a:pt x="2083562" y="1494917"/>
                </a:lnTo>
                <a:lnTo>
                  <a:pt x="2128774" y="1494917"/>
                </a:lnTo>
                <a:lnTo>
                  <a:pt x="2128774" y="1466088"/>
                </a:lnTo>
                <a:close/>
              </a:path>
              <a:path w="5154295" h="1972945">
                <a:moveTo>
                  <a:pt x="2101088" y="1294384"/>
                </a:moveTo>
                <a:lnTo>
                  <a:pt x="1937131" y="1294384"/>
                </a:lnTo>
                <a:lnTo>
                  <a:pt x="1935797" y="1346142"/>
                </a:lnTo>
                <a:lnTo>
                  <a:pt x="1931987" y="1383363"/>
                </a:lnTo>
                <a:lnTo>
                  <a:pt x="1925986" y="1409559"/>
                </a:lnTo>
                <a:lnTo>
                  <a:pt x="1918081" y="1428242"/>
                </a:lnTo>
                <a:lnTo>
                  <a:pt x="1966214" y="1428242"/>
                </a:lnTo>
                <a:lnTo>
                  <a:pt x="1972163" y="1412865"/>
                </a:lnTo>
                <a:lnTo>
                  <a:pt x="1977326" y="1391618"/>
                </a:lnTo>
                <a:lnTo>
                  <a:pt x="1980965" y="1364680"/>
                </a:lnTo>
                <a:lnTo>
                  <a:pt x="1982343" y="1332230"/>
                </a:lnTo>
                <a:lnTo>
                  <a:pt x="2101088" y="1332230"/>
                </a:lnTo>
                <a:lnTo>
                  <a:pt x="2101088" y="1294384"/>
                </a:lnTo>
                <a:close/>
              </a:path>
              <a:path w="5154295" h="1972945">
                <a:moveTo>
                  <a:pt x="2101088" y="1332230"/>
                </a:moveTo>
                <a:lnTo>
                  <a:pt x="2053463" y="1332230"/>
                </a:lnTo>
                <a:lnTo>
                  <a:pt x="2053463" y="1428242"/>
                </a:lnTo>
                <a:lnTo>
                  <a:pt x="2101088" y="1428242"/>
                </a:lnTo>
                <a:lnTo>
                  <a:pt x="2101088" y="1332230"/>
                </a:lnTo>
                <a:close/>
              </a:path>
              <a:path w="5154295" h="1972945">
                <a:moveTo>
                  <a:pt x="2343785" y="1558163"/>
                </a:moveTo>
                <a:lnTo>
                  <a:pt x="2296287" y="1558163"/>
                </a:lnTo>
                <a:lnTo>
                  <a:pt x="2296287" y="1729867"/>
                </a:lnTo>
                <a:lnTo>
                  <a:pt x="2343785" y="1729867"/>
                </a:lnTo>
                <a:lnTo>
                  <a:pt x="2343785" y="1648968"/>
                </a:lnTo>
                <a:lnTo>
                  <a:pt x="2406562" y="1648968"/>
                </a:lnTo>
                <a:lnTo>
                  <a:pt x="2394204" y="1636776"/>
                </a:lnTo>
                <a:lnTo>
                  <a:pt x="2403407" y="1628775"/>
                </a:lnTo>
                <a:lnTo>
                  <a:pt x="2343785" y="1628775"/>
                </a:lnTo>
                <a:lnTo>
                  <a:pt x="2343785" y="1558163"/>
                </a:lnTo>
                <a:close/>
              </a:path>
              <a:path w="5154295" h="1972945">
                <a:moveTo>
                  <a:pt x="2406562" y="1648968"/>
                </a:moveTo>
                <a:lnTo>
                  <a:pt x="2343785" y="1648968"/>
                </a:lnTo>
                <a:lnTo>
                  <a:pt x="2426462" y="1729867"/>
                </a:lnTo>
                <a:lnTo>
                  <a:pt x="2488565" y="1729867"/>
                </a:lnTo>
                <a:lnTo>
                  <a:pt x="2406562" y="1648968"/>
                </a:lnTo>
                <a:close/>
              </a:path>
              <a:path w="5154295" h="1972945">
                <a:moveTo>
                  <a:pt x="2599817" y="1597406"/>
                </a:moveTo>
                <a:lnTo>
                  <a:pt x="2552446" y="1597406"/>
                </a:lnTo>
                <a:lnTo>
                  <a:pt x="2552446" y="1729867"/>
                </a:lnTo>
                <a:lnTo>
                  <a:pt x="2599817" y="1729867"/>
                </a:lnTo>
                <a:lnTo>
                  <a:pt x="2599817" y="1597406"/>
                </a:lnTo>
                <a:close/>
              </a:path>
              <a:path w="5154295" h="1972945">
                <a:moveTo>
                  <a:pt x="2484628" y="1558163"/>
                </a:moveTo>
                <a:lnTo>
                  <a:pt x="2424176" y="1558163"/>
                </a:lnTo>
                <a:lnTo>
                  <a:pt x="2343785" y="1628775"/>
                </a:lnTo>
                <a:lnTo>
                  <a:pt x="2403407" y="1628775"/>
                </a:lnTo>
                <a:lnTo>
                  <a:pt x="2484628" y="1558163"/>
                </a:lnTo>
                <a:close/>
              </a:path>
              <a:path w="5154295" h="1972945">
                <a:moveTo>
                  <a:pt x="2666238" y="1558163"/>
                </a:moveTo>
                <a:lnTo>
                  <a:pt x="2486025" y="1558163"/>
                </a:lnTo>
                <a:lnTo>
                  <a:pt x="2486025" y="1597406"/>
                </a:lnTo>
                <a:lnTo>
                  <a:pt x="2666238" y="1597406"/>
                </a:lnTo>
                <a:lnTo>
                  <a:pt x="2666238" y="1558163"/>
                </a:lnTo>
                <a:close/>
              </a:path>
              <a:path w="5154295" h="1972945">
                <a:moveTo>
                  <a:pt x="2266061" y="1558163"/>
                </a:moveTo>
                <a:lnTo>
                  <a:pt x="2108962" y="1558163"/>
                </a:lnTo>
                <a:lnTo>
                  <a:pt x="2108962" y="1729867"/>
                </a:lnTo>
                <a:lnTo>
                  <a:pt x="2267458" y="1729867"/>
                </a:lnTo>
                <a:lnTo>
                  <a:pt x="2267458" y="1692021"/>
                </a:lnTo>
                <a:lnTo>
                  <a:pt x="2155698" y="1692021"/>
                </a:lnTo>
                <a:lnTo>
                  <a:pt x="2155698" y="1662176"/>
                </a:lnTo>
                <a:lnTo>
                  <a:pt x="2262505" y="1662176"/>
                </a:lnTo>
                <a:lnTo>
                  <a:pt x="2262505" y="1623441"/>
                </a:lnTo>
                <a:lnTo>
                  <a:pt x="2155698" y="1623441"/>
                </a:lnTo>
                <a:lnTo>
                  <a:pt x="2155698" y="1595628"/>
                </a:lnTo>
                <a:lnTo>
                  <a:pt x="2266061" y="1595628"/>
                </a:lnTo>
                <a:lnTo>
                  <a:pt x="2266061" y="1558163"/>
                </a:lnTo>
                <a:close/>
              </a:path>
              <a:path w="5154295" h="1972945">
                <a:moveTo>
                  <a:pt x="1980057" y="1555369"/>
                </a:moveTo>
                <a:lnTo>
                  <a:pt x="1969897" y="1555369"/>
                </a:lnTo>
                <a:lnTo>
                  <a:pt x="1919922" y="1563336"/>
                </a:lnTo>
                <a:lnTo>
                  <a:pt x="1888236" y="1583674"/>
                </a:lnTo>
                <a:lnTo>
                  <a:pt x="1871599" y="1611036"/>
                </a:lnTo>
                <a:lnTo>
                  <a:pt x="1866773" y="1640078"/>
                </a:lnTo>
                <a:lnTo>
                  <a:pt x="1866773" y="1646936"/>
                </a:lnTo>
                <a:lnTo>
                  <a:pt x="1871599" y="1675901"/>
                </a:lnTo>
                <a:lnTo>
                  <a:pt x="1888236" y="1703593"/>
                </a:lnTo>
                <a:lnTo>
                  <a:pt x="1919922" y="1724356"/>
                </a:lnTo>
                <a:lnTo>
                  <a:pt x="1969897" y="1732534"/>
                </a:lnTo>
                <a:lnTo>
                  <a:pt x="1980057" y="1732534"/>
                </a:lnTo>
                <a:lnTo>
                  <a:pt x="2029976" y="1724356"/>
                </a:lnTo>
                <a:lnTo>
                  <a:pt x="2061693" y="1703593"/>
                </a:lnTo>
                <a:lnTo>
                  <a:pt x="2067990" y="1693164"/>
                </a:lnTo>
                <a:lnTo>
                  <a:pt x="1974977" y="1693164"/>
                </a:lnTo>
                <a:lnTo>
                  <a:pt x="1945429" y="1688592"/>
                </a:lnTo>
                <a:lnTo>
                  <a:pt x="1927479" y="1676971"/>
                </a:lnTo>
                <a:lnTo>
                  <a:pt x="1918577" y="1661445"/>
                </a:lnTo>
                <a:lnTo>
                  <a:pt x="1916176" y="1645158"/>
                </a:lnTo>
                <a:lnTo>
                  <a:pt x="1916176" y="1641856"/>
                </a:lnTo>
                <a:lnTo>
                  <a:pt x="1918612" y="1625526"/>
                </a:lnTo>
                <a:lnTo>
                  <a:pt x="1927574" y="1610280"/>
                </a:lnTo>
                <a:lnTo>
                  <a:pt x="1945536" y="1599011"/>
                </a:lnTo>
                <a:lnTo>
                  <a:pt x="1974977" y="1594612"/>
                </a:lnTo>
                <a:lnTo>
                  <a:pt x="2068464" y="1594612"/>
                </a:lnTo>
                <a:lnTo>
                  <a:pt x="2061823" y="1583674"/>
                </a:lnTo>
                <a:lnTo>
                  <a:pt x="2030140" y="1563336"/>
                </a:lnTo>
                <a:lnTo>
                  <a:pt x="2030310" y="1563336"/>
                </a:lnTo>
                <a:lnTo>
                  <a:pt x="1980057" y="1555369"/>
                </a:lnTo>
                <a:close/>
              </a:path>
              <a:path w="5154295" h="1972945">
                <a:moveTo>
                  <a:pt x="2068464" y="1594612"/>
                </a:moveTo>
                <a:lnTo>
                  <a:pt x="1974977" y="1594612"/>
                </a:lnTo>
                <a:lnTo>
                  <a:pt x="2004437" y="1599011"/>
                </a:lnTo>
                <a:lnTo>
                  <a:pt x="2022443" y="1610280"/>
                </a:lnTo>
                <a:lnTo>
                  <a:pt x="2031448" y="1625526"/>
                </a:lnTo>
                <a:lnTo>
                  <a:pt x="2033905" y="1641856"/>
                </a:lnTo>
                <a:lnTo>
                  <a:pt x="2033905" y="1645158"/>
                </a:lnTo>
                <a:lnTo>
                  <a:pt x="2004482" y="1688592"/>
                </a:lnTo>
                <a:lnTo>
                  <a:pt x="1974977" y="1693164"/>
                </a:lnTo>
                <a:lnTo>
                  <a:pt x="2067990" y="1693164"/>
                </a:lnTo>
                <a:lnTo>
                  <a:pt x="2078340" y="1675901"/>
                </a:lnTo>
                <a:lnTo>
                  <a:pt x="2083181" y="1646936"/>
                </a:lnTo>
                <a:lnTo>
                  <a:pt x="2083181" y="1640078"/>
                </a:lnTo>
                <a:lnTo>
                  <a:pt x="2078390" y="1611036"/>
                </a:lnTo>
                <a:lnTo>
                  <a:pt x="2077978" y="1610280"/>
                </a:lnTo>
                <a:lnTo>
                  <a:pt x="2068464" y="1594612"/>
                </a:lnTo>
                <a:close/>
              </a:path>
              <a:path w="5154295" h="1972945">
                <a:moveTo>
                  <a:pt x="2926461" y="1294384"/>
                </a:moveTo>
                <a:lnTo>
                  <a:pt x="2760091" y="1294384"/>
                </a:lnTo>
                <a:lnTo>
                  <a:pt x="2759916" y="1332230"/>
                </a:lnTo>
                <a:lnTo>
                  <a:pt x="2759840" y="1348747"/>
                </a:lnTo>
                <a:lnTo>
                  <a:pt x="2757197" y="1401183"/>
                </a:lnTo>
                <a:lnTo>
                  <a:pt x="2731770" y="1425702"/>
                </a:lnTo>
                <a:lnTo>
                  <a:pt x="2730119" y="1425702"/>
                </a:lnTo>
                <a:lnTo>
                  <a:pt x="2730119" y="1466088"/>
                </a:lnTo>
                <a:lnTo>
                  <a:pt x="2747264" y="1466088"/>
                </a:lnTo>
                <a:lnTo>
                  <a:pt x="2768649" y="1463311"/>
                </a:lnTo>
                <a:lnTo>
                  <a:pt x="2796921" y="1433576"/>
                </a:lnTo>
                <a:lnTo>
                  <a:pt x="2803382" y="1393475"/>
                </a:lnTo>
                <a:lnTo>
                  <a:pt x="2805176" y="1332230"/>
                </a:lnTo>
                <a:lnTo>
                  <a:pt x="2926461" y="1332230"/>
                </a:lnTo>
                <a:lnTo>
                  <a:pt x="2926461" y="1294384"/>
                </a:lnTo>
                <a:close/>
              </a:path>
              <a:path w="5154295" h="1972945">
                <a:moveTo>
                  <a:pt x="2926461" y="1332230"/>
                </a:moveTo>
                <a:lnTo>
                  <a:pt x="2878963" y="1332230"/>
                </a:lnTo>
                <a:lnTo>
                  <a:pt x="2878963" y="1466088"/>
                </a:lnTo>
                <a:lnTo>
                  <a:pt x="2926461" y="1466088"/>
                </a:lnTo>
                <a:lnTo>
                  <a:pt x="2926461" y="1332230"/>
                </a:lnTo>
                <a:close/>
              </a:path>
              <a:path w="5154295" h="1972945">
                <a:moveTo>
                  <a:pt x="3007360" y="1294384"/>
                </a:moveTo>
                <a:lnTo>
                  <a:pt x="2959735" y="1294384"/>
                </a:lnTo>
                <a:lnTo>
                  <a:pt x="2959735" y="1466088"/>
                </a:lnTo>
                <a:lnTo>
                  <a:pt x="3077210" y="1466088"/>
                </a:lnTo>
                <a:lnTo>
                  <a:pt x="3110378" y="1461710"/>
                </a:lnTo>
                <a:lnTo>
                  <a:pt x="3131962" y="1449641"/>
                </a:lnTo>
                <a:lnTo>
                  <a:pt x="3143664" y="1431476"/>
                </a:lnTo>
                <a:lnTo>
                  <a:pt x="3144167" y="1428242"/>
                </a:lnTo>
                <a:lnTo>
                  <a:pt x="3007360" y="1428242"/>
                </a:lnTo>
                <a:lnTo>
                  <a:pt x="3007360" y="1387602"/>
                </a:lnTo>
                <a:lnTo>
                  <a:pt x="3144334" y="1387602"/>
                </a:lnTo>
                <a:lnTo>
                  <a:pt x="3143754" y="1383778"/>
                </a:lnTo>
                <a:lnTo>
                  <a:pt x="3132201" y="1365837"/>
                </a:lnTo>
                <a:lnTo>
                  <a:pt x="3110646" y="1354016"/>
                </a:lnTo>
                <a:lnTo>
                  <a:pt x="3077210" y="1349756"/>
                </a:lnTo>
                <a:lnTo>
                  <a:pt x="3007360" y="1349756"/>
                </a:lnTo>
                <a:lnTo>
                  <a:pt x="3007360" y="1294384"/>
                </a:lnTo>
                <a:close/>
              </a:path>
              <a:path w="5154295" h="1972945">
                <a:moveTo>
                  <a:pt x="3144334" y="1387602"/>
                </a:moveTo>
                <a:lnTo>
                  <a:pt x="3073527" y="1387602"/>
                </a:lnTo>
                <a:lnTo>
                  <a:pt x="3084228" y="1388935"/>
                </a:lnTo>
                <a:lnTo>
                  <a:pt x="3091799" y="1392745"/>
                </a:lnTo>
                <a:lnTo>
                  <a:pt x="3096297" y="1398746"/>
                </a:lnTo>
                <a:lnTo>
                  <a:pt x="3097736" y="1406398"/>
                </a:lnTo>
                <a:lnTo>
                  <a:pt x="3097713" y="1408811"/>
                </a:lnTo>
                <a:lnTo>
                  <a:pt x="3096297" y="1416454"/>
                </a:lnTo>
                <a:lnTo>
                  <a:pt x="3091799" y="1422717"/>
                </a:lnTo>
                <a:lnTo>
                  <a:pt x="3084228" y="1426789"/>
                </a:lnTo>
                <a:lnTo>
                  <a:pt x="3073527" y="1428242"/>
                </a:lnTo>
                <a:lnTo>
                  <a:pt x="3144167" y="1428242"/>
                </a:lnTo>
                <a:lnTo>
                  <a:pt x="3147187" y="1408811"/>
                </a:lnTo>
                <a:lnTo>
                  <a:pt x="3147187" y="1406398"/>
                </a:lnTo>
                <a:lnTo>
                  <a:pt x="3144334" y="1387602"/>
                </a:lnTo>
                <a:close/>
              </a:path>
              <a:path w="5154295" h="1972945">
                <a:moveTo>
                  <a:pt x="1075055" y="823087"/>
                </a:moveTo>
                <a:lnTo>
                  <a:pt x="644474" y="823087"/>
                </a:lnTo>
                <a:lnTo>
                  <a:pt x="644474" y="1733550"/>
                </a:lnTo>
                <a:lnTo>
                  <a:pt x="1075055" y="1972564"/>
                </a:lnTo>
                <a:lnTo>
                  <a:pt x="1075055" y="823087"/>
                </a:lnTo>
                <a:close/>
              </a:path>
              <a:path w="5154295" h="1972945">
                <a:moveTo>
                  <a:pt x="661797" y="337312"/>
                </a:moveTo>
                <a:lnTo>
                  <a:pt x="0" y="719328"/>
                </a:lnTo>
                <a:lnTo>
                  <a:pt x="411276" y="956818"/>
                </a:lnTo>
                <a:lnTo>
                  <a:pt x="644474" y="823087"/>
                </a:lnTo>
                <a:lnTo>
                  <a:pt x="1075055" y="823087"/>
                </a:lnTo>
                <a:lnTo>
                  <a:pt x="1075055" y="576326"/>
                </a:lnTo>
                <a:lnTo>
                  <a:pt x="661797" y="337312"/>
                </a:lnTo>
                <a:close/>
              </a:path>
              <a:path w="5154295" h="1972945">
                <a:moveTo>
                  <a:pt x="1245997" y="0"/>
                </a:moveTo>
                <a:lnTo>
                  <a:pt x="730504" y="297561"/>
                </a:lnTo>
                <a:lnTo>
                  <a:pt x="1141857" y="535051"/>
                </a:lnTo>
                <a:lnTo>
                  <a:pt x="1659382" y="238887"/>
                </a:lnTo>
                <a:lnTo>
                  <a:pt x="124599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3" name="object 3"/>
          <p:cNvGrpSpPr/>
          <p:nvPr/>
        </p:nvGrpSpPr>
        <p:grpSpPr>
          <a:xfrm>
            <a:off x="642083" y="0"/>
            <a:ext cx="11604625" cy="6858000"/>
            <a:chOff x="587375" y="0"/>
            <a:chExt cx="11604625" cy="6858000"/>
          </a:xfrm>
        </p:grpSpPr>
        <p:sp>
          <p:nvSpPr>
            <p:cNvPr id="4" name="object 4"/>
            <p:cNvSpPr/>
            <p:nvPr/>
          </p:nvSpPr>
          <p:spPr>
            <a:xfrm>
              <a:off x="587375" y="1257300"/>
              <a:ext cx="11604625" cy="0"/>
            </a:xfrm>
            <a:custGeom>
              <a:avLst/>
              <a:gdLst/>
              <a:ahLst/>
              <a:cxnLst/>
              <a:rect l="l" t="t" r="r" b="b"/>
              <a:pathLst>
                <a:path w="11604625">
                  <a:moveTo>
                    <a:pt x="0" y="0"/>
                  </a:moveTo>
                  <a:lnTo>
                    <a:pt x="11604625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1604625" y="0"/>
              <a:ext cx="12700" cy="6858000"/>
            </a:xfrm>
            <a:custGeom>
              <a:avLst/>
              <a:gdLst/>
              <a:ahLst/>
              <a:cxnLst/>
              <a:rect l="l" t="t" r="r" b="b"/>
              <a:pathLst>
                <a:path w="12700" h="6858000">
                  <a:moveTo>
                    <a:pt x="1270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2700" y="6858000"/>
                  </a:lnTo>
                  <a:lnTo>
                    <a:pt x="127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773167" y="584595"/>
              <a:ext cx="635487" cy="494306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98968" y="679951"/>
              <a:ext cx="1466588" cy="32102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88696" y="605735"/>
              <a:ext cx="411489" cy="45778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527452" y="682035"/>
              <a:ext cx="1475573" cy="35047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027086" y="631914"/>
              <a:ext cx="412240" cy="405181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71372" y="1429511"/>
              <a:ext cx="10583418" cy="5428488"/>
            </a:xfrm>
            <a:prstGeom prst="rect">
              <a:avLst/>
            </a:prstGeom>
          </p:spPr>
        </p:pic>
      </p:grpSp>
      <p:sp>
        <p:nvSpPr>
          <p:cNvPr id="12" name="object 18">
            <a:extLst>
              <a:ext uri="{FF2B5EF4-FFF2-40B4-BE49-F238E27FC236}">
                <a16:creationId xmlns:a16="http://schemas.microsoft.com/office/drawing/2014/main" id="{4751A9FF-D864-4135-AD5B-58AA20E6D3D9}"/>
              </a:ext>
            </a:extLst>
          </p:cNvPr>
          <p:cNvSpPr txBox="1"/>
          <p:nvPr/>
        </p:nvSpPr>
        <p:spPr>
          <a:xfrm>
            <a:off x="503995" y="2895600"/>
            <a:ext cx="8607425" cy="838628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/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95DA9EF1-0E8C-4C5A-B74B-3FDAD204BABF}"/>
              </a:ext>
            </a:extLst>
          </p:cNvPr>
          <p:cNvSpPr/>
          <p:nvPr/>
        </p:nvSpPr>
        <p:spPr>
          <a:xfrm>
            <a:off x="503995" y="5991299"/>
            <a:ext cx="3315972" cy="369332"/>
          </a:xfrm>
          <a:prstGeom prst="rect">
            <a:avLst/>
          </a:prstGeom>
        </p:spPr>
        <p:txBody>
          <a:bodyPr wrap="none">
            <a:spAutoFit/>
          </a:bodyPr>
          <a:lstStyle/>
          <a:p/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D9FE8D8C-B19E-4435-9B06-3375ED8685F0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43684" y="601947"/>
            <a:ext cx="1612470" cy="49430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48640" y="1828800"/>
            <a:ext cx="59436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F9B3C"/>
                </a:solidFill>
                <a:latin typeface="Segoe UI"/>
              </a:defRPr>
            </a:pPr>
            <a:r>
              <a:t>МЕДТЕХ  •  СИМУЛЯЦИОННОЕ ОБУЧЕНИЕ  •  ИМПОРТОЗАМЕЩЕНИЕ</a:t>
            </a:r>
          </a:p>
          <a:p>
            <a:pPr>
              <a:spcAft>
                <a:spcPts val="800"/>
              </a:spcAft>
              <a:defRPr sz="4000" b="1">
                <a:solidFill>
                  <a:srgbClr val="FFFFFF"/>
                </a:solidFill>
                <a:latin typeface="Segoe UI"/>
              </a:defRPr>
            </a:pPr>
            <a:r>
              <a:t>МЕДСИМ (MedSim)</a:t>
            </a:r>
          </a:p>
          <a:p>
            <a:pPr>
              <a:spcAft>
                <a:spcPts val="1000"/>
              </a:spcAft>
              <a:defRPr sz="1550" b="1">
                <a:solidFill>
                  <a:srgbClr val="FFFFFF"/>
                </a:solidFill>
                <a:latin typeface="Segoe UI"/>
              </a:defRPr>
            </a:pPr>
            <a:r>
              <a:t>Интерактивный тренажёр клинического мышления для студентов и ординаторов</a:t>
            </a:r>
          </a:p>
          <a:p>
            <a:pPr>
              <a:defRPr sz="1150">
                <a:solidFill>
                  <a:srgbClr val="DCCDF5"/>
                </a:solidFill>
                <a:latin typeface="Segoe UI"/>
              </a:defRPr>
            </a:pPr>
            <a:r>
              <a:t>Отечественная кроссплатформенная веб-система симуляции клинических решений в реальном времени по актуальным Клиническим рекомендациям Минздрава РФ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709160"/>
            <a:ext cx="5943600" cy="1691640"/>
          </a:xfrm>
          <a:prstGeom prst="roundRect">
            <a:avLst/>
          </a:prstGeom>
          <a:solidFill>
            <a:srgbClr val="260C46"/>
          </a:solidFill>
          <a:ln w="12700">
            <a:solidFill>
              <a:srgbClr val="6932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 bIns="109728"/>
          <a:lstStyle/>
          <a:p>
            <a:pPr algn="ctr">
              <a:spcAft>
                <a:spcPts val="400"/>
              </a:spcAft>
              <a:defRPr sz="1100" b="1">
                <a:solidFill>
                  <a:srgbClr val="FFFFFF"/>
                </a:solidFill>
                <a:latin typeface="Segoe UI"/>
              </a:defRPr>
            </a:pPr>
            <a:r>
              <a:t>ФГБОУ ВО СЗГМУ им. И.И. Мечникова Минздрава России</a:t>
            </a:r>
          </a:p>
          <a:p>
            <a:pPr>
              <a:spcAft>
                <a:spcPts val="200"/>
              </a:spcAft>
              <a:defRPr sz="950">
                <a:latin typeface="Segoe UI"/>
              </a:defRPr>
            </a:pPr>
            <a:r>
              <a:rPr b="1">
                <a:solidFill>
                  <a:srgbClr val="FF9B3C"/>
                </a:solidFill>
              </a:rPr>
              <a:t>Автор и разработчик: </a:t>
            </a:r>
            <a:r>
              <a:rPr>
                <a:solidFill>
                  <a:srgbClr val="FFFFFF"/>
                </a:solidFill>
              </a:rPr>
              <a:t>Козлов Арсений Анатольевич (студент 3 курса лечебного факультета)</a:t>
            </a:r>
          </a:p>
          <a:p>
            <a:pPr>
              <a:spcAft>
                <a:spcPts val="200"/>
              </a:spcAft>
              <a:defRPr sz="950">
                <a:latin typeface="Segoe UI"/>
              </a:defRPr>
            </a:pPr>
            <a:r>
              <a:rPr b="1">
                <a:solidFill>
                  <a:srgbClr val="FF9B3C"/>
                </a:solidFill>
              </a:rPr>
              <a:t>Научный руководитель: </a:t>
            </a:r>
            <a:r>
              <a:rPr>
                <a:solidFill>
                  <a:srgbClr val="FFFFFF"/>
                </a:solidFill>
              </a:rPr>
              <a:t>Расмагина Ирина Алексеевна, к.м.н., асс. кафедры пропедевтики</a:t>
            </a:r>
          </a:p>
          <a:p>
            <a:pPr>
              <a:spcAft>
                <a:spcPts val="200"/>
              </a:spcAft>
              <a:defRPr sz="950">
                <a:latin typeface="Segoe UI"/>
              </a:defRPr>
            </a:pPr>
            <a:r>
              <a:rPr b="1">
                <a:solidFill>
                  <a:srgbClr val="FF9B3C"/>
                </a:solidFill>
              </a:rPr>
              <a:t>Наставник проекта: </a:t>
            </a:r>
            <a:r>
              <a:rPr>
                <a:solidFill>
                  <a:srgbClr val="FFFFFF"/>
                </a:solidFill>
              </a:rPr>
              <a:t>Бакулин Игорь Геннадьевич, д.м.н., проф., зав. кафедрой, гл. гастроэнтеролог СЗФО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25475" y="584200"/>
            <a:ext cx="0" cy="936625"/>
          </a:xfrm>
          <a:custGeom>
            <a:avLst/>
            <a:gdLst/>
            <a:ahLst/>
            <a:cxnLst/>
            <a:rect l="l" t="t" r="r" b="b"/>
            <a:pathLst>
              <a:path h="936625">
                <a:moveTo>
                  <a:pt x="0" y="0"/>
                </a:moveTo>
                <a:lnTo>
                  <a:pt x="0" y="936625"/>
                </a:lnTo>
              </a:path>
            </a:pathLst>
          </a:custGeom>
          <a:ln w="762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762000" y="517579"/>
            <a:ext cx="10050780" cy="777777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12700" marR="5080">
              <a:lnSpc>
                <a:spcPts val="6190"/>
              </a:lnSpc>
              <a:spcBef>
                <a:spcPts val="1085"/>
              </a:spcBef>
            </a:pPr>
            <a:r>
              <a:rPr lang="ru-RU" spc="55" dirty="0">
                <a:latin typeface="Trebuchet MS"/>
                <a:cs typeface="Trebuchet MS"/>
              </a:rPr>
              <a:t>ПРОБЛЕМА</a:t>
            </a:r>
            <a:endParaRPr lang="ru-RU" dirty="0">
              <a:latin typeface="Trebuchet MS"/>
              <a:cs typeface="Trebuchet MS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304800" y="1976609"/>
            <a:ext cx="11582400" cy="4363812"/>
            <a:chOff x="-7118350" y="2163524"/>
            <a:chExt cx="11582400" cy="4580336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-7118350" y="2277824"/>
              <a:ext cx="11582400" cy="4466036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-6994270" y="2163524"/>
              <a:ext cx="3662299" cy="328574"/>
            </a:xfrm>
            <a:prstGeom prst="rect">
              <a:avLst/>
            </a:prstGeom>
          </p:spPr>
        </p:pic>
      </p:grpSp>
      <p:sp>
        <p:nvSpPr>
          <p:cNvPr id="71" name="object 7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5570">
              <a:lnSpc>
                <a:spcPts val="1655"/>
              </a:lnSpc>
            </a:pPr>
            <a:fld id="{81D60167-4931-47E6-BA6A-407CBD079E47}" type="slidenum">
              <a:rPr spc="-50" dirty="0">
                <a:solidFill>
                  <a:srgbClr val="FFFFFF"/>
                </a:solidFill>
              </a:rPr>
              <a:t>2</a:t>
            </a:fld>
            <a:endParaRPr spc="-50" dirty="0">
              <a:solidFill>
                <a:srgbClr val="FFFFFF"/>
              </a:solidFill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533400" y="2002867"/>
            <a:ext cx="10723433" cy="370614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/>
        </p:txBody>
      </p:sp>
      <p:pic>
        <p:nvPicPr>
          <p:cNvPr id="72" name="Рисунок 71">
            <a:extLst>
              <a:ext uri="{FF2B5EF4-FFF2-40B4-BE49-F238E27FC236}">
                <a16:creationId xmlns:a16="http://schemas.microsoft.com/office/drawing/2014/main" id="{5E90570F-24C4-440F-B3CE-6447FFF1607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5427" y="590062"/>
            <a:ext cx="1455005" cy="262069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502920" y="1956816"/>
            <a:ext cx="3291840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100" b="1">
                <a:solidFill>
                  <a:srgbClr val="7F14E0"/>
                </a:solidFill>
                <a:latin typeface="Segoe UI"/>
              </a:defRPr>
            </a:pPr>
            <a:r>
              <a:t>КЛЮЧЕВЫЕ БОЛИ РЫНКА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502920" y="2423160"/>
            <a:ext cx="3520440" cy="3794760"/>
          </a:xfrm>
          <a:prstGeom prst="roundRect">
            <a:avLst/>
          </a:prstGeom>
          <a:solidFill>
            <a:srgbClr val="FCFAFF"/>
          </a:solidFill>
          <a:ln w="15240">
            <a:solidFill>
              <a:srgbClr val="DCD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37160"/>
          <a:lstStyle/>
          <a:p>
            <a:pPr algn="ctr">
              <a:spcAft>
                <a:spcPts val="100"/>
              </a:spcAft>
              <a:defRPr sz="2400" b="1">
                <a:solidFill>
                  <a:srgbClr val="7F14E0"/>
                </a:solidFill>
                <a:latin typeface="Segoe UI"/>
              </a:defRPr>
            </a:pPr>
            <a:r>
              <a:t>45 000+</a:t>
            </a:r>
          </a:p>
          <a:p>
            <a:pPr>
              <a:spcAft>
                <a:spcPts val="600"/>
              </a:spcAft>
              <a:defRPr sz="950">
                <a:solidFill>
                  <a:srgbClr val="555A64"/>
                </a:solidFill>
                <a:latin typeface="Segoe UI"/>
              </a:defRPr>
            </a:pPr>
            <a:r>
              <a:t>студентов и 20 000+ ординаторов в РФ</a:t>
            </a:r>
          </a:p>
          <a:p>
            <a:pPr>
              <a:spcAft>
                <a:spcPts val="800"/>
              </a:spcAft>
              <a:defRPr sz="1200" b="1">
                <a:solidFill>
                  <a:srgbClr val="19191E"/>
                </a:solidFill>
                <a:latin typeface="Segoe UI"/>
              </a:defRPr>
            </a:pPr>
            <a:r>
              <a:t>Дефицит самостоятельной курации</a:t>
            </a:r>
          </a:p>
          <a:p>
            <a:pPr>
              <a:spcBef>
                <a:spcPts val="100"/>
              </a:spcBef>
              <a:spcAft>
                <a:spcPts val="400"/>
              </a:spcAft>
            </a:pPr>
            <a:r>
              <a:rPr sz="950" b="1">
                <a:solidFill>
                  <a:srgbClr val="19191E"/>
                </a:solidFill>
                <a:latin typeface="Segoe UI"/>
              </a:rPr>
              <a:t>• &gt;70% начинающих врачей </a:t>
            </a:r>
            <a:r>
              <a:rPr sz="950">
                <a:solidFill>
                  <a:srgbClr val="555A64"/>
                </a:solidFill>
                <a:latin typeface="Segoe UI"/>
              </a:rPr>
              <a:t>приходят в ординатуру без опыта самостоятельного ведения экстренных и тяжёлых больных.</a:t>
            </a:r>
          </a:p>
          <a:p>
            <a:pPr>
              <a:spcBef>
                <a:spcPts val="100"/>
              </a:spcBef>
              <a:spcAft>
                <a:spcPts val="400"/>
              </a:spcAft>
            </a:pPr>
            <a:r>
              <a:rPr sz="950" b="1">
                <a:solidFill>
                  <a:srgbClr val="19191E"/>
                </a:solidFill>
                <a:latin typeface="Segoe UI"/>
              </a:rPr>
              <a:t>• Ограничения клиники: </a:t>
            </a:r>
            <a:r>
              <a:rPr sz="950">
                <a:solidFill>
                  <a:srgbClr val="555A64"/>
                </a:solidFill>
                <a:latin typeface="Segoe UI"/>
              </a:rPr>
              <a:t>Студентов не допускают к реальным реанимационным и экстренным решениям из-за рисков для пациентов.</a:t>
            </a:r>
          </a:p>
          <a:p>
            <a:pPr>
              <a:spcBef>
                <a:spcPts val="100"/>
              </a:spcBef>
              <a:spcAft>
                <a:spcPts val="400"/>
              </a:spcAft>
            </a:pPr>
            <a:r>
              <a:rPr sz="950" b="1">
                <a:solidFill>
                  <a:srgbClr val="19191E"/>
                </a:solidFill>
                <a:latin typeface="Segoe UI"/>
              </a:rPr>
              <a:t>• Следствие: </a:t>
            </a:r>
            <a:r>
              <a:rPr sz="950">
                <a:solidFill>
                  <a:srgbClr val="555A64"/>
                </a:solidFill>
                <a:latin typeface="Segoe UI"/>
              </a:rPr>
              <a:t>Высокий уровень врачебного стресса на первых дежурствах, страх фатальной ошибки.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4242816" y="2423160"/>
            <a:ext cx="3520440" cy="3794760"/>
          </a:xfrm>
          <a:prstGeom prst="roundRect">
            <a:avLst/>
          </a:prstGeom>
          <a:solidFill>
            <a:srgbClr val="FCFAFF"/>
          </a:solidFill>
          <a:ln w="15240">
            <a:solidFill>
              <a:srgbClr val="DCD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37160"/>
          <a:lstStyle/>
          <a:p>
            <a:pPr algn="ctr">
              <a:spcAft>
                <a:spcPts val="100"/>
              </a:spcAft>
              <a:defRPr sz="2400" b="1">
                <a:solidFill>
                  <a:srgbClr val="F27220"/>
                </a:solidFill>
                <a:latin typeface="Segoe UI"/>
              </a:defRPr>
            </a:pPr>
            <a:r>
              <a:t>25%</a:t>
            </a:r>
          </a:p>
          <a:p>
            <a:pPr>
              <a:spcAft>
                <a:spcPts val="600"/>
              </a:spcAft>
              <a:defRPr sz="950">
                <a:solidFill>
                  <a:srgbClr val="555A64"/>
                </a:solidFill>
                <a:latin typeface="Segoe UI"/>
              </a:defRPr>
            </a:pPr>
            <a:r>
              <a:t>дефектов в первичном звене</a:t>
            </a:r>
          </a:p>
          <a:p>
            <a:pPr>
              <a:spcAft>
                <a:spcPts val="800"/>
              </a:spcAft>
              <a:defRPr sz="1200" b="1">
                <a:solidFill>
                  <a:srgbClr val="19191E"/>
                </a:solidFill>
                <a:latin typeface="Segoe UI"/>
              </a:defRPr>
            </a:pPr>
            <a:r>
              <a:t>Статичность классического обучения</a:t>
            </a:r>
          </a:p>
          <a:p>
            <a:pPr>
              <a:spcBef>
                <a:spcPts val="100"/>
              </a:spcBef>
              <a:spcAft>
                <a:spcPts val="400"/>
              </a:spcAft>
            </a:pPr>
            <a:r>
              <a:rPr sz="950" b="1">
                <a:solidFill>
                  <a:srgbClr val="19191E"/>
                </a:solidFill>
                <a:latin typeface="Segoe UI"/>
              </a:rPr>
              <a:t>• Тесты на бумаге </a:t>
            </a:r>
            <a:r>
              <a:rPr sz="950">
                <a:solidFill>
                  <a:srgbClr val="555A64"/>
                </a:solidFill>
                <a:latin typeface="Segoe UI"/>
              </a:rPr>
              <a:t>статичны: студент не чувствует дефицита времени и угасания виталов (АД, ЧСС, SpO2) за 30 секунд.</a:t>
            </a:r>
          </a:p>
          <a:p>
            <a:pPr>
              <a:spcBef>
                <a:spcPts val="100"/>
              </a:spcBef>
              <a:spcAft>
                <a:spcPts val="400"/>
              </a:spcAft>
            </a:pPr>
            <a:r>
              <a:rPr sz="950" b="1">
                <a:solidFill>
                  <a:srgbClr val="19191E"/>
                </a:solidFill>
                <a:latin typeface="Segoe UI"/>
              </a:rPr>
              <a:t>• CustDev (87,2%): </a:t>
            </a:r>
            <a:r>
              <a:rPr sz="950">
                <a:solidFill>
                  <a:srgbClr val="555A64"/>
                </a:solidFill>
                <a:latin typeface="Segoe UI"/>
              </a:rPr>
              <a:t>Обучающиеся заявили об острой нехватке интерактивной практики принятия решений.</a:t>
            </a:r>
          </a:p>
          <a:p>
            <a:pPr>
              <a:spcBef>
                <a:spcPts val="100"/>
              </a:spcBef>
              <a:spcAft>
                <a:spcPts val="400"/>
              </a:spcAft>
            </a:pPr>
            <a:r>
              <a:rPr sz="950" b="1">
                <a:solidFill>
                  <a:srgbClr val="19191E"/>
                </a:solidFill>
                <a:latin typeface="Segoe UI"/>
              </a:rPr>
              <a:t>• Цена промедления: </a:t>
            </a:r>
            <a:r>
              <a:rPr sz="950">
                <a:solidFill>
                  <a:srgbClr val="555A64"/>
                </a:solidFill>
                <a:latin typeface="Segoe UI"/>
              </a:rPr>
              <a:t>Ошибки сортировки и задержка неотложной терапии наносят колоссальный ущерб здоровью.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7982712" y="2423160"/>
            <a:ext cx="3520440" cy="3794760"/>
          </a:xfrm>
          <a:prstGeom prst="roundRect">
            <a:avLst/>
          </a:prstGeom>
          <a:solidFill>
            <a:srgbClr val="FCFAFF"/>
          </a:solidFill>
          <a:ln w="15240">
            <a:solidFill>
              <a:srgbClr val="DCD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37160"/>
          <a:lstStyle/>
          <a:p>
            <a:pPr algn="ctr">
              <a:spcAft>
                <a:spcPts val="100"/>
              </a:spcAft>
              <a:defRPr sz="2400" b="1">
                <a:solidFill>
                  <a:srgbClr val="7F14E0"/>
                </a:solidFill>
                <a:latin typeface="Segoe UI"/>
              </a:defRPr>
            </a:pPr>
            <a:r>
              <a:t>$50 000</a:t>
            </a:r>
          </a:p>
          <a:p>
            <a:pPr>
              <a:spcAft>
                <a:spcPts val="600"/>
              </a:spcAft>
              <a:defRPr sz="950">
                <a:solidFill>
                  <a:srgbClr val="555A64"/>
                </a:solidFill>
                <a:latin typeface="Segoe UI"/>
              </a:defRPr>
            </a:pPr>
            <a:r>
              <a:t>в год за зарубежные аналоги</a:t>
            </a:r>
          </a:p>
          <a:p>
            <a:pPr>
              <a:spcAft>
                <a:spcPts val="800"/>
              </a:spcAft>
              <a:defRPr sz="1200" b="1">
                <a:solidFill>
                  <a:srgbClr val="19191E"/>
                </a:solidFill>
                <a:latin typeface="Segoe UI"/>
              </a:defRPr>
            </a:pPr>
            <a:r>
              <a:t>Недоступность существующих решений</a:t>
            </a:r>
          </a:p>
          <a:p>
            <a:pPr>
              <a:spcBef>
                <a:spcPts val="100"/>
              </a:spcBef>
              <a:spcAft>
                <a:spcPts val="400"/>
              </a:spcAft>
            </a:pPr>
            <a:r>
              <a:rPr sz="950" b="1">
                <a:solidFill>
                  <a:srgbClr val="19191E"/>
                </a:solidFill>
                <a:latin typeface="Segoe UI"/>
              </a:rPr>
              <a:t>• Body Interact и Full Code: </a:t>
            </a:r>
            <a:r>
              <a:rPr sz="950">
                <a:solidFill>
                  <a:srgbClr val="555A64"/>
                </a:solidFill>
                <a:latin typeface="Segoe UI"/>
              </a:rPr>
              <a:t>Заблокированы из-за санкций, оторваны от стандартов РФ и стоят от $50 000/год.</a:t>
            </a:r>
          </a:p>
          <a:p>
            <a:pPr>
              <a:spcBef>
                <a:spcPts val="100"/>
              </a:spcBef>
              <a:spcAft>
                <a:spcPts val="400"/>
              </a:spcAft>
            </a:pPr>
            <a:r>
              <a:rPr sz="950" b="1">
                <a:solidFill>
                  <a:srgbClr val="19191E"/>
                </a:solidFill>
                <a:latin typeface="Segoe UI"/>
              </a:rPr>
              <a:t>• Манекены (3–15 млн ₽): </a:t>
            </a:r>
            <a:r>
              <a:rPr sz="950">
                <a:solidFill>
                  <a:srgbClr val="555A64"/>
                </a:solidFill>
                <a:latin typeface="Segoe UI"/>
              </a:rPr>
              <a:t>Тренируют только мануальные навыки (СЛР, интубация), но не клиническое мышление врача.</a:t>
            </a:r>
          </a:p>
          <a:p>
            <a:pPr>
              <a:spcBef>
                <a:spcPts val="100"/>
              </a:spcBef>
              <a:spcAft>
                <a:spcPts val="400"/>
              </a:spcAft>
            </a:pPr>
            <a:r>
              <a:rPr sz="950" b="1">
                <a:solidFill>
                  <a:srgbClr val="19191E"/>
                </a:solidFill>
                <a:latin typeface="Segoe UI"/>
              </a:rPr>
              <a:t>• Решение «МедСим»: </a:t>
            </a:r>
            <a:r>
              <a:rPr sz="950">
                <a:solidFill>
                  <a:srgbClr val="555A64"/>
                </a:solidFill>
                <a:latin typeface="Segoe UI"/>
              </a:rPr>
              <a:t>BYOD-доступ по Клиническим рекомендациям Минздрава РФ с любого смартфона/ноутбука в 5–10 раз дешевле.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25475" y="584200"/>
            <a:ext cx="0" cy="684530"/>
          </a:xfrm>
          <a:custGeom>
            <a:avLst/>
            <a:gdLst/>
            <a:ahLst/>
            <a:cxnLst/>
            <a:rect l="l" t="t" r="r" b="b"/>
            <a:pathLst>
              <a:path h="684530">
                <a:moveTo>
                  <a:pt x="0" y="0"/>
                </a:moveTo>
                <a:lnTo>
                  <a:pt x="0" y="684276"/>
                </a:lnTo>
              </a:path>
            </a:pathLst>
          </a:custGeom>
          <a:ln w="762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838200" y="344441"/>
            <a:ext cx="10050780" cy="816317"/>
          </a:xfrm>
          <a:prstGeom prst="rect">
            <a:avLst/>
          </a:prstGeom>
        </p:spPr>
        <p:txBody>
          <a:bodyPr vert="horz" wrap="square" lIns="0" tIns="86427" rIns="0" bIns="0" rtlCol="0">
            <a:spAutoFit/>
          </a:bodyPr>
          <a:lstStyle/>
          <a:p>
            <a:pPr marL="12700" marR="5080" algn="just">
              <a:lnSpc>
                <a:spcPts val="6600"/>
              </a:lnSpc>
              <a:spcBef>
                <a:spcPts val="710"/>
              </a:spcBef>
            </a:pPr>
            <a:r>
              <a:rPr lang="ru-RU" spc="-45" dirty="0">
                <a:latin typeface="Trebuchet MS"/>
                <a:cs typeface="Trebuchet MS"/>
              </a:rPr>
              <a:t>РЕШЕНИЕ</a:t>
            </a:r>
            <a:endParaRPr lang="ru-RU" dirty="0">
              <a:latin typeface="Trebuchet MS"/>
              <a:cs typeface="Trebuchet MS"/>
            </a:endParaRPr>
          </a:p>
        </p:txBody>
      </p:sp>
      <p:pic>
        <p:nvPicPr>
          <p:cNvPr id="55" name="object 5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08592" y="0"/>
            <a:ext cx="2883407" cy="1602486"/>
          </a:xfrm>
          <a:prstGeom prst="rect">
            <a:avLst/>
          </a:prstGeom>
        </p:spPr>
      </p:pic>
      <p:sp>
        <p:nvSpPr>
          <p:cNvPr id="56" name="object 5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5570">
              <a:lnSpc>
                <a:spcPts val="1655"/>
              </a:lnSpc>
            </a:pPr>
            <a:fld id="{81D60167-4931-47E6-BA6A-407CBD079E47}" type="slidenum">
              <a:rPr spc="-50" dirty="0">
                <a:solidFill>
                  <a:srgbClr val="FFFFFF"/>
                </a:solidFill>
              </a:rPr>
              <a:t>3</a:t>
            </a:fld>
            <a:endParaRPr spc="-50" dirty="0">
              <a:solidFill>
                <a:srgbClr val="FFFFFF"/>
              </a:solidFill>
            </a:endParaRPr>
          </a:p>
        </p:txBody>
      </p:sp>
      <p:pic>
        <p:nvPicPr>
          <p:cNvPr id="57" name="Рисунок 56">
            <a:extLst>
              <a:ext uri="{FF2B5EF4-FFF2-40B4-BE49-F238E27FC236}">
                <a16:creationId xmlns:a16="http://schemas.microsoft.com/office/drawing/2014/main" id="{53F2D3B2-6E3E-47B6-AAB5-F9146A747DD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5484" y="752599"/>
            <a:ext cx="1455005" cy="262069"/>
          </a:xfrm>
          <a:prstGeom prst="rect">
            <a:avLst/>
          </a:prstGeom>
        </p:spPr>
      </p:pic>
      <p:sp>
        <p:nvSpPr>
          <p:cNvPr id="58" name="Прямоугольник 57">
            <a:extLst>
              <a:ext uri="{FF2B5EF4-FFF2-40B4-BE49-F238E27FC236}">
                <a16:creationId xmlns:a16="http://schemas.microsoft.com/office/drawing/2014/main" id="{C5046DEE-075A-4402-846A-02CE26523171}"/>
              </a:ext>
            </a:extLst>
          </p:cNvPr>
          <p:cNvSpPr/>
          <p:nvPr/>
        </p:nvSpPr>
        <p:spPr>
          <a:xfrm>
            <a:off x="533399" y="1752600"/>
            <a:ext cx="8458193" cy="1754326"/>
          </a:xfrm>
          <a:prstGeom prst="rect">
            <a:avLst/>
          </a:prstGeom>
        </p:spPr>
        <p:txBody>
          <a:bodyPr wrap="square">
            <a:spAutoFit/>
          </a:bodyPr>
          <a:lstStyle/>
          <a:p/>
        </p:txBody>
      </p:sp>
      <p:pic>
        <p:nvPicPr>
          <p:cNvPr id="59" name="object 29">
            <a:extLst>
              <a:ext uri="{FF2B5EF4-FFF2-40B4-BE49-F238E27FC236}">
                <a16:creationId xmlns:a16="http://schemas.microsoft.com/office/drawing/2014/main" id="{5F4F47AF-93AF-426A-8D7E-CBEBDE67E45F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619806" y="3543935"/>
            <a:ext cx="3230626" cy="3314065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548640" y="1463040"/>
            <a:ext cx="7772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7F14E0"/>
                </a:solidFill>
                <a:latin typeface="Segoe UI"/>
              </a:defRPr>
            </a:pPr>
            <a:r>
              <a:t>ИНТЕРАКТИВНЫЙ ВЕБ-СИМУЛЯТОР КЛИНИЧЕСКИХ РЕШЕНИЙ</a:t>
            </a:r>
          </a:p>
          <a:p>
            <a:pPr>
              <a:defRPr sz="1200" b="1">
                <a:solidFill>
                  <a:srgbClr val="19191E"/>
                </a:solidFill>
                <a:latin typeface="Segoe UI"/>
              </a:defRPr>
            </a:pPr>
            <a:r>
              <a:t>«МедСим» переносит обучающегося в реальные клинические условия с непрерывной динамикой состояния больного по стандартам Минздрава РФ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548640" y="2423160"/>
            <a:ext cx="3794760" cy="1508760"/>
          </a:xfrm>
          <a:prstGeom prst="roundRect">
            <a:avLst/>
          </a:prstGeom>
          <a:solidFill>
            <a:srgbClr val="FCFAFF"/>
          </a:solidFill>
          <a:ln w="13970">
            <a:solidFill>
              <a:srgbClr val="DCD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>
              <a:spcAft>
                <a:spcPts val="200"/>
              </a:spcAft>
              <a:defRPr sz="950" b="1">
                <a:solidFill>
                  <a:srgbClr val="DC2626"/>
                </a:solidFill>
                <a:latin typeface="Segoe UI"/>
              </a:defRPr>
            </a:pPr>
            <a:r>
              <a:t>ОРИТ (ICU)</a:t>
            </a:r>
          </a:p>
          <a:p>
            <a:pPr>
              <a:spcAft>
                <a:spcPts val="300"/>
              </a:spcAft>
              <a:defRPr sz="1200" b="1">
                <a:solidFill>
                  <a:srgbClr val="19191E"/>
                </a:solidFill>
                <a:latin typeface="Segoe UI"/>
              </a:defRPr>
            </a:pPr>
            <a:r>
              <a:t>Экстренная реанимация</a:t>
            </a:r>
          </a:p>
          <a:p>
            <a:pPr>
              <a:defRPr sz="950">
                <a:solidFill>
                  <a:srgbClr val="555A64"/>
                </a:solidFill>
                <a:latin typeface="Segoe UI"/>
              </a:defRPr>
            </a:pPr>
            <a:r>
              <a:t>Таймер 12–15 мин, протокол ABCDE, динамика 7 виталов каждые 30 сек. Исходы: стабилизация или остановка сердца.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526279" y="2423160"/>
            <a:ext cx="3794760" cy="1508760"/>
          </a:xfrm>
          <a:prstGeom prst="roundRect">
            <a:avLst/>
          </a:prstGeom>
          <a:solidFill>
            <a:srgbClr val="FCFAFF"/>
          </a:solidFill>
          <a:ln w="13970">
            <a:solidFill>
              <a:srgbClr val="DCD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>
              <a:spcAft>
                <a:spcPts val="200"/>
              </a:spcAft>
              <a:defRPr sz="950" b="1">
                <a:solidFill>
                  <a:srgbClr val="F27220"/>
                </a:solidFill>
                <a:latin typeface="Segoe UI"/>
              </a:defRPr>
            </a:pPr>
            <a:r>
              <a:t>ПРИЁМНОЕ ОТДЕЛЕНИЕ</a:t>
            </a:r>
          </a:p>
          <a:p>
            <a:pPr>
              <a:spcAft>
                <a:spcPts val="300"/>
              </a:spcAft>
              <a:defRPr sz="1200" b="1">
                <a:solidFill>
                  <a:srgbClr val="19191E"/>
                </a:solidFill>
                <a:latin typeface="Segoe UI"/>
              </a:defRPr>
            </a:pPr>
            <a:r>
              <a:t>Сортировка и маршрутизация</a:t>
            </a:r>
          </a:p>
          <a:p>
            <a:pPr>
              <a:defRPr sz="950">
                <a:solidFill>
                  <a:srgbClr val="555A64"/>
                </a:solidFill>
                <a:latin typeface="Segoe UI"/>
              </a:defRPr>
            </a:pPr>
            <a:r>
              <a:t>Дифференциальная диагностика под дефицитом времени, первичная стабилизация и выбор маршрута госпитализации.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548640" y="4069080"/>
            <a:ext cx="3794760" cy="1508760"/>
          </a:xfrm>
          <a:prstGeom prst="roundRect">
            <a:avLst/>
          </a:prstGeom>
          <a:solidFill>
            <a:srgbClr val="FCFAFF"/>
          </a:solidFill>
          <a:ln w="13970">
            <a:solidFill>
              <a:srgbClr val="DCD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>
              <a:spcAft>
                <a:spcPts val="200"/>
              </a:spcAft>
              <a:defRPr sz="950" b="1">
                <a:solidFill>
                  <a:srgbClr val="1095C1"/>
                </a:solidFill>
                <a:latin typeface="Segoe UI"/>
              </a:defRPr>
            </a:pPr>
            <a:r>
              <a:t>ПОЛИКЛИНИКА</a:t>
            </a:r>
          </a:p>
          <a:p>
            <a:pPr>
              <a:spcAft>
                <a:spcPts val="300"/>
              </a:spcAft>
              <a:defRPr sz="1200" b="1">
                <a:solidFill>
                  <a:srgbClr val="19191E"/>
                </a:solidFill>
                <a:latin typeface="Segoe UI"/>
              </a:defRPr>
            </a:pPr>
            <a:r>
              <a:t>Амбулаторный приём</a:t>
            </a:r>
          </a:p>
          <a:p>
            <a:pPr>
              <a:defRPr sz="950">
                <a:solidFill>
                  <a:srgbClr val="555A64"/>
                </a:solidFill>
                <a:latin typeface="Segoe UI"/>
              </a:defRPr>
            </a:pPr>
            <a:r>
              <a:t>Приём без таймера, сбор анамнеза заболевания и жизни, назначение целевых анализов и формулировка диагноза.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4526279" y="4069080"/>
            <a:ext cx="3794760" cy="1508760"/>
          </a:xfrm>
          <a:prstGeom prst="roundRect">
            <a:avLst/>
          </a:prstGeom>
          <a:solidFill>
            <a:srgbClr val="FCFAFF"/>
          </a:solidFill>
          <a:ln w="13970">
            <a:solidFill>
              <a:srgbClr val="DCD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>
              <a:spcAft>
                <a:spcPts val="200"/>
              </a:spcAft>
              <a:defRPr sz="950" b="1">
                <a:solidFill>
                  <a:srgbClr val="7F14E0"/>
                </a:solidFill>
                <a:latin typeface="Segoe UI"/>
              </a:defRPr>
            </a:pPr>
            <a:r>
              <a:t>СТАЦИОНАР</a:t>
            </a:r>
          </a:p>
          <a:p>
            <a:pPr>
              <a:spcAft>
                <a:spcPts val="300"/>
              </a:spcAft>
              <a:defRPr sz="1200" b="1">
                <a:solidFill>
                  <a:srgbClr val="19191E"/>
                </a:solidFill>
                <a:latin typeface="Segoe UI"/>
              </a:defRPr>
            </a:pPr>
            <a:r>
              <a:t>Суточный цикл курации</a:t>
            </a:r>
          </a:p>
          <a:p>
            <a:pPr>
              <a:defRPr sz="950">
                <a:solidFill>
                  <a:srgbClr val="555A64"/>
                </a:solidFill>
                <a:latin typeface="Segoe UI"/>
              </a:defRPr>
            </a:pPr>
            <a:r>
              <a:t>Утренний обход, лабораторный контроль, коррекция фармакотерапии, контроль полипрагмазии и критерии выписки.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48640" y="5806440"/>
            <a:ext cx="7772400" cy="502920"/>
          </a:xfrm>
          <a:prstGeom prst="roundRect">
            <a:avLst/>
          </a:prstGeom>
          <a:solidFill>
            <a:srgbClr val="7F1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79 верифицированных сценариев   |   100% КР Минздрава РФ   |   &lt;1.5 с запуск (PWA)   |   Модель BYOD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25475" y="584200"/>
            <a:ext cx="0" cy="684530"/>
          </a:xfrm>
          <a:custGeom>
            <a:avLst/>
            <a:gdLst/>
            <a:ahLst/>
            <a:cxnLst/>
            <a:rect l="l" t="t" r="r" b="b"/>
            <a:pathLst>
              <a:path h="684530">
                <a:moveTo>
                  <a:pt x="0" y="0"/>
                </a:moveTo>
                <a:lnTo>
                  <a:pt x="0" y="684276"/>
                </a:lnTo>
              </a:path>
            </a:pathLst>
          </a:custGeom>
          <a:ln w="762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762206" y="593776"/>
            <a:ext cx="10050780" cy="579714"/>
          </a:xfrm>
          <a:prstGeom prst="rect">
            <a:avLst/>
          </a:prstGeom>
        </p:spPr>
        <p:txBody>
          <a:bodyPr vert="horz" wrap="square" lIns="0" tIns="8642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ru-RU" spc="140" dirty="0">
                <a:latin typeface="Trebuchet MS"/>
                <a:cs typeface="Trebuchet MS"/>
              </a:rPr>
              <a:t>ТЕХНОЛОГИЧЕСКОЕ ЯДРО ПРОЕКТА</a:t>
            </a:r>
            <a:endParaRPr lang="ru-RU" dirty="0">
              <a:latin typeface="Trebuchet MS"/>
              <a:cs typeface="Trebuchet MS"/>
            </a:endParaRPr>
          </a:p>
        </p:txBody>
      </p:sp>
      <p:pic>
        <p:nvPicPr>
          <p:cNvPr id="55" name="object 5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08592" y="0"/>
            <a:ext cx="2883407" cy="1602486"/>
          </a:xfrm>
          <a:prstGeom prst="rect">
            <a:avLst/>
          </a:prstGeom>
        </p:spPr>
      </p:pic>
      <p:sp>
        <p:nvSpPr>
          <p:cNvPr id="56" name="object 5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5570">
              <a:lnSpc>
                <a:spcPts val="1655"/>
              </a:lnSpc>
            </a:pPr>
            <a:fld id="{81D60167-4931-47E6-BA6A-407CBD079E47}" type="slidenum">
              <a:rPr spc="-50" dirty="0">
                <a:solidFill>
                  <a:srgbClr val="FFFFFF"/>
                </a:solidFill>
              </a:rPr>
              <a:t>4</a:t>
            </a:fld>
            <a:endParaRPr spc="-50" dirty="0">
              <a:solidFill>
                <a:srgbClr val="FFFFFF"/>
              </a:solidFill>
            </a:endParaRPr>
          </a:p>
        </p:txBody>
      </p:sp>
      <p:pic>
        <p:nvPicPr>
          <p:cNvPr id="57" name="Рисунок 56">
            <a:extLst>
              <a:ext uri="{FF2B5EF4-FFF2-40B4-BE49-F238E27FC236}">
                <a16:creationId xmlns:a16="http://schemas.microsoft.com/office/drawing/2014/main" id="{53F2D3B2-6E3E-47B6-AAB5-F9146A747DD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5484" y="752599"/>
            <a:ext cx="1455005" cy="262069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49872084-3F56-47B5-95FE-110FA0602512}"/>
              </a:ext>
            </a:extLst>
          </p:cNvPr>
          <p:cNvSpPr/>
          <p:nvPr/>
        </p:nvSpPr>
        <p:spPr>
          <a:xfrm>
            <a:off x="457199" y="1620071"/>
            <a:ext cx="9296395" cy="923330"/>
          </a:xfrm>
          <a:prstGeom prst="rect">
            <a:avLst/>
          </a:prstGeom>
        </p:spPr>
        <p:txBody>
          <a:bodyPr wrap="square">
            <a:spAutoFit/>
          </a:bodyPr>
          <a:lstStyle/>
          <a:p/>
        </p:txBody>
      </p:sp>
      <p:pic>
        <p:nvPicPr>
          <p:cNvPr id="10" name="object 3">
            <a:extLst>
              <a:ext uri="{FF2B5EF4-FFF2-40B4-BE49-F238E27FC236}">
                <a16:creationId xmlns:a16="http://schemas.microsoft.com/office/drawing/2014/main" id="{FECAAD6E-32ED-46B0-9CCC-92F97AAF0918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514975" y="929639"/>
            <a:ext cx="6677025" cy="5928359"/>
          </a:xfrm>
          <a:prstGeom prst="rect">
            <a:avLst/>
          </a:prstGeom>
        </p:spPr>
      </p:pic>
      <p:sp>
        <p:nvSpPr>
          <p:cNvPr id="58" name="Rounded Rectangle 57"/>
          <p:cNvSpPr/>
          <p:nvPr/>
        </p:nvSpPr>
        <p:spPr>
          <a:xfrm>
            <a:off x="548640" y="1463040"/>
            <a:ext cx="5852160" cy="1005840"/>
          </a:xfrm>
          <a:prstGeom prst="roundRect">
            <a:avLst/>
          </a:prstGeom>
          <a:solidFill>
            <a:srgbClr val="FCFAFF"/>
          </a:solidFill>
          <a:ln w="13970">
            <a:solidFill>
              <a:srgbClr val="DCD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>
              <a:spcAft>
                <a:spcPts val="100"/>
              </a:spcAft>
              <a:defRPr sz="850" b="1">
                <a:solidFill>
                  <a:srgbClr val="7F14E0"/>
                </a:solidFill>
                <a:latin typeface="Segoe UI"/>
              </a:defRPr>
            </a:pPr>
            <a:r>
              <a:t>SIMULATION ENGINE</a:t>
            </a:r>
          </a:p>
          <a:p>
            <a:pPr>
              <a:spcAft>
                <a:spcPts val="200"/>
              </a:spcAft>
              <a:defRPr sz="1100" b="1">
                <a:solidFill>
                  <a:srgbClr val="19191E"/>
                </a:solidFill>
                <a:latin typeface="Segoe UI"/>
              </a:defRPr>
            </a:pPr>
            <a:r>
              <a:t>Движок динамической детериорации</a:t>
            </a:r>
          </a:p>
          <a:p>
            <a:pPr>
              <a:defRPr sz="900">
                <a:solidFill>
                  <a:srgbClr val="555A64"/>
                </a:solidFill>
                <a:latin typeface="Segoe UI"/>
              </a:defRPr>
            </a:pPr>
            <a:r>
              <a:t>Непрерывный пересчёт 7 виталов (АД, ЧСС, ЧДД, SpO2, ШКГ, боль, t°) с шагом 30 сек и валидация индекса тяжести SOFA-like (0–20 баллов).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548640" y="2560320"/>
            <a:ext cx="5852160" cy="1005840"/>
          </a:xfrm>
          <a:prstGeom prst="roundRect">
            <a:avLst/>
          </a:prstGeom>
          <a:solidFill>
            <a:srgbClr val="FCFAFF"/>
          </a:solidFill>
          <a:ln w="13970">
            <a:solidFill>
              <a:srgbClr val="DCD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>
              <a:spcAft>
                <a:spcPts val="100"/>
              </a:spcAft>
              <a:defRPr sz="850" b="1">
                <a:solidFill>
                  <a:srgbClr val="7F14E0"/>
                </a:solidFill>
                <a:latin typeface="Segoe UI"/>
              </a:defRPr>
            </a:pPr>
            <a:r>
              <a:t>PHARMACODYNAMICS MATRIX</a:t>
            </a:r>
          </a:p>
          <a:p>
            <a:pPr>
              <a:spcAft>
                <a:spcPts val="200"/>
              </a:spcAft>
              <a:defRPr sz="1100" b="1">
                <a:solidFill>
                  <a:srgbClr val="19191E"/>
                </a:solidFill>
                <a:latin typeface="Segoe UI"/>
              </a:defRPr>
            </a:pPr>
            <a:r>
              <a:t>Фармакодинамическая матрица</a:t>
            </a:r>
          </a:p>
          <a:p>
            <a:pPr>
              <a:defRPr sz="900">
                <a:solidFill>
                  <a:srgbClr val="555A64"/>
                </a:solidFill>
                <a:latin typeface="Segoe UI"/>
              </a:defRPr>
            </a:pPr>
            <a:r>
              <a:t>Моделирование эффектов 52 лекарственных препаратов с учётом латентного периода, терапевтического окна и парадоксальных реакций.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48640" y="3657600"/>
            <a:ext cx="5852160" cy="1005840"/>
          </a:xfrm>
          <a:prstGeom prst="roundRect">
            <a:avLst/>
          </a:prstGeom>
          <a:solidFill>
            <a:srgbClr val="FCFAFF"/>
          </a:solidFill>
          <a:ln w="13970">
            <a:solidFill>
              <a:srgbClr val="DCD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>
              <a:spcAft>
                <a:spcPts val="100"/>
              </a:spcAft>
              <a:defRPr sz="850" b="1">
                <a:solidFill>
                  <a:srgbClr val="7F14E0"/>
                </a:solidFill>
                <a:latin typeface="Segoe UI"/>
              </a:defRPr>
            </a:pPr>
            <a:r>
              <a:t>DETERMINISTIC DEBRIEFING</a:t>
            </a:r>
          </a:p>
          <a:p>
            <a:pPr>
              <a:spcAft>
                <a:spcPts val="200"/>
              </a:spcAft>
              <a:defRPr sz="1100" b="1">
                <a:solidFill>
                  <a:srgbClr val="19191E"/>
                </a:solidFill>
                <a:latin typeface="Segoe UI"/>
              </a:defRPr>
            </a:pPr>
            <a:r>
              <a:t>Алгоритмический дебрифинг</a:t>
            </a:r>
          </a:p>
          <a:p>
            <a:pPr>
              <a:defRPr sz="900">
                <a:solidFill>
                  <a:srgbClr val="555A64"/>
                </a:solidFill>
                <a:latin typeface="Segoe UI"/>
              </a:defRPr>
            </a:pPr>
            <a:r>
              <a:t>Автоматический аудит действий врача по Клиническим рекомендациям Минздрава РФ с детекцией фатальных ошибок и полипрагмазии.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548640" y="4754880"/>
            <a:ext cx="5852160" cy="1005840"/>
          </a:xfrm>
          <a:prstGeom prst="roundRect">
            <a:avLst/>
          </a:prstGeom>
          <a:solidFill>
            <a:srgbClr val="FCFAFF"/>
          </a:solidFill>
          <a:ln w="13970">
            <a:solidFill>
              <a:srgbClr val="DCD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>
              <a:spcAft>
                <a:spcPts val="100"/>
              </a:spcAft>
              <a:defRPr sz="850" b="1">
                <a:solidFill>
                  <a:srgbClr val="7F14E0"/>
                </a:solidFill>
                <a:latin typeface="Segoe UI"/>
              </a:defRPr>
            </a:pPr>
            <a:r>
              <a:t>NEURAL PATIENT MODULE</a:t>
            </a:r>
          </a:p>
          <a:p>
            <a:pPr>
              <a:spcAft>
                <a:spcPts val="200"/>
              </a:spcAft>
              <a:defRPr sz="1100" b="1">
                <a:solidFill>
                  <a:srgbClr val="19191E"/>
                </a:solidFill>
                <a:latin typeface="Segoe UI"/>
              </a:defRPr>
            </a:pPr>
            <a:r>
              <a:t>LLM «Виртуальный пациент»</a:t>
            </a:r>
          </a:p>
          <a:p>
            <a:pPr>
              <a:defRPr sz="900">
                <a:solidFill>
                  <a:srgbClr val="555A64"/>
                </a:solidFill>
                <a:latin typeface="Segoe UI"/>
              </a:defRPr>
            </a:pPr>
            <a:r>
              <a:t>Отечественные языковые модели (GigaChat / YandexGPT) для тренировки сбора анамнеза по Калгари-Кембриджской модели.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548640" y="5897880"/>
            <a:ext cx="5852160" cy="411480"/>
          </a:xfrm>
          <a:prstGeom prst="roundRect">
            <a:avLst/>
          </a:prstGeom>
          <a:solidFill>
            <a:srgbClr val="FFF5EE"/>
          </a:solidFill>
          <a:ln w="12700">
            <a:solidFill>
              <a:srgbClr val="F27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950" b="1">
                <a:solidFill>
                  <a:srgbClr val="F27220"/>
                </a:solidFill>
                <a:latin typeface="Segoe UI"/>
              </a:defRPr>
            </a:pPr>
            <a:r>
              <a:t>Критическая технология РФ: ИИ, цифровое био-моделирование и суверенное ПО</a:t>
            </a:r>
          </a:p>
        </p:txBody>
      </p:sp>
    </p:spTree>
    <p:extLst>
      <p:ext uri="{BB962C8B-B14F-4D97-AF65-F5344CB8AC3E}">
        <p14:creationId xmlns:p14="http://schemas.microsoft.com/office/powerpoint/2010/main" val="1705736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25475" y="584200"/>
            <a:ext cx="0" cy="684530"/>
          </a:xfrm>
          <a:custGeom>
            <a:avLst/>
            <a:gdLst/>
            <a:ahLst/>
            <a:cxnLst/>
            <a:rect l="l" t="t" r="r" b="b"/>
            <a:pathLst>
              <a:path h="684530">
                <a:moveTo>
                  <a:pt x="0" y="0"/>
                </a:moveTo>
                <a:lnTo>
                  <a:pt x="0" y="684276"/>
                </a:lnTo>
              </a:path>
            </a:pathLst>
          </a:custGeom>
          <a:ln w="762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762206" y="593776"/>
            <a:ext cx="10050780" cy="579714"/>
          </a:xfrm>
          <a:prstGeom prst="rect">
            <a:avLst/>
          </a:prstGeom>
        </p:spPr>
        <p:txBody>
          <a:bodyPr vert="horz" wrap="square" lIns="0" tIns="8642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ru-RU" spc="125" dirty="0">
                <a:latin typeface="Trebuchet MS"/>
                <a:cs typeface="Trebuchet MS"/>
              </a:rPr>
              <a:t>КОНКУРЕНТЫ И АНАЛОГИ</a:t>
            </a:r>
          </a:p>
        </p:txBody>
      </p:sp>
      <p:pic>
        <p:nvPicPr>
          <p:cNvPr id="55" name="object 5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08592" y="0"/>
            <a:ext cx="2883407" cy="1602486"/>
          </a:xfrm>
          <a:prstGeom prst="rect">
            <a:avLst/>
          </a:prstGeom>
        </p:spPr>
      </p:pic>
      <p:sp>
        <p:nvSpPr>
          <p:cNvPr id="56" name="object 5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5570">
              <a:lnSpc>
                <a:spcPts val="1655"/>
              </a:lnSpc>
            </a:pPr>
            <a:fld id="{81D60167-4931-47E6-BA6A-407CBD079E47}" type="slidenum">
              <a:rPr spc="-50" dirty="0">
                <a:solidFill>
                  <a:srgbClr val="FFFFFF"/>
                </a:solidFill>
              </a:rPr>
              <a:t>5</a:t>
            </a:fld>
            <a:endParaRPr spc="-50" dirty="0">
              <a:solidFill>
                <a:srgbClr val="FFFFFF"/>
              </a:solidFill>
            </a:endParaRPr>
          </a:p>
        </p:txBody>
      </p:sp>
      <p:pic>
        <p:nvPicPr>
          <p:cNvPr id="57" name="Рисунок 56">
            <a:extLst>
              <a:ext uri="{FF2B5EF4-FFF2-40B4-BE49-F238E27FC236}">
                <a16:creationId xmlns:a16="http://schemas.microsoft.com/office/drawing/2014/main" id="{53F2D3B2-6E3E-47B6-AAB5-F9146A747DD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5484" y="752599"/>
            <a:ext cx="1455005" cy="262069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49872084-3F56-47B5-95FE-110FA0602512}"/>
              </a:ext>
            </a:extLst>
          </p:cNvPr>
          <p:cNvSpPr/>
          <p:nvPr/>
        </p:nvSpPr>
        <p:spPr>
          <a:xfrm>
            <a:off x="457199" y="1620071"/>
            <a:ext cx="11125201" cy="1200329"/>
          </a:xfrm>
          <a:prstGeom prst="rect">
            <a:avLst/>
          </a:prstGeom>
        </p:spPr>
        <p:txBody>
          <a:bodyPr wrap="square">
            <a:spAutoFit/>
          </a:bodyPr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548640" y="137160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>
                <a:solidFill>
                  <a:srgbClr val="555A64"/>
                </a:solidFill>
                <a:latin typeface="Segoe UI"/>
              </a:defRPr>
            </a:pPr>
            <a:r>
              <a:t>Сравнительный анализ подтверждает ключевое преимущество «МедСим» в 100% соответствии Клиническим рекомендациям Минздрава РФ и ценовой доступности для вузов.</a:t>
            </a:r>
          </a:p>
        </p:txBody>
      </p:sp>
      <p:graphicFrame>
        <p:nvGraphicFramePr>
          <p:cNvPr id="59" name="Table 58"/>
          <p:cNvGraphicFramePr>
            <a:graphicFrameLocks noGrp="1"/>
          </p:cNvGraphicFramePr>
          <p:nvPr/>
        </p:nvGraphicFramePr>
        <p:xfrm>
          <a:off x="548640" y="1874519"/>
          <a:ext cx="1106424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286000"/>
                <a:gridCol w="2194560"/>
                <a:gridCol w="2194560"/>
                <a:gridCol w="2286000"/>
              </a:tblGrid>
              <a:tr h="716280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Критерий сравнения</a:t>
                      </a:r>
                    </a:p>
                  </a:txBody>
                  <a:tcPr>
                    <a:solidFill>
                      <a:srgbClr val="1E1E2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«МедСим» (СЗГМУ, Россия)</a:t>
                      </a:r>
                    </a:p>
                  </a:txBody>
                  <a:tcPr>
                    <a:solidFill>
                      <a:srgbClr val="7F14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Body Interact (Португалия)</a:t>
                      </a:r>
                    </a:p>
                  </a:txBody>
                  <a:tcPr>
                    <a:solidFill>
                      <a:srgbClr val="1E1E2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Full Code Medical (США)</a:t>
                      </a:r>
                    </a:p>
                  </a:txBody>
                  <a:tcPr>
                    <a:solidFill>
                      <a:srgbClr val="1E1E2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Роботы-манекены (РФ/импорт)</a:t>
                      </a:r>
                    </a:p>
                  </a:txBody>
                  <a:tcPr>
                    <a:solidFill>
                      <a:srgbClr val="1E1E23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9191E"/>
                          </a:solidFill>
                          <a:latin typeface="Segoe UI"/>
                        </a:defRPr>
                      </a:pPr>
                      <a:r>
                        <a:t>Соответствие КР Минздрава РФ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5809A3"/>
                          </a:solidFill>
                          <a:latin typeface="Segoe UI"/>
                        </a:defRPr>
                      </a:pPr>
                      <a:r>
                        <a:t>100% (рубрикатор МЗ РФ, cr.minzdrav.gov.ru)</a:t>
                      </a:r>
                    </a:p>
                  </a:txBody>
                  <a:tcPr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9191E"/>
                          </a:solidFill>
                          <a:latin typeface="Segoe UI"/>
                        </a:defRPr>
                      </a:pPr>
                      <a:r>
                        <a:t>0% (протоколы AHA, ERC, NICE)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9191E"/>
                          </a:solidFill>
                          <a:latin typeface="Segoe UI"/>
                        </a:defRPr>
                      </a:pPr>
                      <a:r>
                        <a:t>0% (клинические стандарты США)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9191E"/>
                          </a:solidFill>
                          <a:latin typeface="Segoe UI"/>
                        </a:defRPr>
                      </a:pPr>
                      <a:r>
                        <a:t>Косвенное (зависит от преподавателя)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9191E"/>
                          </a:solidFill>
                          <a:latin typeface="Segoe UI"/>
                        </a:defRPr>
                      </a:pPr>
                      <a:r>
                        <a:t>Язык и терминология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5809A3"/>
                          </a:solidFill>
                          <a:latin typeface="Segoe UI"/>
                        </a:defRPr>
                      </a:pPr>
                      <a:r>
                        <a:t>Русский язык, МКБ-10, терминология РФ</a:t>
                      </a:r>
                    </a:p>
                  </a:txBody>
                  <a:tcPr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9191E"/>
                          </a:solidFill>
                          <a:latin typeface="Segoe UI"/>
                        </a:defRPr>
                      </a:pPr>
                      <a:r>
                        <a:t>Английский (неполный машинный перевод)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9191E"/>
                          </a:solidFill>
                          <a:latin typeface="Segoe UI"/>
                        </a:defRPr>
                      </a:pPr>
                      <a:r>
                        <a:t>Исключительно английский язык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9191E"/>
                          </a:solidFill>
                          <a:latin typeface="Segoe UI"/>
                        </a:defRPr>
                      </a:pPr>
                      <a:r>
                        <a:t>Русский (голос оператора)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9191E"/>
                          </a:solidFill>
                          <a:latin typeface="Segoe UI"/>
                        </a:defRPr>
                      </a:pPr>
                      <a:r>
                        <a:t>Доступность и платформа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5809A3"/>
                          </a:solidFill>
                          <a:latin typeface="Segoe UI"/>
                        </a:defRPr>
                      </a:pPr>
                      <a:r>
                        <a:t>Web/PWA: запуск &lt;1.5 сек на любом ПК/смартфоне</a:t>
                      </a:r>
                    </a:p>
                  </a:txBody>
                  <a:tcPr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9191E"/>
                          </a:solidFill>
                          <a:latin typeface="Segoe UI"/>
                        </a:defRPr>
                      </a:pPr>
                      <a:r>
                        <a:t>Специализированные столы и терминалы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9191E"/>
                          </a:solidFill>
                          <a:latin typeface="Segoe UI"/>
                        </a:defRPr>
                      </a:pPr>
                      <a:r>
                        <a:t>Мобильное приложение (риск блокировок)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9191E"/>
                          </a:solidFill>
                          <a:latin typeface="Segoe UI"/>
                        </a:defRPr>
                      </a:pPr>
                      <a:r>
                        <a:t>Только в симуляционном центре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9191E"/>
                          </a:solidFill>
                          <a:latin typeface="Segoe UI"/>
                        </a:defRPr>
                      </a:pPr>
                      <a:r>
                        <a:t>Стоимость лицензии для вуза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5809A3"/>
                          </a:solidFill>
                          <a:latin typeface="Segoe UI"/>
                        </a:defRPr>
                      </a:pPr>
                      <a:r>
                        <a:t>Доступная подписка (250–600 тыс. руб./год)</a:t>
                      </a:r>
                    </a:p>
                  </a:txBody>
                  <a:tcPr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9191E"/>
                          </a:solidFill>
                          <a:latin typeface="Segoe UI"/>
                        </a:defRPr>
                      </a:pPr>
                      <a:r>
                        <a:t>От $50 000 в год (недоступно к оплате)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9191E"/>
                          </a:solidFill>
                          <a:latin typeface="Segoe UI"/>
                        </a:defRPr>
                      </a:pPr>
                      <a:r>
                        <a:t>От $30 000 в год (валютные ограничения)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9191E"/>
                          </a:solidFill>
                          <a:latin typeface="Segoe UI"/>
                        </a:defRPr>
                      </a:pPr>
                      <a:r>
                        <a:t>От 3 000 000 до 15 000 000 руб.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9191E"/>
                          </a:solidFill>
                          <a:latin typeface="Segoe UI"/>
                        </a:defRPr>
                      </a:pPr>
                      <a:r>
                        <a:t>Охват отделений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5809A3"/>
                          </a:solidFill>
                          <a:latin typeface="Segoe UI"/>
                        </a:defRPr>
                      </a:pPr>
                      <a:r>
                        <a:t>4 отделения: ОРИТ, приёмное, поликлиника, стационар</a:t>
                      </a:r>
                    </a:p>
                  </a:txBody>
                  <a:tcPr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9191E"/>
                          </a:solidFill>
                          <a:latin typeface="Segoe UI"/>
                        </a:defRPr>
                      </a:pPr>
                      <a:r>
                        <a:t>Преимущественно скорая помощь и ОРИТ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9191E"/>
                          </a:solidFill>
                          <a:latin typeface="Segoe UI"/>
                        </a:defRPr>
                      </a:pPr>
                      <a:r>
                        <a:t>Исключительно неотложная помощь (ER)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9191E"/>
                          </a:solidFill>
                          <a:latin typeface="Segoe UI"/>
                        </a:defRPr>
                      </a:pPr>
                      <a:r>
                        <a:t>Изолированные мануальные навыки (СЛР)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198039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25475" y="584200"/>
            <a:ext cx="0" cy="684530"/>
          </a:xfrm>
          <a:custGeom>
            <a:avLst/>
            <a:gdLst/>
            <a:ahLst/>
            <a:cxnLst/>
            <a:rect l="l" t="t" r="r" b="b"/>
            <a:pathLst>
              <a:path h="684530">
                <a:moveTo>
                  <a:pt x="0" y="0"/>
                </a:moveTo>
                <a:lnTo>
                  <a:pt x="0" y="684276"/>
                </a:lnTo>
              </a:path>
            </a:pathLst>
          </a:custGeom>
          <a:ln w="762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768832" y="409110"/>
            <a:ext cx="10050780" cy="949045"/>
          </a:xfrm>
          <a:prstGeom prst="rect">
            <a:avLst/>
          </a:prstGeom>
        </p:spPr>
        <p:txBody>
          <a:bodyPr vert="horz" wrap="square" lIns="0" tIns="86427" rIns="0" bIns="0" rtlCol="0">
            <a:spAutoFit/>
          </a:bodyPr>
          <a:lstStyle/>
          <a:p>
            <a:pPr marL="12700">
              <a:spcBef>
                <a:spcPts val="135"/>
              </a:spcBef>
            </a:pPr>
            <a:r>
              <a:rPr lang="ru-RU" sz="2800" spc="125" dirty="0">
                <a:latin typeface="Trebuchet MS"/>
              </a:rPr>
              <a:t>МОДЕЛЬ МОНЕТИЗАЦИИ </a:t>
            </a:r>
            <a:br>
              <a:rPr lang="en-US" sz="2800" spc="125" dirty="0">
                <a:latin typeface="Trebuchet MS"/>
              </a:rPr>
            </a:br>
            <a:r>
              <a:rPr lang="ru-RU" sz="2800" spc="125" dirty="0">
                <a:latin typeface="Trebuchet MS"/>
              </a:rPr>
              <a:t>РЫНОК И ПОТРЕБИТЕЛИ</a:t>
            </a:r>
          </a:p>
        </p:txBody>
      </p:sp>
      <p:pic>
        <p:nvPicPr>
          <p:cNvPr id="55" name="object 5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08592" y="0"/>
            <a:ext cx="2883407" cy="1602486"/>
          </a:xfrm>
          <a:prstGeom prst="rect">
            <a:avLst/>
          </a:prstGeom>
        </p:spPr>
      </p:pic>
      <p:sp>
        <p:nvSpPr>
          <p:cNvPr id="56" name="object 5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5570">
              <a:lnSpc>
                <a:spcPts val="1655"/>
              </a:lnSpc>
            </a:pPr>
            <a:fld id="{81D60167-4931-47E6-BA6A-407CBD079E47}" type="slidenum">
              <a:rPr spc="-50" dirty="0">
                <a:solidFill>
                  <a:srgbClr val="FFFFFF"/>
                </a:solidFill>
              </a:rPr>
              <a:t>6</a:t>
            </a:fld>
            <a:endParaRPr spc="-50" dirty="0">
              <a:solidFill>
                <a:srgbClr val="FFFFFF"/>
              </a:solidFill>
            </a:endParaRPr>
          </a:p>
        </p:txBody>
      </p:sp>
      <p:pic>
        <p:nvPicPr>
          <p:cNvPr id="57" name="Рисунок 56">
            <a:extLst>
              <a:ext uri="{FF2B5EF4-FFF2-40B4-BE49-F238E27FC236}">
                <a16:creationId xmlns:a16="http://schemas.microsoft.com/office/drawing/2014/main" id="{53F2D3B2-6E3E-47B6-AAB5-F9146A747DD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5484" y="752599"/>
            <a:ext cx="1455005" cy="262069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49872084-3F56-47B5-95FE-110FA0602512}"/>
              </a:ext>
            </a:extLst>
          </p:cNvPr>
          <p:cNvSpPr/>
          <p:nvPr/>
        </p:nvSpPr>
        <p:spPr>
          <a:xfrm>
            <a:off x="457199" y="1620071"/>
            <a:ext cx="9296395" cy="2308324"/>
          </a:xfrm>
          <a:prstGeom prst="rect">
            <a:avLst/>
          </a:prstGeom>
        </p:spPr>
        <p:txBody>
          <a:bodyPr wrap="square">
            <a:spAutoFit/>
          </a:bodyPr>
          <a:lstStyle/>
          <a:p/>
        </p:txBody>
      </p:sp>
      <p:pic>
        <p:nvPicPr>
          <p:cNvPr id="9" name="object 31">
            <a:extLst>
              <a:ext uri="{FF2B5EF4-FFF2-40B4-BE49-F238E27FC236}">
                <a16:creationId xmlns:a16="http://schemas.microsoft.com/office/drawing/2014/main" id="{402BB6D4-F4FB-4A44-A7A9-9C3BC618B103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848600" y="1945975"/>
            <a:ext cx="4306632" cy="4995552"/>
          </a:xfrm>
          <a:prstGeom prst="rect">
            <a:avLst/>
          </a:prstGeom>
        </p:spPr>
      </p:pic>
      <p:sp>
        <p:nvSpPr>
          <p:cNvPr id="58" name="Rounded Rectangle 57"/>
          <p:cNvSpPr/>
          <p:nvPr/>
        </p:nvSpPr>
        <p:spPr>
          <a:xfrm>
            <a:off x="548640" y="1463040"/>
            <a:ext cx="1920240" cy="1188720"/>
          </a:xfrm>
          <a:prstGeom prst="roundRect">
            <a:avLst/>
          </a:prstGeom>
          <a:solidFill>
            <a:srgbClr val="FCFAFF"/>
          </a:solidFill>
          <a:ln w="13970">
            <a:solidFill>
              <a:srgbClr val="DCD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 bIns="91440"/>
          <a:lstStyle/>
          <a:p>
            <a:pPr algn="ctr">
              <a:defRPr sz="1600" b="1">
                <a:solidFill>
                  <a:srgbClr val="7F14E0"/>
                </a:solidFill>
                <a:latin typeface="Segoe UI"/>
              </a:defRPr>
            </a:pPr>
            <a:r>
              <a:t>12,5 млрд ₽</a:t>
            </a:r>
          </a:p>
          <a:p>
            <a:pPr>
              <a:defRPr sz="850" b="1">
                <a:solidFill>
                  <a:srgbClr val="555A64"/>
                </a:solidFill>
                <a:latin typeface="Segoe UI"/>
              </a:defRPr>
            </a:pPr>
            <a:r>
              <a:t>TAM</a:t>
            </a:r>
          </a:p>
          <a:p>
            <a:pPr>
              <a:defRPr sz="800">
                <a:solidFill>
                  <a:srgbClr val="19191E"/>
                </a:solidFill>
                <a:latin typeface="Segoe UI"/>
              </a:defRPr>
            </a:pPr>
            <a:r>
              <a:t>Рынок симуляционного мед-обучения РФ и СНГ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2606040" y="1463040"/>
            <a:ext cx="1920240" cy="1188720"/>
          </a:xfrm>
          <a:prstGeom prst="roundRect">
            <a:avLst/>
          </a:prstGeom>
          <a:solidFill>
            <a:srgbClr val="FCFAFF"/>
          </a:solidFill>
          <a:ln w="13970">
            <a:solidFill>
              <a:srgbClr val="DCD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 bIns="91440"/>
          <a:lstStyle/>
          <a:p>
            <a:pPr algn="ctr">
              <a:defRPr sz="1600" b="1">
                <a:solidFill>
                  <a:srgbClr val="F27220"/>
                </a:solidFill>
                <a:latin typeface="Segoe UI"/>
              </a:defRPr>
            </a:pPr>
            <a:r>
              <a:t>1,8 млрд ₽</a:t>
            </a:r>
          </a:p>
          <a:p>
            <a:pPr>
              <a:defRPr sz="850" b="1">
                <a:solidFill>
                  <a:srgbClr val="555A64"/>
                </a:solidFill>
                <a:latin typeface="Segoe UI"/>
              </a:defRPr>
            </a:pPr>
            <a:r>
              <a:t>SAM</a:t>
            </a:r>
          </a:p>
          <a:p>
            <a:pPr>
              <a:defRPr sz="800">
                <a:solidFill>
                  <a:srgbClr val="19191E"/>
                </a:solidFill>
                <a:latin typeface="Segoe UI"/>
              </a:defRPr>
            </a:pPr>
            <a:r>
              <a:t>ПО для 100+ медвузов и 400+ колледжей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4663440" y="1463040"/>
            <a:ext cx="1920240" cy="1188720"/>
          </a:xfrm>
          <a:prstGeom prst="roundRect">
            <a:avLst/>
          </a:prstGeom>
          <a:solidFill>
            <a:srgbClr val="FCFAFF"/>
          </a:solidFill>
          <a:ln w="13970">
            <a:solidFill>
              <a:srgbClr val="DCD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 bIns="91440"/>
          <a:lstStyle/>
          <a:p>
            <a:pPr algn="ctr">
              <a:defRPr sz="1600" b="1">
                <a:solidFill>
                  <a:srgbClr val="7F14E0"/>
                </a:solidFill>
                <a:latin typeface="Segoe UI"/>
              </a:defRPr>
            </a:pPr>
            <a:r>
              <a:t>90 млн ₽</a:t>
            </a:r>
          </a:p>
          <a:p>
            <a:pPr>
              <a:defRPr sz="850" b="1">
                <a:solidFill>
                  <a:srgbClr val="555A64"/>
                </a:solidFill>
                <a:latin typeface="Segoe UI"/>
              </a:defRPr>
            </a:pPr>
            <a:r>
              <a:t>SOM</a:t>
            </a:r>
          </a:p>
          <a:p>
            <a:pPr>
              <a:defRPr sz="800">
                <a:solidFill>
                  <a:srgbClr val="19191E"/>
                </a:solidFill>
                <a:latin typeface="Segoe UI"/>
              </a:defRPr>
            </a:pPr>
            <a:r>
              <a:t>25 ведущих медвузов РФ на горизонте 3 лет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548640" y="2788920"/>
            <a:ext cx="6035040" cy="1325880"/>
          </a:xfrm>
          <a:prstGeom prst="roundRect">
            <a:avLst/>
          </a:prstGeom>
          <a:solidFill>
            <a:srgbClr val="FCFAFF"/>
          </a:solidFill>
          <a:ln w="13970">
            <a:solidFill>
              <a:srgbClr val="DCD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>
              <a:spcAft>
                <a:spcPts val="200"/>
              </a:spcAft>
              <a:defRPr sz="850" b="1">
                <a:solidFill>
                  <a:srgbClr val="7F14E0"/>
                </a:solidFill>
                <a:latin typeface="Segoe UI"/>
              </a:defRPr>
            </a:pPr>
            <a:r>
              <a:t>B2G / B2B ЛИЦЕНЗИЯ ДЛЯ ВУЗОВ (ОСНОВНОЙ СЕГМЕНТ)</a:t>
            </a:r>
          </a:p>
          <a:p>
            <a:pPr>
              <a:spcAft>
                <a:spcPts val="300"/>
              </a:spcAft>
              <a:defRPr sz="1200" b="1">
                <a:solidFill>
                  <a:srgbClr val="19191E"/>
                </a:solidFill>
                <a:latin typeface="Segoe UI"/>
              </a:defRPr>
            </a:pPr>
            <a:r>
              <a:t>250 000 – 600 000 руб./год на кафедру</a:t>
            </a:r>
          </a:p>
          <a:p>
            <a:pPr>
              <a:defRPr sz="950">
                <a:solidFill>
                  <a:srgbClr val="555A64"/>
                </a:solidFill>
                <a:latin typeface="Segoe UI"/>
              </a:defRPr>
            </a:pPr>
            <a:r>
              <a:t>Пакетная подписка на факультет: кабинет преподавателя, аналитика успеваемости групп, банк контрольных и олимпиадных клинических кейсов.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548640" y="4251960"/>
            <a:ext cx="6035040" cy="1325880"/>
          </a:xfrm>
          <a:prstGeom prst="roundRect">
            <a:avLst/>
          </a:prstGeom>
          <a:solidFill>
            <a:srgbClr val="FCFAFF"/>
          </a:solidFill>
          <a:ln w="13970">
            <a:solidFill>
              <a:srgbClr val="DCD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>
              <a:spcAft>
                <a:spcPts val="200"/>
              </a:spcAft>
              <a:defRPr sz="850" b="1">
                <a:solidFill>
                  <a:srgbClr val="7F14E0"/>
                </a:solidFill>
                <a:latin typeface="Segoe UI"/>
              </a:defRPr>
            </a:pPr>
            <a:r>
              <a:t>B2C ИНДИВИДУАЛЬНАЯ ПОДПИСКА (ДОПОЛНИТЕЛЬНЫЙ СЕГМЕНТ)</a:t>
            </a:r>
          </a:p>
          <a:p>
            <a:pPr>
              <a:spcAft>
                <a:spcPts val="300"/>
              </a:spcAft>
              <a:defRPr sz="1200" b="1">
                <a:solidFill>
                  <a:srgbClr val="19191E"/>
                </a:solidFill>
                <a:latin typeface="Segoe UI"/>
              </a:defRPr>
            </a:pPr>
            <a:r>
              <a:t>290 – 490 руб./месяц для студентов и ординаторов</a:t>
            </a:r>
          </a:p>
          <a:p>
            <a:pPr>
              <a:defRPr sz="950">
                <a:solidFill>
                  <a:srgbClr val="555A64"/>
                </a:solidFill>
                <a:latin typeface="Segoe UI"/>
              </a:defRPr>
            </a:pPr>
            <a:r>
              <a:t>Индивидуальный доступ к расширенным сценариям, режим подготовки к первичной аккредитации врачей и персональный сертификат.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548640" y="5806440"/>
            <a:ext cx="6035040" cy="457200"/>
          </a:xfrm>
          <a:prstGeom prst="roundRect">
            <a:avLst/>
          </a:prstGeom>
          <a:solidFill>
            <a:srgbClr val="7F1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2025–26: Пилот в СЗГМУ (80+ чел.)  ➔  2026–27: 10–15 вузов РФ  ➔  2027+: Олимпиады РНМОТ</a:t>
            </a:r>
          </a:p>
        </p:txBody>
      </p:sp>
    </p:spTree>
    <p:extLst>
      <p:ext uri="{BB962C8B-B14F-4D97-AF65-F5344CB8AC3E}">
        <p14:creationId xmlns:p14="http://schemas.microsoft.com/office/powerpoint/2010/main" val="32571537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25475" y="584200"/>
            <a:ext cx="0" cy="684530"/>
          </a:xfrm>
          <a:custGeom>
            <a:avLst/>
            <a:gdLst/>
            <a:ahLst/>
            <a:cxnLst/>
            <a:rect l="l" t="t" r="r" b="b"/>
            <a:pathLst>
              <a:path h="684530">
                <a:moveTo>
                  <a:pt x="0" y="0"/>
                </a:moveTo>
                <a:lnTo>
                  <a:pt x="0" y="684276"/>
                </a:lnTo>
              </a:path>
            </a:pathLst>
          </a:custGeom>
          <a:ln w="762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742668" y="624554"/>
            <a:ext cx="10050780" cy="518158"/>
          </a:xfrm>
          <a:prstGeom prst="rect">
            <a:avLst/>
          </a:prstGeom>
        </p:spPr>
        <p:txBody>
          <a:bodyPr vert="horz" wrap="square" lIns="0" tIns="8642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ru-RU" sz="2800" spc="125" dirty="0">
                <a:latin typeface="Trebuchet MS"/>
                <a:cs typeface="Trebuchet MS"/>
              </a:rPr>
              <a:t>КОМАНДА И ПРОГРЕСС</a:t>
            </a:r>
          </a:p>
        </p:txBody>
      </p:sp>
      <p:pic>
        <p:nvPicPr>
          <p:cNvPr id="55" name="object 5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08592" y="0"/>
            <a:ext cx="2883407" cy="1602486"/>
          </a:xfrm>
          <a:prstGeom prst="rect">
            <a:avLst/>
          </a:prstGeom>
        </p:spPr>
      </p:pic>
      <p:sp>
        <p:nvSpPr>
          <p:cNvPr id="56" name="object 5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5570">
              <a:lnSpc>
                <a:spcPts val="1655"/>
              </a:lnSpc>
            </a:pPr>
            <a:fld id="{81D60167-4931-47E6-BA6A-407CBD079E47}" type="slidenum">
              <a:rPr spc="-50" dirty="0">
                <a:solidFill>
                  <a:srgbClr val="FFFFFF"/>
                </a:solidFill>
              </a:rPr>
              <a:t>7</a:t>
            </a:fld>
            <a:endParaRPr spc="-50" dirty="0">
              <a:solidFill>
                <a:srgbClr val="FFFFFF"/>
              </a:solidFill>
            </a:endParaRPr>
          </a:p>
        </p:txBody>
      </p:sp>
      <p:pic>
        <p:nvPicPr>
          <p:cNvPr id="57" name="Рисунок 56">
            <a:extLst>
              <a:ext uri="{FF2B5EF4-FFF2-40B4-BE49-F238E27FC236}">
                <a16:creationId xmlns:a16="http://schemas.microsoft.com/office/drawing/2014/main" id="{53F2D3B2-6E3E-47B6-AAB5-F9146A747DD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5484" y="752599"/>
            <a:ext cx="1455005" cy="262069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49872084-3F56-47B5-95FE-110FA0602512}"/>
              </a:ext>
            </a:extLst>
          </p:cNvPr>
          <p:cNvSpPr/>
          <p:nvPr/>
        </p:nvSpPr>
        <p:spPr>
          <a:xfrm>
            <a:off x="457199" y="1620071"/>
            <a:ext cx="9296395" cy="923330"/>
          </a:xfrm>
          <a:prstGeom prst="rect">
            <a:avLst/>
          </a:prstGeom>
        </p:spPr>
        <p:txBody>
          <a:bodyPr wrap="square">
            <a:spAutoFit/>
          </a:bodyPr>
          <a:lstStyle/>
          <a:p/>
        </p:txBody>
      </p:sp>
      <p:pic>
        <p:nvPicPr>
          <p:cNvPr id="10" name="object 23">
            <a:extLst>
              <a:ext uri="{FF2B5EF4-FFF2-40B4-BE49-F238E27FC236}">
                <a16:creationId xmlns:a16="http://schemas.microsoft.com/office/drawing/2014/main" id="{D81E31C8-16EF-4A10-853D-CADBCE132325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467599" y="1895310"/>
            <a:ext cx="4724399" cy="4962689"/>
          </a:xfrm>
          <a:prstGeom prst="rect">
            <a:avLst/>
          </a:prstGeom>
        </p:spPr>
      </p:pic>
      <p:sp>
        <p:nvSpPr>
          <p:cNvPr id="58" name="Rounded Rectangle 57"/>
          <p:cNvSpPr/>
          <p:nvPr/>
        </p:nvSpPr>
        <p:spPr>
          <a:xfrm>
            <a:off x="548640" y="1463040"/>
            <a:ext cx="2971800" cy="1965960"/>
          </a:xfrm>
          <a:prstGeom prst="roundRect">
            <a:avLst/>
          </a:prstGeom>
          <a:solidFill>
            <a:srgbClr val="FCFAFF"/>
          </a:solidFill>
          <a:ln w="13970">
            <a:solidFill>
              <a:srgbClr val="DCD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>
              <a:spcAft>
                <a:spcPts val="200"/>
              </a:spcAft>
              <a:defRPr sz="1100" b="1">
                <a:solidFill>
                  <a:srgbClr val="19191E"/>
                </a:solidFill>
                <a:latin typeface="Segoe UI"/>
              </a:defRPr>
            </a:pPr>
            <a:r>
              <a:t>Расмагина Ирина Алексеевна</a:t>
            </a:r>
          </a:p>
          <a:p>
            <a:pPr>
              <a:spcAft>
                <a:spcPts val="400"/>
              </a:spcAft>
              <a:defRPr sz="950" b="1">
                <a:solidFill>
                  <a:srgbClr val="7F14E0"/>
                </a:solidFill>
                <a:latin typeface="Segoe UI"/>
              </a:defRPr>
            </a:pPr>
            <a:r>
              <a:t>Руководитель проекта</a:t>
            </a:r>
          </a:p>
          <a:p>
            <a:pPr>
              <a:defRPr sz="850">
                <a:solidFill>
                  <a:srgbClr val="555A64"/>
                </a:solidFill>
                <a:latin typeface="Segoe UI"/>
              </a:defRPr>
            </a:pPr>
            <a:r>
              <a:t>К.м.н., врач-гастроэнтеролог, асс. кафедры пропедевтики СЗГМУ. Автор 28 публикаций, 9 РИД, 4 грантов (в т.ч. РНФ 2024–2025). Руководство клинической методологией.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3657600" y="1463040"/>
            <a:ext cx="2971800" cy="1965960"/>
          </a:xfrm>
          <a:prstGeom prst="roundRect">
            <a:avLst/>
          </a:prstGeom>
          <a:solidFill>
            <a:srgbClr val="FCFAFF"/>
          </a:solidFill>
          <a:ln w="13970">
            <a:solidFill>
              <a:srgbClr val="DCD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>
              <a:spcAft>
                <a:spcPts val="200"/>
              </a:spcAft>
              <a:defRPr sz="1100" b="1">
                <a:solidFill>
                  <a:srgbClr val="19191E"/>
                </a:solidFill>
                <a:latin typeface="Segoe UI"/>
              </a:defRPr>
            </a:pPr>
            <a:r>
              <a:t>Бакулин Игорь Геннадьевич</a:t>
            </a:r>
          </a:p>
          <a:p>
            <a:pPr>
              <a:spcAft>
                <a:spcPts val="400"/>
              </a:spcAft>
              <a:defRPr sz="950" b="1">
                <a:solidFill>
                  <a:srgbClr val="7F14E0"/>
                </a:solidFill>
                <a:latin typeface="Segoe UI"/>
              </a:defRPr>
            </a:pPr>
            <a:r>
              <a:t>Наставник проекта</a:t>
            </a:r>
          </a:p>
          <a:p>
            <a:pPr>
              <a:defRPr sz="850">
                <a:solidFill>
                  <a:srgbClr val="555A64"/>
                </a:solidFill>
                <a:latin typeface="Segoe UI"/>
              </a:defRPr>
            </a:pPr>
            <a:r>
              <a:t>Д.м.н., профессор, зав. кафедрой внутренних болезней СЗГМУ им. Мечникова, главный внештатный специалист гастроэнтеролог СЗФО РФ, вице-президент РНМОТ.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48640" y="3566160"/>
            <a:ext cx="2971800" cy="1965960"/>
          </a:xfrm>
          <a:prstGeom prst="roundRect">
            <a:avLst/>
          </a:prstGeom>
          <a:solidFill>
            <a:srgbClr val="FCFAFF"/>
          </a:solidFill>
          <a:ln w="13970">
            <a:solidFill>
              <a:srgbClr val="DCD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>
              <a:spcAft>
                <a:spcPts val="200"/>
              </a:spcAft>
              <a:defRPr sz="1100" b="1">
                <a:solidFill>
                  <a:srgbClr val="19191E"/>
                </a:solidFill>
                <a:latin typeface="Segoe UI"/>
              </a:defRPr>
            </a:pPr>
            <a:r>
              <a:t>Козлов Арсений Анатольевич</a:t>
            </a:r>
          </a:p>
          <a:p>
            <a:pPr>
              <a:spcAft>
                <a:spcPts val="400"/>
              </a:spcAft>
              <a:defRPr sz="950" b="1">
                <a:solidFill>
                  <a:srgbClr val="7F14E0"/>
                </a:solidFill>
                <a:latin typeface="Segoe UI"/>
              </a:defRPr>
            </a:pPr>
            <a:r>
              <a:t>Соавтор, Архитектор UI/UX</a:t>
            </a:r>
          </a:p>
          <a:p>
            <a:pPr>
              <a:defRPr sz="850">
                <a:solidFill>
                  <a:srgbClr val="555A64"/>
                </a:solidFill>
                <a:latin typeface="Segoe UI"/>
              </a:defRPr>
            </a:pPr>
            <a:r>
              <a:t>Студент 3 курса лечебного факультета СЗГМУ (21 год). Проектирование веб-системы (React 18, Vite), 4 симуляционных отделения, база теории, дизайн-система.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3657600" y="3566160"/>
            <a:ext cx="2971800" cy="1965960"/>
          </a:xfrm>
          <a:prstGeom prst="roundRect">
            <a:avLst/>
          </a:prstGeom>
          <a:solidFill>
            <a:srgbClr val="FCFAFF"/>
          </a:solidFill>
          <a:ln w="13970">
            <a:solidFill>
              <a:srgbClr val="DCD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109728"/>
          <a:lstStyle/>
          <a:p>
            <a:pPr algn="ctr">
              <a:spcAft>
                <a:spcPts val="200"/>
              </a:spcAft>
              <a:defRPr sz="1100" b="1">
                <a:solidFill>
                  <a:srgbClr val="19191E"/>
                </a:solidFill>
                <a:latin typeface="Segoe UI"/>
              </a:defRPr>
            </a:pPr>
            <a:r>
              <a:t>Голощапов Михаил Михайлович</a:t>
            </a:r>
          </a:p>
          <a:p>
            <a:pPr>
              <a:spcAft>
                <a:spcPts val="400"/>
              </a:spcAft>
              <a:defRPr sz="950" b="1">
                <a:solidFill>
                  <a:srgbClr val="7F14E0"/>
                </a:solidFill>
                <a:latin typeface="Segoe UI"/>
              </a:defRPr>
            </a:pPr>
            <a:r>
              <a:t>Соавтор, Разработчик движка</a:t>
            </a:r>
          </a:p>
          <a:p>
            <a:pPr>
              <a:defRPr sz="850">
                <a:solidFill>
                  <a:srgbClr val="555A64"/>
                </a:solidFill>
                <a:latin typeface="Segoe UI"/>
              </a:defRPr>
            </a:pPr>
            <a:r>
              <a:t>Студент 3 курса лечебного факультета СЗГМУ (19 лет). Математическое ядро детериорации (7 виталов, шаг 30 сек, SOFA-like), фармакоотклик, модуль LLM-пациента.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548640" y="5806440"/>
            <a:ext cx="6080760" cy="457200"/>
          </a:xfrm>
          <a:prstGeom prst="roundRect">
            <a:avLst/>
          </a:prstGeom>
          <a:solidFill>
            <a:srgbClr val="FFF5EE"/>
          </a:solidFill>
          <a:ln w="12700">
            <a:solidFill>
              <a:srgbClr val="F27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950" b="1">
                <a:solidFill>
                  <a:srgbClr val="F27220"/>
                </a:solidFill>
                <a:latin typeface="Segoe UI"/>
              </a:defRPr>
            </a:pPr>
            <a:r>
              <a:t>Компетенции: клиническая экспертиза кафедры + IT-хард-скиллы = защищённый РИД</a:t>
            </a:r>
          </a:p>
        </p:txBody>
      </p:sp>
    </p:spTree>
    <p:extLst>
      <p:ext uri="{BB962C8B-B14F-4D97-AF65-F5344CB8AC3E}">
        <p14:creationId xmlns:p14="http://schemas.microsoft.com/office/powerpoint/2010/main" val="23637122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25475" y="584200"/>
            <a:ext cx="0" cy="684530"/>
          </a:xfrm>
          <a:custGeom>
            <a:avLst/>
            <a:gdLst/>
            <a:ahLst/>
            <a:cxnLst/>
            <a:rect l="l" t="t" r="r" b="b"/>
            <a:pathLst>
              <a:path h="684530">
                <a:moveTo>
                  <a:pt x="0" y="0"/>
                </a:moveTo>
                <a:lnTo>
                  <a:pt x="0" y="684276"/>
                </a:lnTo>
              </a:path>
            </a:pathLst>
          </a:custGeom>
          <a:ln w="762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730259" y="624554"/>
            <a:ext cx="10050780" cy="518158"/>
          </a:xfrm>
          <a:prstGeom prst="rect">
            <a:avLst/>
          </a:prstGeom>
        </p:spPr>
        <p:txBody>
          <a:bodyPr vert="horz" wrap="square" lIns="0" tIns="8642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ru-RU" sz="2800" spc="125" dirty="0">
                <a:latin typeface="Trebuchet MS"/>
                <a:cs typeface="Trebuchet MS"/>
              </a:rPr>
              <a:t>ПАРТНЕРЫ</a:t>
            </a:r>
          </a:p>
        </p:txBody>
      </p:sp>
      <p:pic>
        <p:nvPicPr>
          <p:cNvPr id="55" name="object 5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08592" y="0"/>
            <a:ext cx="2883407" cy="1602486"/>
          </a:xfrm>
          <a:prstGeom prst="rect">
            <a:avLst/>
          </a:prstGeom>
        </p:spPr>
      </p:pic>
      <p:sp>
        <p:nvSpPr>
          <p:cNvPr id="56" name="object 5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5570">
              <a:lnSpc>
                <a:spcPts val="1655"/>
              </a:lnSpc>
            </a:pPr>
            <a:fld id="{81D60167-4931-47E6-BA6A-407CBD079E47}" type="slidenum">
              <a:rPr spc="-50" dirty="0">
                <a:solidFill>
                  <a:srgbClr val="FFFFFF"/>
                </a:solidFill>
              </a:rPr>
              <a:t>8</a:t>
            </a:fld>
            <a:endParaRPr spc="-50" dirty="0">
              <a:solidFill>
                <a:srgbClr val="FFFFFF"/>
              </a:solidFill>
            </a:endParaRPr>
          </a:p>
        </p:txBody>
      </p:sp>
      <p:pic>
        <p:nvPicPr>
          <p:cNvPr id="57" name="Рисунок 56">
            <a:extLst>
              <a:ext uri="{FF2B5EF4-FFF2-40B4-BE49-F238E27FC236}">
                <a16:creationId xmlns:a16="http://schemas.microsoft.com/office/drawing/2014/main" id="{53F2D3B2-6E3E-47B6-AAB5-F9146A747DD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5484" y="752599"/>
            <a:ext cx="1455005" cy="262069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49872084-3F56-47B5-95FE-110FA0602512}"/>
              </a:ext>
            </a:extLst>
          </p:cNvPr>
          <p:cNvSpPr/>
          <p:nvPr/>
        </p:nvSpPr>
        <p:spPr>
          <a:xfrm>
            <a:off x="457200" y="1620071"/>
            <a:ext cx="67818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/>
        </p:txBody>
      </p:sp>
      <p:pic>
        <p:nvPicPr>
          <p:cNvPr id="10" name="object 23">
            <a:extLst>
              <a:ext uri="{FF2B5EF4-FFF2-40B4-BE49-F238E27FC236}">
                <a16:creationId xmlns:a16="http://schemas.microsoft.com/office/drawing/2014/main" id="{3593A62C-A660-493E-A8FD-B5A586C09E9A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467599" y="1895310"/>
            <a:ext cx="4724399" cy="4962689"/>
          </a:xfrm>
          <a:prstGeom prst="rect">
            <a:avLst/>
          </a:prstGeom>
        </p:spPr>
      </p:pic>
      <p:sp>
        <p:nvSpPr>
          <p:cNvPr id="58" name="Rounded Rectangle 57"/>
          <p:cNvSpPr/>
          <p:nvPr/>
        </p:nvSpPr>
        <p:spPr>
          <a:xfrm>
            <a:off x="548640" y="1463040"/>
            <a:ext cx="6035040" cy="960120"/>
          </a:xfrm>
          <a:prstGeom prst="roundRect">
            <a:avLst/>
          </a:prstGeom>
          <a:solidFill>
            <a:srgbClr val="FCFAFF"/>
          </a:solidFill>
          <a:ln w="13970">
            <a:solidFill>
              <a:srgbClr val="DCD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>
              <a:spcAft>
                <a:spcPts val="100"/>
              </a:spcAft>
              <a:defRPr sz="850" b="1">
                <a:solidFill>
                  <a:srgbClr val="7F14E0"/>
                </a:solidFill>
                <a:latin typeface="Segoe UI"/>
              </a:defRPr>
            </a:pPr>
            <a:r>
              <a:t>ОПОРНАЯ ОРГАНИЗАЦИЯ</a:t>
            </a:r>
          </a:p>
          <a:p>
            <a:pPr>
              <a:spcAft>
                <a:spcPts val="200"/>
              </a:spcAft>
              <a:defRPr sz="1100" b="1">
                <a:solidFill>
                  <a:srgbClr val="19191E"/>
                </a:solidFill>
                <a:latin typeface="Segoe UI"/>
              </a:defRPr>
            </a:pPr>
            <a:r>
              <a:t>ФГБОУ ВО СЗГМУ им. И.И. Мечникова Минздрава РФ</a:t>
            </a:r>
          </a:p>
          <a:p>
            <a:pPr>
              <a:defRPr sz="850">
                <a:solidFill>
                  <a:srgbClr val="555A64"/>
                </a:solidFill>
                <a:latin typeface="Segoe UI"/>
              </a:defRPr>
            </a:pPr>
            <a:r>
              <a:t>Кафедра пропедевтики внутренних болезней. Предоставление клинической базы, апробация тренажёра на выборке 80+ обучающихся, интеграция в учебные планы.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548640" y="2514600"/>
            <a:ext cx="6035040" cy="960120"/>
          </a:xfrm>
          <a:prstGeom prst="roundRect">
            <a:avLst/>
          </a:prstGeom>
          <a:solidFill>
            <a:srgbClr val="FCFAFF"/>
          </a:solidFill>
          <a:ln w="13970">
            <a:solidFill>
              <a:srgbClr val="DCD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>
              <a:spcAft>
                <a:spcPts val="100"/>
              </a:spcAft>
              <a:defRPr sz="850" b="1">
                <a:solidFill>
                  <a:srgbClr val="7F14E0"/>
                </a:solidFill>
                <a:latin typeface="Segoe UI"/>
              </a:defRPr>
            </a:pPr>
            <a:r>
              <a:t>ВНЕШНЯЯ ВРАЧЕБНАЯ ЭКСПЕРТИЗА</a:t>
            </a:r>
          </a:p>
          <a:p>
            <a:pPr>
              <a:spcAft>
                <a:spcPts val="200"/>
              </a:spcAft>
              <a:defRPr sz="1100" b="1">
                <a:solidFill>
                  <a:srgbClr val="19191E"/>
                </a:solidFill>
                <a:latin typeface="Segoe UI"/>
              </a:defRPr>
            </a:pPr>
            <a:r>
              <a:t>Российское научное медицинское общество терапевтов (РНМОТ)</a:t>
            </a:r>
          </a:p>
          <a:p>
            <a:pPr>
              <a:defRPr sz="850">
                <a:solidFill>
                  <a:srgbClr val="555A64"/>
                </a:solidFill>
                <a:latin typeface="Segoe UI"/>
              </a:defRPr>
            </a:pPr>
            <a:r>
              <a:t>Методическое сопровождение соответствия стандартам терапии, верификация клинических кейсов, проведение межвузовских олимпиад под эгидой общества.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48640" y="3566160"/>
            <a:ext cx="6035040" cy="960120"/>
          </a:xfrm>
          <a:prstGeom prst="roundRect">
            <a:avLst/>
          </a:prstGeom>
          <a:solidFill>
            <a:srgbClr val="FCFAFF"/>
          </a:solidFill>
          <a:ln w="13970">
            <a:solidFill>
              <a:srgbClr val="DCD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>
              <a:spcAft>
                <a:spcPts val="100"/>
              </a:spcAft>
              <a:defRPr sz="850" b="1">
                <a:solidFill>
                  <a:srgbClr val="7F14E0"/>
                </a:solidFill>
                <a:latin typeface="Segoe UI"/>
              </a:defRPr>
            </a:pPr>
            <a:r>
              <a:t>ФОКУС-ГРУППЫ И НАУЧНАЯ АПРОБАЦИЯ</a:t>
            </a:r>
          </a:p>
          <a:p>
            <a:pPr>
              <a:spcAft>
                <a:spcPts val="200"/>
              </a:spcAft>
              <a:defRPr sz="1100" b="1">
                <a:solidFill>
                  <a:srgbClr val="19191E"/>
                </a:solidFill>
                <a:latin typeface="Segoe UI"/>
              </a:defRPr>
            </a:pPr>
            <a:r>
              <a:t>Совет СНО СЗГМУ им. И.И. Мечникова (5 500+ участников)</a:t>
            </a:r>
          </a:p>
          <a:p>
            <a:pPr>
              <a:defRPr sz="850">
                <a:solidFill>
                  <a:srgbClr val="555A64"/>
                </a:solidFill>
                <a:latin typeface="Segoe UI"/>
              </a:defRPr>
            </a:pPr>
            <a:r>
              <a:t>Формирование репрезентативных фокус-групп, проведение CustDev, подготовка совместных научных публикаций ВАК/Scopus и докладов на конференциях.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548640" y="4617720"/>
            <a:ext cx="6035040" cy="960120"/>
          </a:xfrm>
          <a:prstGeom prst="roundRect">
            <a:avLst/>
          </a:prstGeom>
          <a:solidFill>
            <a:srgbClr val="FCFAFF"/>
          </a:solidFill>
          <a:ln w="13970">
            <a:solidFill>
              <a:srgbClr val="DCD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>
              <a:spcAft>
                <a:spcPts val="100"/>
              </a:spcAft>
              <a:defRPr sz="850" b="1">
                <a:solidFill>
                  <a:srgbClr val="7F14E0"/>
                </a:solidFill>
                <a:latin typeface="Segoe UI"/>
              </a:defRPr>
            </a:pPr>
            <a:r>
              <a:t>ИНФОРМАЦИОННАЯ ДИСТРИБУЦИЯ</a:t>
            </a:r>
          </a:p>
          <a:p>
            <a:pPr>
              <a:spcAft>
                <a:spcPts val="200"/>
              </a:spcAft>
              <a:defRPr sz="1100" b="1">
                <a:solidFill>
                  <a:srgbClr val="19191E"/>
                </a:solidFill>
                <a:latin typeface="Segoe UI"/>
              </a:defRPr>
            </a:pPr>
            <a:r>
              <a:t>Партнёрские EdTech-сообщества (Школа Сеченова, MedVuza)</a:t>
            </a:r>
          </a:p>
          <a:p>
            <a:pPr>
              <a:defRPr sz="850">
                <a:solidFill>
                  <a:srgbClr val="555A64"/>
                </a:solidFill>
                <a:latin typeface="Segoe UI"/>
              </a:defRPr>
            </a:pPr>
            <a:r>
              <a:t>Информационный охват более 50 000 студентов и ординаторов медвузов РФ, совместные образовательные спецкурсы и пилотные запуски.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548640" y="5806440"/>
            <a:ext cx="6035040" cy="457200"/>
          </a:xfrm>
          <a:prstGeom prst="roundRect">
            <a:avLst/>
          </a:prstGeom>
          <a:solidFill>
            <a:srgbClr val="7F1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Ближайшие шаги: пилот на 80+ чел., Олимпиада по терапии, акт внедрения в учебный процесс</a:t>
            </a:r>
          </a:p>
        </p:txBody>
      </p:sp>
    </p:spTree>
    <p:extLst>
      <p:ext uri="{BB962C8B-B14F-4D97-AF65-F5344CB8AC3E}">
        <p14:creationId xmlns:p14="http://schemas.microsoft.com/office/powerpoint/2010/main" val="33659432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25475" y="584200"/>
            <a:ext cx="0" cy="684530"/>
          </a:xfrm>
          <a:custGeom>
            <a:avLst/>
            <a:gdLst/>
            <a:ahLst/>
            <a:cxnLst/>
            <a:rect l="l" t="t" r="r" b="b"/>
            <a:pathLst>
              <a:path h="684530">
                <a:moveTo>
                  <a:pt x="0" y="0"/>
                </a:moveTo>
                <a:lnTo>
                  <a:pt x="0" y="684276"/>
                </a:lnTo>
              </a:path>
            </a:pathLst>
          </a:custGeom>
          <a:ln w="762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742668" y="624554"/>
            <a:ext cx="10050780" cy="518158"/>
          </a:xfrm>
          <a:prstGeom prst="rect">
            <a:avLst/>
          </a:prstGeom>
        </p:spPr>
        <p:txBody>
          <a:bodyPr vert="horz" wrap="square" lIns="0" tIns="8642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ru-RU" sz="2800" spc="125" dirty="0">
                <a:latin typeface="Trebuchet MS"/>
                <a:cs typeface="Trebuchet MS"/>
              </a:rPr>
              <a:t>УРОВЕНЬ ГОТОВНОСТИ ТЕХНОЛОГИИ</a:t>
            </a:r>
          </a:p>
        </p:txBody>
      </p:sp>
      <p:pic>
        <p:nvPicPr>
          <p:cNvPr id="55" name="object 5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08592" y="0"/>
            <a:ext cx="2883407" cy="1602486"/>
          </a:xfrm>
          <a:prstGeom prst="rect">
            <a:avLst/>
          </a:prstGeom>
        </p:spPr>
      </p:pic>
      <p:sp>
        <p:nvSpPr>
          <p:cNvPr id="56" name="object 5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5570">
              <a:lnSpc>
                <a:spcPts val="1655"/>
              </a:lnSpc>
            </a:pPr>
            <a:fld id="{81D60167-4931-47E6-BA6A-407CBD079E47}" type="slidenum">
              <a:rPr spc="-50" dirty="0">
                <a:solidFill>
                  <a:srgbClr val="FFFFFF"/>
                </a:solidFill>
              </a:rPr>
              <a:t>9</a:t>
            </a:fld>
            <a:endParaRPr spc="-50" dirty="0">
              <a:solidFill>
                <a:srgbClr val="FFFFFF"/>
              </a:solidFill>
            </a:endParaRPr>
          </a:p>
        </p:txBody>
      </p:sp>
      <p:pic>
        <p:nvPicPr>
          <p:cNvPr id="57" name="Рисунок 56">
            <a:extLst>
              <a:ext uri="{FF2B5EF4-FFF2-40B4-BE49-F238E27FC236}">
                <a16:creationId xmlns:a16="http://schemas.microsoft.com/office/drawing/2014/main" id="{53F2D3B2-6E3E-47B6-AAB5-F9146A747DD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5484" y="752599"/>
            <a:ext cx="1455005" cy="262069"/>
          </a:xfrm>
          <a:prstGeom prst="rect">
            <a:avLst/>
          </a:prstGeom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DC7B154-4116-4471-BAA3-1CFE6152CE33}"/>
              </a:ext>
            </a:extLst>
          </p:cNvPr>
          <p:cNvSpPr/>
          <p:nvPr/>
        </p:nvSpPr>
        <p:spPr>
          <a:xfrm>
            <a:off x="457200" y="1431619"/>
            <a:ext cx="7543800" cy="646331"/>
          </a:xfrm>
          <a:prstGeom prst="rect">
            <a:avLst/>
          </a:prstGeom>
        </p:spPr>
        <p:txBody>
          <a:bodyPr wrap="square">
            <a:spAutoFit/>
          </a:bodyPr>
          <a:lstStyle/>
          <a:p/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1BFB0D11-8BA9-42C7-A2AC-C958CB7D71B5}"/>
              </a:ext>
            </a:extLst>
          </p:cNvPr>
          <p:cNvSpPr/>
          <p:nvPr/>
        </p:nvSpPr>
        <p:spPr>
          <a:xfrm>
            <a:off x="457200" y="2868539"/>
            <a:ext cx="6096000" cy="261610"/>
          </a:xfrm>
          <a:prstGeom prst="rect">
            <a:avLst/>
          </a:prstGeom>
        </p:spPr>
        <p:txBody>
          <a:bodyPr>
            <a:spAutoFit/>
          </a:bodyPr>
          <a:lstStyle/>
          <a:p/>
        </p:txBody>
      </p:sp>
      <p:graphicFrame>
        <p:nvGraphicFramePr>
          <p:cNvPr id="14" name="Таблица 13">
            <a:extLst>
              <a:ext uri="{FF2B5EF4-FFF2-40B4-BE49-F238E27FC236}">
                <a16:creationId xmlns:a16="http://schemas.microsoft.com/office/drawing/2014/main" id="{5390AD79-9B88-4A02-B862-E395ADA659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5876096"/>
              </p:ext>
            </p:extLst>
          </p:nvPr>
        </p:nvGraphicFramePr>
        <p:xfrm>
          <a:off x="548640" y="2788920"/>
          <a:ext cx="10972800" cy="34747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69790">
                  <a:extLst>
                    <a:ext uri="{9D8B030D-6E8A-4147-A177-3AD203B41FA5}">
                      <a16:colId xmlns:a16="http://schemas.microsoft.com/office/drawing/2014/main" val="2146707146"/>
                    </a:ext>
                  </a:extLst>
                </a:gridCol>
                <a:gridCol w="4414235">
                  <a:extLst>
                    <a:ext uri="{9D8B030D-6E8A-4147-A177-3AD203B41FA5}">
                      <a16:colId xmlns:a16="http://schemas.microsoft.com/office/drawing/2014/main" val="4205423820"/>
                    </a:ext>
                  </a:extLst>
                </a:gridCol>
                <a:gridCol w="5145973">
                  <a:extLst>
                    <a:ext uri="{9D8B030D-6E8A-4147-A177-3AD203B41FA5}">
                      <a16:colId xmlns:a16="http://schemas.microsoft.com/office/drawing/2014/main" val="1604952429"/>
                    </a:ext>
                  </a:extLst>
                </a:gridCol>
              </a:tblGrid>
              <a:tr h="54621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lang="ru-RU" sz="1400" dirty="0"/>
                        <a:t>Уровень готовности технологии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7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lang="ru-RU" sz="1400" dirty="0"/>
                        <a:t>Краткое описание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722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lang="ru-RU" sz="1400" dirty="0"/>
                        <a:t>Артефакт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72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048473"/>
                  </a:ext>
                </a:extLst>
              </a:tr>
              <a:tr h="601145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9191E"/>
                          </a:solidFill>
                          <a:latin typeface="Segoe UI"/>
                        </a:defRPr>
                      </a:pPr>
                      <a:r>
                        <a:rPr lang="ru-RU" sz="1400" dirty="0"/>
                        <a:t>1</a:t>
                      </a:r>
                      <a:r>
                        <a:rPr lang="en-US" sz="1400" dirty="0"/>
                        <a:t>-3</a:t>
                      </a:r>
                      <a:endParaRPr lang="ru-RU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9191E"/>
                          </a:solidFill>
                          <a:latin typeface="Segoe UI"/>
                        </a:defRPr>
                      </a:pPr>
                      <a:r>
                        <a:rPr lang="ru-RU" sz="1400" dirty="0"/>
                        <a:t>Формирование концепции, лабораторные исследования, создание макета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9191E"/>
                          </a:solidFill>
                          <a:latin typeface="Segoe UI"/>
                        </a:defRPr>
                      </a:pPr>
                      <a:r>
                        <a:rPr lang="ru-RU" sz="1400" dirty="0"/>
                        <a:t>Научные статьи, отчеты о моделировании, письма заинтересованности от партнеров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9225597"/>
                  </a:ext>
                </a:extLst>
              </a:tr>
              <a:tr h="601145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5809A3"/>
                          </a:solidFill>
                          <a:latin typeface="Segoe UI"/>
                        </a:defRPr>
                      </a:pPr>
                      <a:r>
                        <a:rPr lang="ru-RU" sz="1400" dirty="0"/>
                        <a:t>4-6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5809A3"/>
                          </a:solidFill>
                          <a:latin typeface="Segoe UI"/>
                        </a:defRPr>
                      </a:pPr>
                      <a:r>
                        <a:rPr lang="ru-RU" sz="1400" dirty="0"/>
                        <a:t>Создание прототипа, подтверждение характеристик в лабораторных условиях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D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5809A3"/>
                          </a:solidFill>
                          <a:latin typeface="Segoe UI"/>
                        </a:defRPr>
                      </a:pPr>
                      <a:r>
                        <a:rPr lang="ru-RU" sz="1400" kern="1200" dirty="0">
                          <a:effectLst/>
                        </a:rPr>
                        <a:t>Фото/видео работающего лабораторного макета, протоколы успешных экспериментов</a:t>
                      </a:r>
                      <a:endParaRPr lang="ru-RU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D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0150802"/>
                  </a:ext>
                </a:extLst>
              </a:tr>
              <a:tr h="601145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27220"/>
                          </a:solidFill>
                          <a:latin typeface="Segoe UI"/>
                        </a:defRPr>
                      </a:pPr>
                      <a:r>
                        <a:rPr lang="ru-RU" sz="1400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27220"/>
                          </a:solidFill>
                          <a:latin typeface="Segoe UI"/>
                        </a:defRPr>
                      </a:pPr>
                      <a:r>
                        <a:rPr lang="ru-RU" sz="1400" dirty="0"/>
                        <a:t>Пилотирование проекта (опытные испытания)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27220"/>
                          </a:solidFill>
                          <a:latin typeface="Segoe UI"/>
                        </a:defRPr>
                      </a:pPr>
                      <a:r>
                        <a:rPr lang="ru-RU" sz="1400" kern="1200" dirty="0" err="1">
                          <a:effectLst/>
                        </a:rPr>
                        <a:t>Видеодемонстрация</a:t>
                      </a:r>
                      <a:r>
                        <a:rPr lang="ru-RU" sz="1400" kern="1200" dirty="0">
                          <a:effectLst/>
                        </a:rPr>
                        <a:t> работы прототипа в промышленных условиях, отчет независимого тестирования.</a:t>
                      </a:r>
                      <a:endParaRPr lang="ru-RU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4127428"/>
                  </a:ext>
                </a:extLst>
              </a:tr>
              <a:tr h="601145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9191E"/>
                          </a:solidFill>
                          <a:latin typeface="Segoe UI"/>
                        </a:defRPr>
                      </a:pPr>
                      <a:r>
                        <a:rPr lang="ru-RU" sz="1400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9191E"/>
                          </a:solidFill>
                          <a:latin typeface="Segoe UI"/>
                        </a:defRPr>
                      </a:pPr>
                      <a:r>
                        <a:rPr lang="ru-RU" sz="1400" dirty="0"/>
                        <a:t>Предсерийное производство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950">
                          <a:solidFill>
                            <a:srgbClr val="19191E"/>
                          </a:solidFill>
                          <a:latin typeface="Segoe UI"/>
                        </a:defRPr>
                      </a:pPr>
                      <a:r>
                        <a:rPr lang="ru-RU" sz="1400" kern="1200" dirty="0">
                          <a:effectLst/>
                        </a:rPr>
                        <a:t>Акт о завершении пилотного проекта, отзыв пилотного заказчика, данные о стабильности работы.</a:t>
                      </a:r>
                      <a:endParaRPr lang="ru-RU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1927280"/>
                  </a:ext>
                </a:extLst>
              </a:tr>
              <a:tr h="4189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9191E"/>
                          </a:solidFill>
                          <a:latin typeface="Segoe UI"/>
                        </a:defRPr>
                      </a:pPr>
                      <a:r>
                        <a:rPr lang="ru-RU" sz="1400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9191E"/>
                          </a:solidFill>
                          <a:latin typeface="Segoe UI"/>
                        </a:defRPr>
                      </a:pPr>
                      <a:r>
                        <a:rPr lang="ru-RU" sz="1400" dirty="0"/>
                        <a:t>Серийное производство, коммерческое использование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950">
                          <a:solidFill>
                            <a:srgbClr val="19191E"/>
                          </a:solidFill>
                          <a:latin typeface="Segoe UI"/>
                        </a:defRPr>
                      </a:pPr>
                      <a:r>
                        <a:rPr lang="ru-RU" sz="1400" kern="1200" dirty="0">
                          <a:effectLst/>
                        </a:rPr>
                        <a:t>Контракты на продажу, фото серийного производства, отзывы клиентов.</a:t>
                      </a:r>
                      <a:endParaRPr lang="ru-RU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7052952"/>
                  </a:ext>
                </a:extLst>
              </a:tr>
            </a:tbl>
          </a:graphicData>
        </a:graphic>
      </p:graphicFrame>
      <p:sp>
        <p:nvSpPr>
          <p:cNvPr id="58" name="Rounded Rectangle 57"/>
          <p:cNvSpPr/>
          <p:nvPr/>
        </p:nvSpPr>
        <p:spPr>
          <a:xfrm>
            <a:off x="548640" y="1371600"/>
            <a:ext cx="5394960" cy="1280160"/>
          </a:xfrm>
          <a:prstGeom prst="roundRect">
            <a:avLst/>
          </a:prstGeom>
          <a:solidFill>
            <a:srgbClr val="FCFAFF"/>
          </a:solidFill>
          <a:ln w="15240">
            <a:solidFill>
              <a:srgbClr val="DCD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>
              <a:spcAft>
                <a:spcPts val="300"/>
              </a:spcAft>
              <a:defRPr sz="1050" b="1">
                <a:solidFill>
                  <a:srgbClr val="7F14E0"/>
                </a:solidFill>
                <a:latin typeface="Segoe UI"/>
              </a:defRPr>
            </a:pPr>
            <a:r>
              <a:t>ТЕКУЩИЙ СТАТУС — УГТ 5–6 (TRL 5–6)</a:t>
            </a:r>
          </a:p>
          <a:p>
            <a:pPr>
              <a:defRPr sz="900">
                <a:solidFill>
                  <a:srgbClr val="19191E"/>
                </a:solidFill>
                <a:latin typeface="Segoe UI"/>
              </a:defRPr>
            </a:pPr>
            <a:r>
              <a:t>Полнофункциональный веб-прототип (PWA), 79 оцифрованных сценариев, верифицирован математический движок детериорации (шаг 30 с) и фармакоматрица на 52 препарата. Пройдены испытания на кафедре.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126480" y="1371600"/>
            <a:ext cx="5394960" cy="1280160"/>
          </a:xfrm>
          <a:prstGeom prst="roundRect">
            <a:avLst/>
          </a:prstGeom>
          <a:solidFill>
            <a:srgbClr val="FFF5EE"/>
          </a:solidFill>
          <a:ln w="15240">
            <a:solidFill>
              <a:srgbClr val="F27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>
              <a:spcAft>
                <a:spcPts val="300"/>
              </a:spcAft>
              <a:defRPr sz="1050" b="1">
                <a:solidFill>
                  <a:srgbClr val="F27220"/>
                </a:solidFill>
                <a:latin typeface="Segoe UI"/>
              </a:defRPr>
            </a:pPr>
            <a:r>
              <a:t>ЦЕЛЕВОЙ СТАТУС — УГТ 7 (TRL 7)</a:t>
            </a:r>
          </a:p>
          <a:p>
            <a:pPr>
              <a:defRPr sz="900">
                <a:solidFill>
                  <a:srgbClr val="19191E"/>
                </a:solidFill>
                <a:latin typeface="Segoe UI"/>
              </a:defRPr>
            </a:pPr>
            <a:r>
              <a:t>Опытная эксплуатация прототипа в реальном образовательном процессе кафедры пропедевтики СЗГМУ им. Мечникова (80+ студентов и ординаторов), проведение олимпиад по кардиологии и терапии.</a:t>
            </a:r>
          </a:p>
        </p:txBody>
      </p:sp>
    </p:spTree>
    <p:extLst>
      <p:ext uri="{BB962C8B-B14F-4D97-AF65-F5344CB8AC3E}">
        <p14:creationId xmlns:p14="http://schemas.microsoft.com/office/powerpoint/2010/main" val="41632899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25475" y="584200"/>
            <a:ext cx="0" cy="684530"/>
          </a:xfrm>
          <a:custGeom>
            <a:avLst/>
            <a:gdLst/>
            <a:ahLst/>
            <a:cxnLst/>
            <a:rect l="l" t="t" r="r" b="b"/>
            <a:pathLst>
              <a:path h="684530">
                <a:moveTo>
                  <a:pt x="0" y="0"/>
                </a:moveTo>
                <a:lnTo>
                  <a:pt x="0" y="684276"/>
                </a:lnTo>
              </a:path>
            </a:pathLst>
          </a:custGeom>
          <a:ln w="762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742668" y="624554"/>
            <a:ext cx="10050780" cy="518158"/>
          </a:xfrm>
          <a:prstGeom prst="rect">
            <a:avLst/>
          </a:prstGeom>
        </p:spPr>
        <p:txBody>
          <a:bodyPr vert="horz" wrap="square" lIns="0" tIns="8642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ru-RU" sz="2800" spc="125" dirty="0">
                <a:latin typeface="Trebuchet MS"/>
                <a:cs typeface="Trebuchet MS"/>
              </a:rPr>
              <a:t>ПРОГРЕСС ЗА ВРЕМЯ АКСЕЛЕРАЦИИ</a:t>
            </a:r>
          </a:p>
        </p:txBody>
      </p:sp>
      <p:pic>
        <p:nvPicPr>
          <p:cNvPr id="55" name="object 5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08592" y="0"/>
            <a:ext cx="2883407" cy="1602486"/>
          </a:xfrm>
          <a:prstGeom prst="rect">
            <a:avLst/>
          </a:prstGeom>
        </p:spPr>
      </p:pic>
      <p:sp>
        <p:nvSpPr>
          <p:cNvPr id="56" name="object 5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5570">
              <a:lnSpc>
                <a:spcPts val="1655"/>
              </a:lnSpc>
            </a:pPr>
            <a:fld id="{81D60167-4931-47E6-BA6A-407CBD079E47}" type="slidenum">
              <a:rPr spc="-50" dirty="0">
                <a:solidFill>
                  <a:srgbClr val="FFFFFF"/>
                </a:solidFill>
              </a:rPr>
              <a:t>10</a:t>
            </a:fld>
            <a:endParaRPr spc="-50" dirty="0">
              <a:solidFill>
                <a:srgbClr val="FFFFFF"/>
              </a:solidFill>
            </a:endParaRPr>
          </a:p>
        </p:txBody>
      </p:sp>
      <p:pic>
        <p:nvPicPr>
          <p:cNvPr id="57" name="Рисунок 56">
            <a:extLst>
              <a:ext uri="{FF2B5EF4-FFF2-40B4-BE49-F238E27FC236}">
                <a16:creationId xmlns:a16="http://schemas.microsoft.com/office/drawing/2014/main" id="{53F2D3B2-6E3E-47B6-AAB5-F9146A747DD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5484" y="752599"/>
            <a:ext cx="1455005" cy="262069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49872084-3F56-47B5-95FE-110FA0602512}"/>
              </a:ext>
            </a:extLst>
          </p:cNvPr>
          <p:cNvSpPr/>
          <p:nvPr/>
        </p:nvSpPr>
        <p:spPr>
          <a:xfrm>
            <a:off x="600618" y="2435477"/>
            <a:ext cx="9601198" cy="646331"/>
          </a:xfrm>
          <a:prstGeom prst="rect">
            <a:avLst/>
          </a:prstGeom>
        </p:spPr>
        <p:txBody>
          <a:bodyPr wrap="square">
            <a:spAutoFit/>
          </a:bodyPr>
          <a:lstStyle/>
          <a:p/>
        </p:txBody>
      </p:sp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EF24AC01-7E05-4F77-AFD8-4CD59F7361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41410"/>
              </p:ext>
            </p:extLst>
          </p:nvPr>
        </p:nvGraphicFramePr>
        <p:xfrm>
          <a:off x="548640" y="1874519"/>
          <a:ext cx="10972800" cy="429768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4754880">
                  <a:extLst>
                    <a:ext uri="{9D8B030D-6E8A-4147-A177-3AD203B41FA5}">
                      <a16:colId xmlns:a16="http://schemas.microsoft.com/office/drawing/2014/main" val="2499979409"/>
                    </a:ext>
                  </a:extLst>
                </a:gridCol>
                <a:gridCol w="6217920">
                  <a:extLst>
                    <a:ext uri="{9D8B030D-6E8A-4147-A177-3AD203B41FA5}">
                      <a16:colId xmlns:a16="http://schemas.microsoft.com/office/drawing/2014/main" val="1114083981"/>
                    </a:ext>
                  </a:extLst>
                </a:gridCol>
              </a:tblGrid>
              <a:tr h="50362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До участия в акселерационной программе</a:t>
                      </a:r>
                    </a:p>
                  </a:txBody>
                  <a:tcPr>
                    <a:solidFill>
                      <a:srgbClr val="464B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После участия в акселерационной программе</a:t>
                      </a:r>
                    </a:p>
                  </a:txBody>
                  <a:tcPr>
                    <a:solidFill>
                      <a:srgbClr val="7F14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9128417"/>
                  </a:ext>
                </a:extLst>
              </a:tr>
              <a:tr h="579005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555A64"/>
                          </a:solidFill>
                          <a:latin typeface="Segoe UI"/>
                        </a:defRPr>
                      </a:pPr>
                      <a:r>
                        <a:t>УГТ 3–4: Теоретическая концепция, формулы модели детериорации на бумаге и черновые скрипты.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950" b="1">
                          <a:solidFill>
                            <a:srgbClr val="5809A3"/>
                          </a:solidFill>
                          <a:latin typeface="Segoe UI"/>
                        </a:defRPr>
                      </a:pPr>
                      <a:r>
                        <a:t>УГТ 5–6: Работающий веб-тренажер (PWA), 79 оцифрованных сценариев, 4 отделения, детериорация виталов в реальном времени.</a:t>
                      </a:r>
                    </a:p>
                    <a:p>
                      <a:endParaRPr lang="ru-RU" sz="1800" dirty="0"/>
                    </a:p>
                  </a:txBody>
                  <a:tcPr>
                    <a:solidFill>
                      <a:srgbClr val="F5ED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5207084"/>
                  </a:ext>
                </a:extLst>
              </a:tr>
              <a:tr h="579005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555A64"/>
                          </a:solidFill>
                          <a:latin typeface="Segoe UI"/>
                        </a:defRPr>
                      </a:pPr>
                      <a:r>
                        <a:t>Производственная готовность: Разрозненные прототипы интерфейса, ручная проверка кейсов.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950" b="1">
                          <a:solidFill>
                            <a:srgbClr val="5809A3"/>
                          </a:solidFill>
                          <a:latin typeface="Segoe UI"/>
                        </a:defRPr>
                      </a:pPr>
                      <a:r>
                        <a:t>Производственная готовность: Отказоустойчивая система (React 18, Vite, Three.js), запуск &lt;1.5 сек, автоматический дебрифинг ошибок по КР Минздрава РФ, CI/CD.</a:t>
                      </a:r>
                    </a:p>
                    <a:p>
                      <a:endParaRPr lang="ru-RU" sz="1800" dirty="0"/>
                    </a:p>
                  </a:txBody>
                  <a:tcPr>
                    <a:solidFill>
                      <a:srgbClr val="F5ED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280876"/>
                  </a:ext>
                </a:extLst>
              </a:tr>
              <a:tr h="579005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555A64"/>
                          </a:solidFill>
                          <a:latin typeface="Segoe UI"/>
                        </a:defRPr>
                      </a:pPr>
                      <a:r>
                        <a:t>Рыночная готовность: Несформированное ценностное предложение, отсутствие данных о спросе.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950" b="1">
                          <a:solidFill>
                            <a:srgbClr val="5809A3"/>
                          </a:solidFill>
                          <a:latin typeface="Segoe UI"/>
                        </a:defRPr>
                      </a:pPr>
                      <a:r>
                        <a:t>Рыночная готовность: Проведен CustDev (70+ студентов и ординаторов), подтверждена острая потребность (87.2%), разработана модель B2B/B2G подписок для медвузов.</a:t>
                      </a:r>
                    </a:p>
                    <a:p>
                      <a:endParaRPr lang="ru-RU" sz="1800" dirty="0"/>
                    </a:p>
                  </a:txBody>
                  <a:tcPr>
                    <a:solidFill>
                      <a:srgbClr val="F5ED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4873228"/>
                  </a:ext>
                </a:extLst>
              </a:tr>
              <a:tr h="294798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555A64"/>
                          </a:solidFill>
                          <a:latin typeface="Segoe UI"/>
                        </a:defRPr>
                      </a:pPr>
                      <a:r>
                        <a:t>Партнерства: Инициативная разработка двух студентов лечебного факультета без институционального статуса.</a:t>
                      </a:r>
                    </a:p>
                  </a:txBody>
                  <a:tcPr>
                    <a:solidFill>
                      <a:srgbClr val="F8F8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950" b="1">
                          <a:solidFill>
                            <a:srgbClr val="5809A3"/>
                          </a:solidFill>
                          <a:latin typeface="Segoe UI"/>
                        </a:defRPr>
                      </a:pPr>
                      <a:r>
                        <a:t>Партнерства: Наставничество зав. кафедрой проф. И.Г. Бакулина, поддержка к.м.н. И.А. Расмагиной, пилотирование на кафедре и олимпиадах СЗГМУ.</a:t>
                      </a:r>
                    </a:p>
                    <a:p>
                      <a:endParaRPr lang="ru-RU" sz="1800" dirty="0"/>
                    </a:p>
                  </a:txBody>
                  <a:tcPr>
                    <a:solidFill>
                      <a:srgbClr val="F5ED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7519475"/>
                  </a:ext>
                </a:extLst>
              </a:tr>
            </a:tbl>
          </a:graphicData>
        </a:graphic>
      </p:graphicFrame>
      <p:sp>
        <p:nvSpPr>
          <p:cNvPr id="58" name="TextBox 57"/>
          <p:cNvSpPr txBox="1"/>
          <p:nvPr/>
        </p:nvSpPr>
        <p:spPr>
          <a:xfrm>
            <a:off x="548640" y="137160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>
                <a:solidFill>
                  <a:srgbClr val="555A64"/>
                </a:solidFill>
                <a:latin typeface="Segoe UI"/>
              </a:defRPr>
            </a:pPr>
            <a:r>
              <a:t>За время акселерационной программы проект совершил качественный переход от исследовательской идеи к масштабируемому программному продукту.</a:t>
            </a:r>
          </a:p>
        </p:txBody>
      </p:sp>
    </p:spTree>
    <p:extLst>
      <p:ext uri="{BB962C8B-B14F-4D97-AF65-F5344CB8AC3E}">
        <p14:creationId xmlns:p14="http://schemas.microsoft.com/office/powerpoint/2010/main" val="42176649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25475" y="584200"/>
            <a:ext cx="0" cy="684530"/>
          </a:xfrm>
          <a:custGeom>
            <a:avLst/>
            <a:gdLst/>
            <a:ahLst/>
            <a:cxnLst/>
            <a:rect l="l" t="t" r="r" b="b"/>
            <a:pathLst>
              <a:path h="684530">
                <a:moveTo>
                  <a:pt x="0" y="0"/>
                </a:moveTo>
                <a:lnTo>
                  <a:pt x="0" y="684276"/>
                </a:lnTo>
              </a:path>
            </a:pathLst>
          </a:custGeom>
          <a:ln w="762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730259" y="624554"/>
            <a:ext cx="10050780" cy="518158"/>
          </a:xfrm>
          <a:prstGeom prst="rect">
            <a:avLst/>
          </a:prstGeom>
        </p:spPr>
        <p:txBody>
          <a:bodyPr vert="horz" wrap="square" lIns="0" tIns="8642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ru-RU" sz="2800" spc="125" dirty="0">
                <a:latin typeface="Trebuchet MS"/>
                <a:cs typeface="Trebuchet MS"/>
              </a:rPr>
              <a:t>ПЛАНЫ РАЗВИТИЯ</a:t>
            </a:r>
          </a:p>
        </p:txBody>
      </p:sp>
      <p:pic>
        <p:nvPicPr>
          <p:cNvPr id="55" name="object 5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08592" y="0"/>
            <a:ext cx="2883407" cy="1602486"/>
          </a:xfrm>
          <a:prstGeom prst="rect">
            <a:avLst/>
          </a:prstGeom>
        </p:spPr>
      </p:pic>
      <p:sp>
        <p:nvSpPr>
          <p:cNvPr id="56" name="object 5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5570">
              <a:lnSpc>
                <a:spcPts val="1655"/>
              </a:lnSpc>
            </a:pPr>
            <a:fld id="{81D60167-4931-47E6-BA6A-407CBD079E47}" type="slidenum">
              <a:rPr spc="-50" dirty="0">
                <a:solidFill>
                  <a:srgbClr val="FFFFFF"/>
                </a:solidFill>
              </a:rPr>
              <a:t>11</a:t>
            </a:fld>
            <a:endParaRPr spc="-50" dirty="0">
              <a:solidFill>
                <a:srgbClr val="FFFFFF"/>
              </a:solidFill>
            </a:endParaRPr>
          </a:p>
        </p:txBody>
      </p:sp>
      <p:pic>
        <p:nvPicPr>
          <p:cNvPr id="57" name="Рисунок 56">
            <a:extLst>
              <a:ext uri="{FF2B5EF4-FFF2-40B4-BE49-F238E27FC236}">
                <a16:creationId xmlns:a16="http://schemas.microsoft.com/office/drawing/2014/main" id="{53F2D3B2-6E3E-47B6-AAB5-F9146A747DD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5484" y="752599"/>
            <a:ext cx="1455005" cy="262069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49872084-3F56-47B5-95FE-110FA0602512}"/>
              </a:ext>
            </a:extLst>
          </p:cNvPr>
          <p:cNvSpPr/>
          <p:nvPr/>
        </p:nvSpPr>
        <p:spPr>
          <a:xfrm>
            <a:off x="457200" y="1620071"/>
            <a:ext cx="6781800" cy="2031325"/>
          </a:xfrm>
          <a:prstGeom prst="rect">
            <a:avLst/>
          </a:prstGeom>
        </p:spPr>
        <p:txBody>
          <a:bodyPr wrap="square">
            <a:spAutoFit/>
          </a:bodyPr>
          <a:lstStyle/>
          <a:p/>
        </p:txBody>
      </p:sp>
      <p:pic>
        <p:nvPicPr>
          <p:cNvPr id="12" name="object 20">
            <a:extLst>
              <a:ext uri="{FF2B5EF4-FFF2-40B4-BE49-F238E27FC236}">
                <a16:creationId xmlns:a16="http://schemas.microsoft.com/office/drawing/2014/main" id="{0EC878D7-1E91-499B-AAA4-958154F29F9A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062721" y="1220088"/>
            <a:ext cx="3971035" cy="5501386"/>
          </a:xfrm>
          <a:prstGeom prst="rect">
            <a:avLst/>
          </a:prstGeom>
        </p:spPr>
      </p:pic>
      <p:sp>
        <p:nvSpPr>
          <p:cNvPr id="58" name="Rounded Rectangle 57"/>
          <p:cNvSpPr/>
          <p:nvPr/>
        </p:nvSpPr>
        <p:spPr>
          <a:xfrm>
            <a:off x="548640" y="1463040"/>
            <a:ext cx="6035040" cy="960120"/>
          </a:xfrm>
          <a:prstGeom prst="roundRect">
            <a:avLst/>
          </a:prstGeom>
          <a:solidFill>
            <a:srgbClr val="FCFAFF"/>
          </a:solidFill>
          <a:ln w="13970">
            <a:solidFill>
              <a:srgbClr val="DCD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>
              <a:spcAft>
                <a:spcPts val="100"/>
              </a:spcAft>
              <a:defRPr sz="850" b="1">
                <a:solidFill>
                  <a:srgbClr val="7F14E0"/>
                </a:solidFill>
                <a:latin typeface="Segoe UI"/>
              </a:defRPr>
            </a:pPr>
            <a:r>
              <a:t>R&amp;D И КЛИНИЧЕСКИЙ КОНТЕНТ</a:t>
            </a:r>
          </a:p>
          <a:p>
            <a:pPr>
              <a:spcAft>
                <a:spcPts val="200"/>
              </a:spcAft>
              <a:defRPr sz="1100" b="1">
                <a:solidFill>
                  <a:srgbClr val="19191E"/>
                </a:solidFill>
                <a:latin typeface="Segoe UI"/>
              </a:defRPr>
            </a:pPr>
            <a:r>
              <a:t>Расширение до 100+ кейсов и LLM-пациент</a:t>
            </a:r>
          </a:p>
          <a:p>
            <a:pPr>
              <a:defRPr sz="850">
                <a:solidFill>
                  <a:srgbClr val="555A64"/>
                </a:solidFill>
                <a:latin typeface="Segoe UI"/>
              </a:defRPr>
            </a:pPr>
            <a:r>
              <a:t>Добавление профиля «Гастроэнтерология», интеграция генеративного диалогового модуля «Виртуальный пациент» на отечественных LLM по Калгари-Кембриджской модели.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548640" y="2514600"/>
            <a:ext cx="6035040" cy="960120"/>
          </a:xfrm>
          <a:prstGeom prst="roundRect">
            <a:avLst/>
          </a:prstGeom>
          <a:solidFill>
            <a:srgbClr val="FCFAFF"/>
          </a:solidFill>
          <a:ln w="13970">
            <a:solidFill>
              <a:srgbClr val="DCD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>
              <a:spcAft>
                <a:spcPts val="100"/>
              </a:spcAft>
              <a:defRPr sz="850" b="1">
                <a:solidFill>
                  <a:srgbClr val="7F14E0"/>
                </a:solidFill>
                <a:latin typeface="Segoe UI"/>
              </a:defRPr>
            </a:pPr>
            <a:r>
              <a:t>ЗАЩИТА ИНТЕЛЛЕКТУАЛЬНОЙ СОБСТВЕННОСТИ</a:t>
            </a:r>
          </a:p>
          <a:p>
            <a:pPr>
              <a:spcAft>
                <a:spcPts val="200"/>
              </a:spcAft>
              <a:defRPr sz="1100" b="1">
                <a:solidFill>
                  <a:srgbClr val="19191E"/>
                </a:solidFill>
                <a:latin typeface="Segoe UI"/>
              </a:defRPr>
            </a:pPr>
            <a:r>
              <a:t>Регистрация РИД в Роспатенте</a:t>
            </a:r>
          </a:p>
          <a:p>
            <a:pPr>
              <a:defRPr sz="850">
                <a:solidFill>
                  <a:srgbClr val="555A64"/>
                </a:solidFill>
                <a:latin typeface="Segoe UI"/>
              </a:defRPr>
            </a:pPr>
            <a:r>
              <a:t>Получение свидетельств о гос. регистрации программы для ЭВМ «МедСим» и базы данных клинических сценариев; патентование алгоритма детериорации виталов.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48640" y="3566160"/>
            <a:ext cx="6035040" cy="960120"/>
          </a:xfrm>
          <a:prstGeom prst="roundRect">
            <a:avLst/>
          </a:prstGeom>
          <a:solidFill>
            <a:srgbClr val="FCFAFF"/>
          </a:solidFill>
          <a:ln w="13970">
            <a:solidFill>
              <a:srgbClr val="DCD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>
              <a:spcAft>
                <a:spcPts val="100"/>
              </a:spcAft>
              <a:defRPr sz="850" b="1">
                <a:solidFill>
                  <a:srgbClr val="7F14E0"/>
                </a:solidFill>
                <a:latin typeface="Segoe UI"/>
              </a:defRPr>
            </a:pPr>
            <a:r>
              <a:t>НАУЧНАЯ АПРОБАЦИЯ И ПУБЛИКАЦИИ</a:t>
            </a:r>
          </a:p>
          <a:p>
            <a:pPr>
              <a:spcAft>
                <a:spcPts val="200"/>
              </a:spcAft>
              <a:defRPr sz="1100" b="1">
                <a:solidFill>
                  <a:srgbClr val="19191E"/>
                </a:solidFill>
                <a:latin typeface="Segoe UI"/>
              </a:defRPr>
            </a:pPr>
            <a:r>
              <a:t>Пилотирование на 80+ обучающихся и статьи ВАК</a:t>
            </a:r>
          </a:p>
          <a:p>
            <a:pPr>
              <a:defRPr sz="850">
                <a:solidFill>
                  <a:srgbClr val="555A64"/>
                </a:solidFill>
                <a:latin typeface="Segoe UI"/>
              </a:defRPr>
            </a:pPr>
            <a:r>
              <a:t>Внедрение в олимпиады СЗГМУ по кардиологии и терапии; подготовка не менее 2 научных статей в журналах ВАК/Scopus и 3 докладов на всероссийских конференциях.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548640" y="4617720"/>
            <a:ext cx="6035040" cy="960120"/>
          </a:xfrm>
          <a:prstGeom prst="roundRect">
            <a:avLst/>
          </a:prstGeom>
          <a:solidFill>
            <a:srgbClr val="FCFAFF"/>
          </a:solidFill>
          <a:ln w="13970">
            <a:solidFill>
              <a:srgbClr val="DCD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>
              <a:spcAft>
                <a:spcPts val="100"/>
              </a:spcAft>
              <a:defRPr sz="850" b="1">
                <a:solidFill>
                  <a:srgbClr val="7F14E0"/>
                </a:solidFill>
                <a:latin typeface="Segoe UI"/>
              </a:defRPr>
            </a:pPr>
            <a:r>
              <a:t>ИНВЕСТИЦИИ И МАСШТАБИРОВАНИЕ</a:t>
            </a:r>
          </a:p>
          <a:p>
            <a:pPr>
              <a:spcAft>
                <a:spcPts val="200"/>
              </a:spcAft>
              <a:defRPr sz="1100" b="1">
                <a:solidFill>
                  <a:srgbClr val="19191E"/>
                </a:solidFill>
                <a:latin typeface="Segoe UI"/>
              </a:defRPr>
            </a:pPr>
            <a:r>
              <a:t>Грант «Студенческий стартап» и выход в 5+ вузов</a:t>
            </a:r>
          </a:p>
          <a:p>
            <a:pPr>
              <a:defRPr sz="850">
                <a:solidFill>
                  <a:srgbClr val="555A64"/>
                </a:solidFill>
                <a:latin typeface="Segoe UI"/>
              </a:defRPr>
            </a:pPr>
            <a:r>
              <a:t>Подача заявки на грант ФСИ (1 млн руб.); масштабирование на медицинские университеты СЗФО в 2026–2027 гг.; интеграция в систему НМО.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548640" y="5806440"/>
            <a:ext cx="6035040" cy="457200"/>
          </a:xfrm>
          <a:prstGeom prst="roundRect">
            <a:avLst/>
          </a:prstGeom>
          <a:solidFill>
            <a:srgbClr val="7F1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Горизонт реализации: 100+ сценариев  •  2 патента  •  Пилоты в 5+ медвузах РФ</a:t>
            </a:r>
          </a:p>
        </p:txBody>
      </p:sp>
    </p:spTree>
    <p:extLst>
      <p:ext uri="{BB962C8B-B14F-4D97-AF65-F5344CB8AC3E}">
        <p14:creationId xmlns:p14="http://schemas.microsoft.com/office/powerpoint/2010/main" val="35255819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25475" y="584200"/>
            <a:ext cx="0" cy="684530"/>
          </a:xfrm>
          <a:custGeom>
            <a:avLst/>
            <a:gdLst/>
            <a:ahLst/>
            <a:cxnLst/>
            <a:rect l="l" t="t" r="r" b="b"/>
            <a:pathLst>
              <a:path h="684530">
                <a:moveTo>
                  <a:pt x="0" y="0"/>
                </a:moveTo>
                <a:lnTo>
                  <a:pt x="0" y="684276"/>
                </a:lnTo>
              </a:path>
            </a:pathLst>
          </a:custGeom>
          <a:ln w="762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730259" y="624554"/>
            <a:ext cx="10050780" cy="518158"/>
          </a:xfrm>
          <a:prstGeom prst="rect">
            <a:avLst/>
          </a:prstGeom>
        </p:spPr>
        <p:txBody>
          <a:bodyPr vert="horz" wrap="square" lIns="0" tIns="8642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ru-RU" sz="2800" spc="125" dirty="0">
                <a:latin typeface="Trebuchet MS"/>
                <a:cs typeface="Trebuchet MS"/>
              </a:rPr>
              <a:t>ЗАПРОС</a:t>
            </a:r>
          </a:p>
        </p:txBody>
      </p:sp>
      <p:pic>
        <p:nvPicPr>
          <p:cNvPr id="55" name="object 5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08592" y="0"/>
            <a:ext cx="2883407" cy="1602486"/>
          </a:xfrm>
          <a:prstGeom prst="rect">
            <a:avLst/>
          </a:prstGeom>
        </p:spPr>
      </p:pic>
      <p:sp>
        <p:nvSpPr>
          <p:cNvPr id="56" name="object 5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5570">
              <a:lnSpc>
                <a:spcPts val="1655"/>
              </a:lnSpc>
            </a:pPr>
            <a:fld id="{81D60167-4931-47E6-BA6A-407CBD079E47}" type="slidenum">
              <a:rPr spc="-50" dirty="0">
                <a:solidFill>
                  <a:srgbClr val="FFFFFF"/>
                </a:solidFill>
              </a:rPr>
              <a:t>12</a:t>
            </a:fld>
            <a:endParaRPr spc="-50" dirty="0">
              <a:solidFill>
                <a:srgbClr val="FFFFFF"/>
              </a:solidFill>
            </a:endParaRPr>
          </a:p>
        </p:txBody>
      </p:sp>
      <p:pic>
        <p:nvPicPr>
          <p:cNvPr id="57" name="Рисунок 56">
            <a:extLst>
              <a:ext uri="{FF2B5EF4-FFF2-40B4-BE49-F238E27FC236}">
                <a16:creationId xmlns:a16="http://schemas.microsoft.com/office/drawing/2014/main" id="{53F2D3B2-6E3E-47B6-AAB5-F9146A747DD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5484" y="752599"/>
            <a:ext cx="1455005" cy="262069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49872084-3F56-47B5-95FE-110FA0602512}"/>
              </a:ext>
            </a:extLst>
          </p:cNvPr>
          <p:cNvSpPr/>
          <p:nvPr/>
        </p:nvSpPr>
        <p:spPr>
          <a:xfrm>
            <a:off x="457200" y="1620071"/>
            <a:ext cx="6781800" cy="2585323"/>
          </a:xfrm>
          <a:prstGeom prst="rect">
            <a:avLst/>
          </a:prstGeom>
        </p:spPr>
        <p:txBody>
          <a:bodyPr wrap="square">
            <a:spAutoFit/>
          </a:bodyPr>
          <a:lstStyle/>
          <a:p/>
        </p:txBody>
      </p:sp>
      <p:pic>
        <p:nvPicPr>
          <p:cNvPr id="9" name="object 24">
            <a:extLst>
              <a:ext uri="{FF2B5EF4-FFF2-40B4-BE49-F238E27FC236}">
                <a16:creationId xmlns:a16="http://schemas.microsoft.com/office/drawing/2014/main" id="{6D585236-A408-4923-A266-EE0F080B400B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214487" y="1849136"/>
            <a:ext cx="3977513" cy="4915027"/>
          </a:xfrm>
          <a:prstGeom prst="rect">
            <a:avLst/>
          </a:prstGeom>
        </p:spPr>
      </p:pic>
      <p:sp>
        <p:nvSpPr>
          <p:cNvPr id="58" name="Rounded Rectangle 57"/>
          <p:cNvSpPr/>
          <p:nvPr/>
        </p:nvSpPr>
        <p:spPr>
          <a:xfrm>
            <a:off x="548640" y="1463040"/>
            <a:ext cx="6035040" cy="960120"/>
          </a:xfrm>
          <a:prstGeom prst="roundRect">
            <a:avLst/>
          </a:prstGeom>
          <a:solidFill>
            <a:srgbClr val="FCFAFF"/>
          </a:solidFill>
          <a:ln w="13970">
            <a:solidFill>
              <a:srgbClr val="DCD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>
              <a:spcAft>
                <a:spcPts val="100"/>
              </a:spcAft>
              <a:defRPr sz="850" b="1">
                <a:solidFill>
                  <a:srgbClr val="7F14E0"/>
                </a:solidFill>
                <a:latin typeface="Segoe UI"/>
              </a:defRPr>
            </a:pPr>
            <a:r>
              <a:t>ФИНАНСИРОВАНИЕ ИНФРАСТРУКТУРЫ</a:t>
            </a:r>
          </a:p>
          <a:p>
            <a:pPr>
              <a:spcAft>
                <a:spcPts val="200"/>
              </a:spcAft>
              <a:defRPr sz="1100" b="1">
                <a:solidFill>
                  <a:srgbClr val="19191E"/>
                </a:solidFill>
                <a:latin typeface="Segoe UI"/>
              </a:defRPr>
            </a:pPr>
            <a:r>
              <a:t>Серверные мощности в РФ и API отечественных LLM</a:t>
            </a:r>
          </a:p>
          <a:p>
            <a:pPr>
              <a:defRPr sz="850">
                <a:solidFill>
                  <a:srgbClr val="555A64"/>
                </a:solidFill>
                <a:latin typeface="Segoe UI"/>
              </a:defRPr>
            </a:pPr>
            <a:r>
              <a:t>Аренда защищённых отечественных серверов для бесперебойной работы при массовых олимпиадах (до 200 одновременных сессий); токены API отечественных нейросетей.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548640" y="2514600"/>
            <a:ext cx="6035040" cy="960120"/>
          </a:xfrm>
          <a:prstGeom prst="roundRect">
            <a:avLst/>
          </a:prstGeom>
          <a:solidFill>
            <a:srgbClr val="FCFAFF"/>
          </a:solidFill>
          <a:ln w="13970">
            <a:solidFill>
              <a:srgbClr val="DCD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>
              <a:spcAft>
                <a:spcPts val="100"/>
              </a:spcAft>
              <a:defRPr sz="850" b="1">
                <a:solidFill>
                  <a:srgbClr val="7F14E0"/>
                </a:solidFill>
                <a:latin typeface="Segoe UI"/>
              </a:defRPr>
            </a:pPr>
            <a:r>
              <a:t>НЕТВОРКИНГ И ИНСТИТУЦИОНАЛЬНОЕ СОДЕЙСТВИЕ</a:t>
            </a:r>
          </a:p>
          <a:p>
            <a:pPr>
              <a:spcAft>
                <a:spcPts val="200"/>
              </a:spcAft>
              <a:defRPr sz="1100" b="1">
                <a:solidFill>
                  <a:srgbClr val="19191E"/>
                </a:solidFill>
                <a:latin typeface="Segoe UI"/>
              </a:defRPr>
            </a:pPr>
            <a:r>
              <a:t>Выход на проректоров медвузов РФ и РОСОМЕД</a:t>
            </a:r>
          </a:p>
          <a:p>
            <a:pPr>
              <a:defRPr sz="850">
                <a:solidFill>
                  <a:srgbClr val="555A64"/>
                </a:solidFill>
                <a:latin typeface="Segoe UI"/>
              </a:defRPr>
            </a:pPr>
            <a:r>
              <a:t>Содействие Платформы НТИ в контактах с проректорами по учебной работе медицинских вузов; взаимодействие с Федеральным центром симуляционного обучения.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48640" y="3566160"/>
            <a:ext cx="6035040" cy="960120"/>
          </a:xfrm>
          <a:prstGeom prst="roundRect">
            <a:avLst/>
          </a:prstGeom>
          <a:solidFill>
            <a:srgbClr val="FCFAFF"/>
          </a:solidFill>
          <a:ln w="13970">
            <a:solidFill>
              <a:srgbClr val="DCD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>
              <a:spcAft>
                <a:spcPts val="100"/>
              </a:spcAft>
              <a:defRPr sz="850" b="1">
                <a:solidFill>
                  <a:srgbClr val="7F14E0"/>
                </a:solidFill>
                <a:latin typeface="Segoe UI"/>
              </a:defRPr>
            </a:pPr>
            <a:r>
              <a:t>МЕНТОРСТВО И B2G-ЭКСПЕРТИЗА</a:t>
            </a:r>
          </a:p>
          <a:p>
            <a:pPr>
              <a:spcAft>
                <a:spcPts val="200"/>
              </a:spcAft>
              <a:defRPr sz="1100" b="1">
                <a:solidFill>
                  <a:srgbClr val="19191E"/>
                </a:solidFill>
                <a:latin typeface="Segoe UI"/>
              </a:defRPr>
            </a:pPr>
            <a:r>
              <a:t>Упаковка B2G-контрактов и защита РИД</a:t>
            </a:r>
          </a:p>
          <a:p>
            <a:pPr>
              <a:defRPr sz="850">
                <a:solidFill>
                  <a:srgbClr val="555A64"/>
                </a:solidFill>
                <a:latin typeface="Segoe UI"/>
              </a:defRPr>
            </a:pPr>
            <a:r>
              <a:t>Экспертная помощь в структурировании продаж университетских лицензий, юридическое сопровождение защиты интеллектуальных прав и лицензирования.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548640" y="4617720"/>
            <a:ext cx="6035040" cy="960120"/>
          </a:xfrm>
          <a:prstGeom prst="roundRect">
            <a:avLst/>
          </a:prstGeom>
          <a:solidFill>
            <a:srgbClr val="FCFAFF"/>
          </a:solidFill>
          <a:ln w="13970">
            <a:solidFill>
              <a:srgbClr val="DCD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>
              <a:spcAft>
                <a:spcPts val="100"/>
              </a:spcAft>
              <a:defRPr sz="850" b="1">
                <a:solidFill>
                  <a:srgbClr val="7F14E0"/>
                </a:solidFill>
                <a:latin typeface="Segoe UI"/>
              </a:defRPr>
            </a:pPr>
            <a:r>
              <a:t>МЕДИА И ФЕДЕРАЛЬНЫЙ PR</a:t>
            </a:r>
          </a:p>
          <a:p>
            <a:pPr>
              <a:spcAft>
                <a:spcPts val="200"/>
              </a:spcAft>
              <a:defRPr sz="1100" b="1">
                <a:solidFill>
                  <a:srgbClr val="19191E"/>
                </a:solidFill>
                <a:latin typeface="Segoe UI"/>
              </a:defRPr>
            </a:pPr>
            <a:r>
              <a:t>Освещение в ресурсах НТИ и Минздрава РФ</a:t>
            </a:r>
          </a:p>
          <a:p>
            <a:pPr>
              <a:defRPr sz="850">
                <a:solidFill>
                  <a:srgbClr val="555A64"/>
                </a:solidFill>
                <a:latin typeface="Segoe UI"/>
              </a:defRPr>
            </a:pPr>
            <a:r>
              <a:t>Информационная поддержка проекта в федеральных каналах экосистемы НТИ, Минздрава и Минобрнауки; привлечение вузов-партнёров к межвузовским олимпиадам.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548640" y="5806440"/>
            <a:ext cx="6035040" cy="457200"/>
          </a:xfrm>
          <a:prstGeom prst="roundRect">
            <a:avLst/>
          </a:prstGeom>
          <a:solidFill>
            <a:srgbClr val="FFF5EE"/>
          </a:solidFill>
          <a:ln w="12700">
            <a:solidFill>
              <a:srgbClr val="F27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950" b="1">
                <a:solidFill>
                  <a:srgbClr val="F27220"/>
                </a:solidFill>
                <a:latin typeface="Segoe UI"/>
              </a:defRPr>
            </a:pPr>
            <a:r>
              <a:t>Цель запроса: быстрый пилотный охват 15+ медвузов РФ и интеграция в стандарты</a:t>
            </a:r>
          </a:p>
        </p:txBody>
      </p:sp>
    </p:spTree>
    <p:extLst>
      <p:ext uri="{BB962C8B-B14F-4D97-AF65-F5344CB8AC3E}">
        <p14:creationId xmlns:p14="http://schemas.microsoft.com/office/powerpoint/2010/main" val="7055959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13247" y="3855720"/>
            <a:ext cx="6778752" cy="3002280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11506201" y="6442645"/>
            <a:ext cx="485520" cy="2180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5570">
              <a:lnSpc>
                <a:spcPts val="1655"/>
              </a:lnSpc>
            </a:pPr>
            <a:fld id="{81D60167-4931-47E6-BA6A-407CBD079E47}" type="slidenum">
              <a:rPr spc="-50" dirty="0">
                <a:solidFill>
                  <a:srgbClr val="FFFFFF"/>
                </a:solidFill>
              </a:rPr>
              <a:t>13</a:t>
            </a:fld>
            <a:endParaRPr spc="-50" dirty="0">
              <a:solidFill>
                <a:srgbClr val="FFFFFF"/>
              </a:solidFill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C10E38BD-4C72-4A3E-B19B-A777C21076A1}"/>
              </a:ext>
            </a:extLst>
          </p:cNvPr>
          <p:cNvSpPr/>
          <p:nvPr/>
        </p:nvSpPr>
        <p:spPr>
          <a:xfrm>
            <a:off x="609600" y="1404789"/>
            <a:ext cx="6096000" cy="1477328"/>
          </a:xfrm>
          <a:prstGeom prst="rect">
            <a:avLst/>
          </a:prstGeom>
        </p:spPr>
        <p:txBody>
          <a:bodyPr>
            <a:spAutoFit/>
          </a:bodyPr>
          <a:lstStyle/>
          <a:p/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5FFA1EB5-553E-47BF-A15D-536B148338FA}"/>
              </a:ext>
            </a:extLst>
          </p:cNvPr>
          <p:cNvSpPr/>
          <p:nvPr/>
        </p:nvSpPr>
        <p:spPr>
          <a:xfrm>
            <a:off x="609600" y="533400"/>
            <a:ext cx="59436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ru-RU" sz="2400" b="1" spc="125" dirty="0">
                <a:solidFill>
                  <a:schemeClr val="bg1"/>
                </a:solidFill>
                <a:latin typeface="Trebuchet MS"/>
                <a:cs typeface="Trebuchet MS"/>
              </a:rPr>
              <a:t>ЭКСПЕРТНОЕ ЗАКЛЮЧЕНИЕ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1E7EECE7-4926-417C-AD28-0AB9ADD24EEF}"/>
              </a:ext>
            </a:extLst>
          </p:cNvPr>
          <p:cNvSpPr/>
          <p:nvPr/>
        </p:nvSpPr>
        <p:spPr>
          <a:xfrm>
            <a:off x="496823" y="5638800"/>
            <a:ext cx="6208777" cy="646331"/>
          </a:xfrm>
          <a:prstGeom prst="rect">
            <a:avLst/>
          </a:prstGeom>
        </p:spPr>
        <p:txBody>
          <a:bodyPr wrap="square">
            <a:spAutoFit/>
          </a:bodyPr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548640" y="1371600"/>
            <a:ext cx="6217920" cy="1371600"/>
          </a:xfrm>
          <a:prstGeom prst="roundRect">
            <a:avLst/>
          </a:prstGeom>
          <a:solidFill>
            <a:srgbClr val="260C46"/>
          </a:solidFill>
          <a:ln w="12700">
            <a:solidFill>
              <a:srgbClr val="6932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spcAft>
                <a:spcPts val="100"/>
              </a:spcAft>
              <a:defRPr sz="1050" b="1">
                <a:solidFill>
                  <a:srgbClr val="FF9B3C"/>
                </a:solidFill>
                <a:latin typeface="Segoe UI"/>
              </a:defRPr>
            </a:pPr>
            <a:r>
              <a:t>Бакулин Игорь Геннадьевич</a:t>
            </a:r>
          </a:p>
          <a:p>
            <a:pPr>
              <a:spcAft>
                <a:spcPts val="300"/>
              </a:spcAft>
              <a:defRPr sz="800">
                <a:solidFill>
                  <a:srgbClr val="DCCDF5"/>
                </a:solidFill>
                <a:latin typeface="Segoe UI"/>
              </a:defRPr>
            </a:pPr>
            <a:r>
              <a:t>Д.м.н., профессор, зав. кафедрой внутренних болезней СЗГМУ, главный гастроэнтеролог СЗФО, вице-президент РНМОТ</a:t>
            </a:r>
          </a:p>
          <a:p>
            <a:pPr>
              <a:defRPr sz="850" i="1">
                <a:solidFill>
                  <a:srgbClr val="FFFFFF"/>
                </a:solidFill>
                <a:latin typeface="Segoe UI"/>
              </a:defRPr>
            </a:pPr>
            <a:r>
              <a:t>«Проект «МедСим» обладает безусловной научной и клинической ценностью. Строгое соответствие актуальным Клиническим рекомендациям Минздрава РФ и динамический пересчёт витальных функций позволяют обучающимся преодолеть разрыв между теорией и практикой. Рекомендую к внедрению в учебный процесс и олимпиады.»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852928"/>
            <a:ext cx="6217920" cy="1371600"/>
          </a:xfrm>
          <a:prstGeom prst="roundRect">
            <a:avLst/>
          </a:prstGeom>
          <a:solidFill>
            <a:srgbClr val="260C46"/>
          </a:solidFill>
          <a:ln w="12700">
            <a:solidFill>
              <a:srgbClr val="6932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spcAft>
                <a:spcPts val="100"/>
              </a:spcAft>
              <a:defRPr sz="1050" b="1">
                <a:solidFill>
                  <a:srgbClr val="FF9B3C"/>
                </a:solidFill>
                <a:latin typeface="Segoe UI"/>
              </a:defRPr>
            </a:pPr>
            <a:r>
              <a:t>Расмагина Ирина Алексеевна</a:t>
            </a:r>
          </a:p>
          <a:p>
            <a:pPr>
              <a:spcAft>
                <a:spcPts val="300"/>
              </a:spcAft>
              <a:defRPr sz="800">
                <a:solidFill>
                  <a:srgbClr val="DCCDF5"/>
                </a:solidFill>
                <a:latin typeface="Segoe UI"/>
              </a:defRPr>
            </a:pPr>
            <a:r>
              <a:t>К.м.н., врач-гастроэнтеролог, асс. кафедры пропедевтики СЗГМУ им. Мечникова, руководитель грантов РНФ</a:t>
            </a:r>
          </a:p>
          <a:p>
            <a:pPr>
              <a:defRPr sz="850" i="1">
                <a:solidFill>
                  <a:srgbClr val="FFFFFF"/>
                </a:solidFill>
                <a:latin typeface="Segoe UI"/>
              </a:defRPr>
            </a:pPr>
            <a:r>
              <a:t>«Теоретическая реализуемость математического ядра детериорации доказана. Использование защищённых отечественных LLM для диалога виртуального пациента обеспечивает формирование деонтологических навыков и суверенитет ПО.»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334256"/>
            <a:ext cx="6217920" cy="1371600"/>
          </a:xfrm>
          <a:prstGeom prst="roundRect">
            <a:avLst/>
          </a:prstGeom>
          <a:solidFill>
            <a:srgbClr val="260C46"/>
          </a:solidFill>
          <a:ln w="12700">
            <a:solidFill>
              <a:srgbClr val="6932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spcAft>
                <a:spcPts val="100"/>
              </a:spcAft>
              <a:defRPr sz="1050" b="1">
                <a:solidFill>
                  <a:srgbClr val="FF9B3C"/>
                </a:solidFill>
                <a:latin typeface="Segoe UI"/>
              </a:defRPr>
            </a:pPr>
            <a:r>
              <a:t>Экспертиза РОСОМЕД &amp; HealthNet НТИ</a:t>
            </a:r>
          </a:p>
          <a:p>
            <a:pPr>
              <a:spcAft>
                <a:spcPts val="300"/>
              </a:spcAft>
              <a:defRPr sz="800">
                <a:solidFill>
                  <a:srgbClr val="DCCDF5"/>
                </a:solidFill>
                <a:latin typeface="Segoe UI"/>
              </a:defRPr>
            </a:pPr>
            <a:r>
              <a:t>Специалисты по медицинскому симуляционному обучению и коммерциализации</a:t>
            </a:r>
          </a:p>
          <a:p>
            <a:pPr>
              <a:defRPr sz="850" i="1">
                <a:solidFill>
                  <a:srgbClr val="FFFFFF"/>
                </a:solidFill>
                <a:latin typeface="Segoe UI"/>
              </a:defRPr>
            </a:pPr>
            <a:r>
              <a:t>««МедСим» эффективно закрывает пустующую нишу между бумажными тестами и дорогостоящими манекенами: платформа тренирует скорость и логику принятия решений в динамике перед манипуляциями с высокой рентабельностью (&gt;60%).»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989320"/>
            <a:ext cx="59436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 i="1">
                <a:solidFill>
                  <a:srgbClr val="DCCDF5"/>
                </a:solidFill>
                <a:latin typeface="Segoe UI"/>
              </a:defRPr>
            </a:pPr>
            <a:r>
              <a:t>Все экспертные заключения верифицированы и внесены в ИС «Эксперты НТИ»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76</TotalTime>
  <Words>847</Words>
  <Application>Microsoft Office PowerPoint</Application>
  <PresentationFormat>Широкоэкранный</PresentationFormat>
  <Paragraphs>86</Paragraphs>
  <Slides>13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8" baseType="lpstr">
      <vt:lpstr>Arial</vt:lpstr>
      <vt:lpstr>Calibri</vt:lpstr>
      <vt:lpstr>Microsoft Sans Serif</vt:lpstr>
      <vt:lpstr>Trebuchet MS</vt:lpstr>
      <vt:lpstr>Office Theme</vt:lpstr>
      <vt:lpstr>Презентация PowerPoint</vt:lpstr>
      <vt:lpstr>ПРОБЛЕМА</vt:lpstr>
      <vt:lpstr>РЕШЕНИЕ</vt:lpstr>
      <vt:lpstr>ТЕХНОЛОГИЧЕСКОЕ ЯДРО ПРОЕКТА</vt:lpstr>
      <vt:lpstr>КОНКУРЕНТЫ И АНАЛОГИ</vt:lpstr>
      <vt:lpstr>МОДЕЛЬ МОНЕТИЗАЦИИ  РЫНОК И ПОТРЕБИТЕЛИ</vt:lpstr>
      <vt:lpstr>КОМАНДА И ПРОГРЕСС</vt:lpstr>
      <vt:lpstr>ПАРТНЕРЫ</vt:lpstr>
      <vt:lpstr>УРОВЕНЬ ГОТОВНОСТИ ТЕХНОЛОГИИ</vt:lpstr>
      <vt:lpstr>ПРОГРЕСС ЗА ВРЕМЯ АКСЕЛЕРАЦИИ</vt:lpstr>
      <vt:lpstr>ПЛАНЫ РАЗВИТИЯ</vt:lpstr>
      <vt:lpstr>ЗАПРОС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Глебушкин Вячеслав Михайлович</dc:creator>
  <cp:lastModifiedBy>Шарыгина Кадрия Сайфидиновна</cp:lastModifiedBy>
  <cp:revision>8</cp:revision>
  <dcterms:created xsi:type="dcterms:W3CDTF">2026-08-20T14:53:36Z</dcterms:created>
  <dcterms:modified xsi:type="dcterms:W3CDTF">2026-08-20T19:48:55Z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2026-06-25T00:00:00Z</vt:filetime>
  </property>
  <property fmtid="{D5CDD505-2E9C-101B-9397-08002B2CF9AE}" pid="4" name="Creator">
    <vt:lpwstr>Microsoft® PowerPoint® 2016</vt:lpwstr>
  </property>
  <property fmtid="{D5CDD505-2E9C-101B-9397-08002B2CF9AE}" pid="5" name="LastSaved">
    <vt:filetime>2026-08-20T00:00:00Z</vt:filetime>
  </property>
  <property fmtid="{D5CDD505-2E9C-101B-9397-08002B2CF9AE}" pid="6" name="Producer">
    <vt:lpwstr>Microsoft® PowerPoint® 2016</vt:lpwstr>
  </property>
</Properties>
</file>