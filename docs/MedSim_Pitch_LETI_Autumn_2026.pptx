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1"/>
  </p:notesMasterIdLst>
  <p:sldIdLst>
    <p:sldId id="295" r:id="rId2"/>
    <p:sldId id="297" r:id="rId3"/>
    <p:sldId id="298" r:id="rId4"/>
    <p:sldId id="310" r:id="rId5"/>
    <p:sldId id="299" r:id="rId6"/>
    <p:sldId id="300" r:id="rId7"/>
    <p:sldId id="301" r:id="rId8"/>
    <p:sldId id="302" r:id="rId9"/>
    <p:sldId id="303" r:id="rId10"/>
    <p:sldId id="306" r:id="rId11"/>
    <p:sldId id="316" r:id="rId12"/>
    <p:sldId id="304" r:id="rId13"/>
    <p:sldId id="307" r:id="rId14"/>
    <p:sldId id="312" r:id="rId15"/>
    <p:sldId id="308" r:id="rId16"/>
    <p:sldId id="309" r:id="rId17"/>
    <p:sldId id="317" r:id="rId18"/>
    <p:sldId id="313" r:id="rId19"/>
    <p:sldId id="314" r:id="rId20"/>
    <p:sldId id="273" r:id="rId21"/>
    <p:sldId id="271" r:id="rId22"/>
    <p:sldId id="275" r:id="rId23"/>
    <p:sldId id="291" r:id="rId24"/>
    <p:sldId id="277" r:id="rId25"/>
    <p:sldId id="280" r:id="rId26"/>
    <p:sldId id="282" r:id="rId27"/>
    <p:sldId id="284" r:id="rId28"/>
    <p:sldId id="286" r:id="rId29"/>
    <p:sldId id="294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7" autoAdjust="0"/>
    <p:restoredTop sz="94660" autoAdjust="0"/>
  </p:normalViewPr>
  <p:slideViewPr>
    <p:cSldViewPr snapToGrid="0" showGuides="1">
      <p:cViewPr varScale="1">
        <p:scale>
          <a:sx n="128" d="100"/>
          <a:sy n="128" d="100"/>
        </p:scale>
        <p:origin x="304" y="176"/>
      </p:cViewPr>
      <p:guideLst>
        <p:guide orient="horz" pos="21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pitchFamily="50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pitchFamily="50" charset="0"/>
              </a:defRPr>
            </a:lvl1pPr>
          </a:lstStyle>
          <a:p>
            <a:fld id="{0E68AD8C-53E5-4424-B04D-E1CF080A84C0}" type="datetimeFigureOut">
              <a:rPr lang="ru-RU" smtClean="0"/>
              <a:t>23.10.2026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pitchFamily="50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pitchFamily="50" charset="0"/>
              </a:defRPr>
            </a:lvl1pPr>
          </a:lstStyle>
          <a:p>
            <a:fld id="{583F1B7B-0867-4A6E-9E8F-067D94842D89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" panose="02000503000000020004" pitchFamily="50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СЛАЙД 1 (0:00 - 1:00) | ТИТУЛЬНЫЙ</a:t>
            </a:r>
          </a:p>
          <a:p>
            <a:r>
              <a:rPr dirty="0"/>
              <a:t>«</a:t>
            </a:r>
            <a:r>
              <a:rPr dirty="0" err="1"/>
              <a:t>Добрый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, </a:t>
            </a:r>
            <a:r>
              <a:rPr dirty="0" err="1"/>
              <a:t>уважаемые</a:t>
            </a:r>
            <a:r>
              <a:rPr dirty="0"/>
              <a:t> </a:t>
            </a:r>
            <a:r>
              <a:rPr dirty="0" err="1"/>
              <a:t>эксперты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члены</a:t>
            </a:r>
            <a:r>
              <a:rPr dirty="0"/>
              <a:t> </a:t>
            </a:r>
            <a:r>
              <a:rPr dirty="0" err="1"/>
              <a:t>комиссии</a:t>
            </a:r>
            <a:r>
              <a:rPr dirty="0"/>
              <a:t>! </a:t>
            </a:r>
            <a:r>
              <a:rPr dirty="0" err="1"/>
              <a:t>Меня</a:t>
            </a:r>
            <a:r>
              <a:rPr dirty="0"/>
              <a:t> </a:t>
            </a:r>
            <a:r>
              <a:rPr dirty="0" err="1"/>
              <a:t>зовут</a:t>
            </a:r>
            <a:r>
              <a:rPr dirty="0"/>
              <a:t> </a:t>
            </a:r>
            <a:r>
              <a:rPr dirty="0" err="1"/>
              <a:t>Михаил</a:t>
            </a:r>
            <a:r>
              <a:rPr dirty="0"/>
              <a:t> </a:t>
            </a:r>
            <a:r>
              <a:rPr dirty="0" err="1"/>
              <a:t>Голощапов</a:t>
            </a:r>
            <a:r>
              <a:rPr dirty="0"/>
              <a:t>, </a:t>
            </a:r>
            <a:r>
              <a:rPr dirty="0" err="1"/>
              <a:t>я</a:t>
            </a:r>
            <a:r>
              <a:rPr dirty="0"/>
              <a:t> </a:t>
            </a:r>
            <a:r>
              <a:rPr dirty="0" err="1"/>
              <a:t>студент</a:t>
            </a:r>
            <a:r>
              <a:rPr dirty="0"/>
              <a:t> 3 </a:t>
            </a:r>
            <a:r>
              <a:rPr dirty="0" err="1"/>
              <a:t>курса</a:t>
            </a:r>
            <a:r>
              <a:rPr dirty="0"/>
              <a:t> </a:t>
            </a:r>
            <a:r>
              <a:rPr dirty="0" err="1"/>
              <a:t>лечебного</a:t>
            </a:r>
            <a:r>
              <a:rPr dirty="0"/>
              <a:t> </a:t>
            </a:r>
            <a:r>
              <a:rPr dirty="0" err="1"/>
              <a:t>факультета</a:t>
            </a:r>
            <a:r>
              <a:rPr dirty="0"/>
              <a:t> СЗГМУ </a:t>
            </a:r>
            <a:r>
              <a:rPr dirty="0" err="1"/>
              <a:t>им</a:t>
            </a:r>
            <a:r>
              <a:rPr dirty="0"/>
              <a:t>. </a:t>
            </a:r>
            <a:r>
              <a:rPr dirty="0" err="1"/>
              <a:t>Мечникова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лидер</a:t>
            </a:r>
            <a:r>
              <a:rPr dirty="0"/>
              <a:t> </a:t>
            </a:r>
            <a:r>
              <a:rPr dirty="0" err="1"/>
              <a:t>стартап-проекта</a:t>
            </a:r>
            <a:r>
              <a:rPr dirty="0"/>
              <a:t> </a:t>
            </a:r>
            <a:r>
              <a:rPr dirty="0" err="1"/>
              <a:t>MedSim</a:t>
            </a:r>
            <a:r>
              <a:rPr dirty="0"/>
              <a:t>.</a:t>
            </a:r>
          </a:p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представляем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акселерационной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СПбГЭТУ</a:t>
            </a:r>
            <a:r>
              <a:rPr dirty="0"/>
              <a:t> «ЛЭТИ» «</a:t>
            </a: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суверенитет</a:t>
            </a:r>
            <a:r>
              <a:rPr dirty="0"/>
              <a:t>»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Северо-Западного</a:t>
            </a:r>
            <a:r>
              <a:rPr dirty="0"/>
              <a:t> </a:t>
            </a:r>
            <a:r>
              <a:rPr dirty="0" err="1"/>
              <a:t>государственного</a:t>
            </a:r>
            <a:r>
              <a:rPr dirty="0"/>
              <a:t> </a:t>
            </a:r>
            <a:r>
              <a:rPr dirty="0" err="1"/>
              <a:t>медицинского</a:t>
            </a:r>
            <a:r>
              <a:rPr dirty="0"/>
              <a:t> </a:t>
            </a:r>
            <a:r>
              <a:rPr dirty="0" err="1"/>
              <a:t>университета</a:t>
            </a:r>
            <a:r>
              <a:rPr dirty="0"/>
              <a:t> </a:t>
            </a:r>
            <a:r>
              <a:rPr dirty="0" err="1"/>
              <a:t>им</a:t>
            </a:r>
            <a:r>
              <a:rPr dirty="0"/>
              <a:t>. </a:t>
            </a:r>
            <a:r>
              <a:rPr dirty="0" err="1"/>
              <a:t>Мечникова</a:t>
            </a:r>
            <a:r>
              <a:rPr dirty="0"/>
              <a:t>.</a:t>
            </a:r>
          </a:p>
          <a:p>
            <a:r>
              <a:rPr dirty="0" err="1"/>
              <a:t>Сегодня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студент-медик</a:t>
            </a:r>
            <a:r>
              <a:rPr dirty="0"/>
              <a:t> </a:t>
            </a:r>
            <a:r>
              <a:rPr dirty="0" err="1"/>
              <a:t>сталкивается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парадоксом</a:t>
            </a:r>
            <a:r>
              <a:rPr dirty="0"/>
              <a:t>: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учим</a:t>
            </a:r>
            <a:r>
              <a:rPr dirty="0"/>
              <a:t> </a:t>
            </a:r>
            <a:r>
              <a:rPr dirty="0" err="1"/>
              <a:t>терапию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реанимацию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статичным</a:t>
            </a:r>
            <a:r>
              <a:rPr dirty="0"/>
              <a:t> </a:t>
            </a:r>
            <a:r>
              <a:rPr dirty="0" err="1"/>
              <a:t>тестам</a:t>
            </a:r>
            <a:r>
              <a:rPr dirty="0"/>
              <a:t>.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молодой</a:t>
            </a:r>
            <a:r>
              <a:rPr dirty="0"/>
              <a:t> </a:t>
            </a:r>
            <a:r>
              <a:rPr dirty="0" err="1"/>
              <a:t>врач</a:t>
            </a:r>
            <a:r>
              <a:rPr dirty="0"/>
              <a:t> </a:t>
            </a:r>
            <a:r>
              <a:rPr dirty="0" err="1"/>
              <a:t>впервые</a:t>
            </a:r>
            <a:r>
              <a:rPr dirty="0"/>
              <a:t> </a:t>
            </a:r>
            <a:r>
              <a:rPr dirty="0" err="1"/>
              <a:t>заходит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палату</a:t>
            </a:r>
            <a:r>
              <a:rPr dirty="0"/>
              <a:t> ОРИТ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приёмного</a:t>
            </a:r>
            <a:r>
              <a:rPr dirty="0"/>
              <a:t> </a:t>
            </a:r>
            <a:r>
              <a:rPr dirty="0" err="1"/>
              <a:t>покоя</a:t>
            </a:r>
            <a:r>
              <a:rPr dirty="0"/>
              <a:t>,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ним</a:t>
            </a:r>
            <a:r>
              <a:rPr dirty="0"/>
              <a:t> </a:t>
            </a:r>
            <a:r>
              <a:rPr dirty="0" err="1"/>
              <a:t>живой</a:t>
            </a:r>
            <a:r>
              <a:rPr dirty="0"/>
              <a:t> </a:t>
            </a:r>
            <a:r>
              <a:rPr dirty="0" err="1"/>
              <a:t>тяжелый</a:t>
            </a:r>
            <a:r>
              <a:rPr dirty="0"/>
              <a:t> </a:t>
            </a:r>
            <a:r>
              <a:rPr dirty="0" err="1"/>
              <a:t>пациент</a:t>
            </a:r>
            <a:r>
              <a:rPr dirty="0"/>
              <a:t>,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ухудшается</a:t>
            </a:r>
            <a:r>
              <a:rPr dirty="0"/>
              <a:t> </a:t>
            </a:r>
            <a:r>
              <a:rPr dirty="0" err="1"/>
              <a:t>каждую</a:t>
            </a:r>
            <a:r>
              <a:rPr dirty="0"/>
              <a:t> </a:t>
            </a:r>
            <a:r>
              <a:rPr dirty="0" err="1"/>
              <a:t>минуту</a:t>
            </a:r>
            <a:r>
              <a:rPr dirty="0"/>
              <a:t>. </a:t>
            </a:r>
            <a:r>
              <a:rPr dirty="0" err="1"/>
              <a:t>MedSim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отечественный</a:t>
            </a:r>
            <a:r>
              <a:rPr dirty="0"/>
              <a:t> </a:t>
            </a:r>
            <a:r>
              <a:rPr dirty="0" err="1"/>
              <a:t>интерактивный</a:t>
            </a:r>
            <a:r>
              <a:rPr dirty="0"/>
              <a:t> </a:t>
            </a:r>
            <a:r>
              <a:rPr dirty="0" err="1"/>
              <a:t>симулятор</a:t>
            </a:r>
            <a:r>
              <a:rPr dirty="0"/>
              <a:t> </a:t>
            </a:r>
            <a:r>
              <a:rPr dirty="0" err="1"/>
              <a:t>клинического</a:t>
            </a:r>
            <a:r>
              <a:rPr dirty="0"/>
              <a:t> </a:t>
            </a:r>
            <a:r>
              <a:rPr dirty="0" err="1"/>
              <a:t>мышления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учит</a:t>
            </a:r>
            <a:r>
              <a:rPr dirty="0"/>
              <a:t> </a:t>
            </a:r>
            <a:r>
              <a:rPr dirty="0" err="1"/>
              <a:t>будущего</a:t>
            </a:r>
            <a:r>
              <a:rPr dirty="0"/>
              <a:t> </a:t>
            </a:r>
            <a:r>
              <a:rPr dirty="0" err="1"/>
              <a:t>врача</a:t>
            </a:r>
            <a:r>
              <a:rPr dirty="0"/>
              <a:t> </a:t>
            </a:r>
            <a:r>
              <a:rPr dirty="0" err="1"/>
              <a:t>действовать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условиях</a:t>
            </a:r>
            <a:r>
              <a:rPr dirty="0"/>
              <a:t> </a:t>
            </a:r>
            <a:r>
              <a:rPr dirty="0" err="1"/>
              <a:t>цейтнота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Клиническим</a:t>
            </a:r>
            <a:r>
              <a:rPr dirty="0"/>
              <a:t> </a:t>
            </a:r>
            <a:r>
              <a:rPr dirty="0" err="1"/>
              <a:t>рекомендациям</a:t>
            </a:r>
            <a:r>
              <a:rPr dirty="0"/>
              <a:t> </a:t>
            </a:r>
            <a:r>
              <a:rPr dirty="0" err="1"/>
              <a:t>Минздрава</a:t>
            </a:r>
            <a:r>
              <a:rPr dirty="0"/>
              <a:t> РФ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 </a:t>
            </a:r>
            <a:r>
              <a:rPr dirty="0" err="1"/>
              <a:t>пациентов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СЛАЙД 2 (1:00 - 3:00) | АКТУАЛЬНОСТЬ </a:t>
            </a:r>
            <a:r>
              <a:rPr dirty="0" err="1"/>
              <a:t>И</a:t>
            </a:r>
            <a:r>
              <a:rPr dirty="0"/>
              <a:t> ПРОБЛЕМА</a:t>
            </a:r>
          </a:p>
          <a:p>
            <a:r>
              <a:rPr dirty="0"/>
              <a:t>«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 </a:t>
            </a:r>
            <a:r>
              <a:rPr dirty="0" err="1"/>
              <a:t>технологического</a:t>
            </a:r>
            <a:r>
              <a:rPr dirty="0"/>
              <a:t> </a:t>
            </a:r>
            <a:r>
              <a:rPr dirty="0" err="1"/>
              <a:t>суверенитета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медицинском</a:t>
            </a:r>
            <a:r>
              <a:rPr dirty="0"/>
              <a:t> </a:t>
            </a:r>
            <a:r>
              <a:rPr dirty="0" err="1"/>
              <a:t>образовании</a:t>
            </a:r>
            <a:r>
              <a:rPr dirty="0"/>
              <a:t> </a:t>
            </a:r>
            <a:r>
              <a:rPr dirty="0" err="1"/>
              <a:t>стоит</a:t>
            </a:r>
            <a:r>
              <a:rPr dirty="0"/>
              <a:t> </a:t>
            </a:r>
            <a:r>
              <a:rPr dirty="0" err="1"/>
              <a:t>сегодня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остро</a:t>
            </a:r>
            <a:r>
              <a:rPr dirty="0"/>
              <a:t>?</a:t>
            </a:r>
          </a:p>
          <a:p>
            <a:r>
              <a:rPr dirty="0" err="1"/>
              <a:t>Во-первых</a:t>
            </a:r>
            <a:r>
              <a:rPr dirty="0"/>
              <a:t>, </a:t>
            </a:r>
            <a:r>
              <a:rPr dirty="0" err="1"/>
              <a:t>нормативный</a:t>
            </a:r>
            <a:r>
              <a:rPr dirty="0"/>
              <a:t> </a:t>
            </a:r>
            <a:r>
              <a:rPr dirty="0" err="1"/>
              <a:t>фактор</a:t>
            </a:r>
            <a:r>
              <a:rPr dirty="0"/>
              <a:t>: </a:t>
            </a:r>
            <a:r>
              <a:rPr dirty="0" err="1"/>
              <a:t>согласно</a:t>
            </a:r>
            <a:r>
              <a:rPr dirty="0"/>
              <a:t> </a:t>
            </a:r>
            <a:r>
              <a:rPr dirty="0" err="1"/>
              <a:t>ст</a:t>
            </a:r>
            <a:r>
              <a:rPr dirty="0"/>
              <a:t>. 37 323-го </a:t>
            </a:r>
            <a:r>
              <a:rPr dirty="0" err="1"/>
              <a:t>Федерального</a:t>
            </a:r>
            <a:r>
              <a:rPr dirty="0"/>
              <a:t> </a:t>
            </a:r>
            <a:r>
              <a:rPr dirty="0" err="1"/>
              <a:t>закона</a:t>
            </a:r>
            <a:r>
              <a:rPr dirty="0"/>
              <a:t>, </a:t>
            </a:r>
            <a:r>
              <a:rPr dirty="0" err="1"/>
              <a:t>клинические</a:t>
            </a:r>
            <a:r>
              <a:rPr dirty="0"/>
              <a:t> </a:t>
            </a:r>
            <a:r>
              <a:rPr dirty="0" err="1"/>
              <a:t>рекомендации</a:t>
            </a:r>
            <a:r>
              <a:rPr dirty="0"/>
              <a:t> </a:t>
            </a:r>
            <a:r>
              <a:rPr dirty="0" err="1"/>
              <a:t>Минздрава</a:t>
            </a:r>
            <a:r>
              <a:rPr dirty="0"/>
              <a:t> </a:t>
            </a:r>
            <a:r>
              <a:rPr dirty="0" err="1"/>
              <a:t>России</a:t>
            </a:r>
            <a:r>
              <a:rPr dirty="0"/>
              <a:t> </a:t>
            </a:r>
            <a:r>
              <a:rPr dirty="0" err="1"/>
              <a:t>стали</a:t>
            </a:r>
            <a:r>
              <a:rPr dirty="0"/>
              <a:t> </a:t>
            </a:r>
            <a:r>
              <a:rPr dirty="0" err="1"/>
              <a:t>обязательными</a:t>
            </a:r>
            <a:r>
              <a:rPr dirty="0"/>
              <a:t>. </a:t>
            </a:r>
            <a:r>
              <a:rPr dirty="0" err="1"/>
              <a:t>Врача</a:t>
            </a:r>
            <a:r>
              <a:rPr dirty="0"/>
              <a:t> </a:t>
            </a:r>
            <a:r>
              <a:rPr dirty="0" err="1"/>
              <a:t>теперь</a:t>
            </a:r>
            <a:r>
              <a:rPr dirty="0"/>
              <a:t> </a:t>
            </a:r>
            <a:r>
              <a:rPr dirty="0" err="1"/>
              <a:t>оценивают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соблюдению</a:t>
            </a:r>
            <a:r>
              <a:rPr dirty="0"/>
              <a:t> </a:t>
            </a:r>
            <a:r>
              <a:rPr dirty="0" err="1"/>
              <a:t>утвержденных</a:t>
            </a:r>
            <a:r>
              <a:rPr dirty="0"/>
              <a:t> </a:t>
            </a:r>
            <a:r>
              <a:rPr dirty="0" err="1"/>
              <a:t>протоколов</a:t>
            </a:r>
            <a:r>
              <a:rPr dirty="0"/>
              <a:t>.</a:t>
            </a:r>
          </a:p>
          <a:p>
            <a:r>
              <a:rPr dirty="0" err="1"/>
              <a:t>Во-вторых</a:t>
            </a:r>
            <a:r>
              <a:rPr dirty="0"/>
              <a:t>, </a:t>
            </a:r>
            <a:r>
              <a:rPr dirty="0" err="1"/>
              <a:t>санкционный</a:t>
            </a:r>
            <a:r>
              <a:rPr dirty="0"/>
              <a:t> </a:t>
            </a:r>
            <a:r>
              <a:rPr dirty="0" err="1"/>
              <a:t>уход</a:t>
            </a:r>
            <a:r>
              <a:rPr dirty="0"/>
              <a:t> </a:t>
            </a:r>
            <a:r>
              <a:rPr dirty="0" err="1"/>
              <a:t>западных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: </a:t>
            </a:r>
            <a:r>
              <a:rPr dirty="0" err="1"/>
              <a:t>европейский</a:t>
            </a:r>
            <a:r>
              <a:rPr dirty="0"/>
              <a:t> </a:t>
            </a:r>
            <a:r>
              <a:rPr dirty="0" err="1"/>
              <a:t>симулятор</a:t>
            </a:r>
            <a:r>
              <a:rPr dirty="0"/>
              <a:t> Body Interact </a:t>
            </a:r>
            <a:r>
              <a:rPr dirty="0" err="1"/>
              <a:t>заблокирован</a:t>
            </a:r>
            <a:r>
              <a:rPr dirty="0"/>
              <a:t>, </a:t>
            </a:r>
            <a:r>
              <a:rPr dirty="0" err="1"/>
              <a:t>лицензии</a:t>
            </a:r>
            <a:r>
              <a:rPr dirty="0"/>
              <a:t> </a:t>
            </a:r>
            <a:r>
              <a:rPr dirty="0" err="1"/>
              <a:t>отозваны</a:t>
            </a:r>
            <a:r>
              <a:rPr dirty="0"/>
              <a:t>.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импортные</a:t>
            </a:r>
            <a:r>
              <a:rPr dirty="0"/>
              <a:t> </a:t>
            </a:r>
            <a:r>
              <a:rPr dirty="0" err="1"/>
              <a:t>роботы-манекены</a:t>
            </a:r>
            <a:r>
              <a:rPr dirty="0"/>
              <a:t> </a:t>
            </a:r>
            <a:r>
              <a:rPr dirty="0" err="1"/>
              <a:t>стоят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25 </a:t>
            </a:r>
            <a:r>
              <a:rPr dirty="0" err="1"/>
              <a:t>до</a:t>
            </a:r>
            <a:r>
              <a:rPr dirty="0"/>
              <a:t> 45 </a:t>
            </a:r>
            <a:r>
              <a:rPr dirty="0" err="1"/>
              <a:t>миллионов</a:t>
            </a:r>
            <a:r>
              <a:rPr dirty="0"/>
              <a:t> </a:t>
            </a:r>
            <a:r>
              <a:rPr dirty="0" err="1"/>
              <a:t>рублей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параллельном</a:t>
            </a:r>
            <a:r>
              <a:rPr dirty="0"/>
              <a:t> </a:t>
            </a:r>
            <a:r>
              <a:rPr dirty="0" err="1"/>
              <a:t>импорте</a:t>
            </a:r>
            <a:r>
              <a:rPr dirty="0"/>
              <a:t>! </a:t>
            </a:r>
            <a:r>
              <a:rPr dirty="0" err="1"/>
              <a:t>Ни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вуз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оснастить</a:t>
            </a:r>
            <a:r>
              <a:rPr dirty="0"/>
              <a:t> </a:t>
            </a:r>
            <a:r>
              <a:rPr dirty="0" err="1"/>
              <a:t>ими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студентов</a:t>
            </a:r>
            <a:r>
              <a:rPr dirty="0"/>
              <a:t>: </a:t>
            </a:r>
            <a:r>
              <a:rPr dirty="0" err="1"/>
              <a:t>пропускная</a:t>
            </a:r>
            <a:r>
              <a:rPr dirty="0"/>
              <a:t> </a:t>
            </a:r>
            <a:r>
              <a:rPr dirty="0" err="1"/>
              <a:t>способность</a:t>
            </a:r>
            <a:r>
              <a:rPr dirty="0"/>
              <a:t> </a:t>
            </a:r>
            <a:r>
              <a:rPr dirty="0" err="1"/>
              <a:t>центров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5–10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смену</a:t>
            </a:r>
            <a:r>
              <a:rPr dirty="0"/>
              <a:t>.</a:t>
            </a:r>
          </a:p>
          <a:p>
            <a:r>
              <a:rPr dirty="0" err="1"/>
              <a:t>В-третьих</a:t>
            </a:r>
            <a:r>
              <a:rPr dirty="0"/>
              <a:t>, </a:t>
            </a:r>
            <a:r>
              <a:rPr dirty="0" err="1"/>
              <a:t>цена</a:t>
            </a:r>
            <a:r>
              <a:rPr dirty="0"/>
              <a:t> </a:t>
            </a:r>
            <a:r>
              <a:rPr dirty="0" err="1"/>
              <a:t>врачебной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: </a:t>
            </a:r>
            <a:r>
              <a:rPr dirty="0" err="1"/>
              <a:t>до</a:t>
            </a:r>
            <a:r>
              <a:rPr dirty="0"/>
              <a:t> 28% </a:t>
            </a:r>
            <a:r>
              <a:rPr dirty="0" err="1"/>
              <a:t>дефектов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экстренной</a:t>
            </a:r>
            <a:r>
              <a:rPr dirty="0"/>
              <a:t> </a:t>
            </a:r>
            <a:r>
              <a:rPr dirty="0" err="1"/>
              <a:t>медицине</a:t>
            </a:r>
            <a:r>
              <a:rPr dirty="0"/>
              <a:t> </a:t>
            </a:r>
            <a:r>
              <a:rPr dirty="0" err="1"/>
              <a:t>совершают</a:t>
            </a:r>
            <a:r>
              <a:rPr dirty="0"/>
              <a:t> </a:t>
            </a:r>
            <a:r>
              <a:rPr dirty="0" err="1"/>
              <a:t>начинающие</a:t>
            </a:r>
            <a:r>
              <a:rPr dirty="0"/>
              <a:t> </a:t>
            </a:r>
            <a:r>
              <a:rPr dirty="0" err="1"/>
              <a:t>специалисты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растерянности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цейтноте</a:t>
            </a:r>
            <a:r>
              <a:rPr dirty="0"/>
              <a:t>.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нашего</a:t>
            </a:r>
            <a:r>
              <a:rPr dirty="0"/>
              <a:t> </a:t>
            </a:r>
            <a:r>
              <a:rPr dirty="0" err="1"/>
              <a:t>клинического</a:t>
            </a:r>
            <a:r>
              <a:rPr dirty="0"/>
              <a:t> </a:t>
            </a:r>
            <a:r>
              <a:rPr dirty="0" err="1"/>
              <a:t>партнера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СЗГМУ </a:t>
            </a:r>
            <a:r>
              <a:rPr dirty="0" err="1"/>
              <a:t>им</a:t>
            </a:r>
            <a:r>
              <a:rPr dirty="0"/>
              <a:t>. </a:t>
            </a:r>
            <a:r>
              <a:rPr dirty="0" err="1"/>
              <a:t>Мечникова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каждому</a:t>
            </a:r>
            <a:r>
              <a:rPr dirty="0"/>
              <a:t> </a:t>
            </a:r>
            <a:r>
              <a:rPr dirty="0" err="1"/>
              <a:t>студенту</a:t>
            </a:r>
            <a:r>
              <a:rPr dirty="0"/>
              <a:t> </a:t>
            </a:r>
            <a:r>
              <a:rPr dirty="0" err="1"/>
              <a:t>персональную</a:t>
            </a:r>
            <a:r>
              <a:rPr dirty="0"/>
              <a:t> </a:t>
            </a:r>
            <a:r>
              <a:rPr dirty="0" err="1"/>
              <a:t>цифровую</a:t>
            </a:r>
            <a:r>
              <a:rPr dirty="0"/>
              <a:t> </a:t>
            </a:r>
            <a:r>
              <a:rPr dirty="0" err="1"/>
              <a:t>станцию</a:t>
            </a:r>
            <a:r>
              <a:rPr dirty="0"/>
              <a:t> </a:t>
            </a:r>
            <a:r>
              <a:rPr dirty="0" err="1"/>
              <a:t>врача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СЛАЙД 3 (3:00 - 6:00) | РЕШЕНИЕ </a:t>
            </a:r>
            <a:r>
              <a:rPr dirty="0" err="1"/>
              <a:t>И</a:t>
            </a:r>
            <a:r>
              <a:rPr dirty="0"/>
              <a:t> ТЕХНОЛОГИЧЕСКОЕ ЯДРО</a:t>
            </a:r>
          </a:p>
          <a:p>
            <a:r>
              <a:rPr dirty="0"/>
              <a:t>«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представляет</a:t>
            </a:r>
            <a:r>
              <a:rPr dirty="0"/>
              <a:t> </a:t>
            </a:r>
            <a:r>
              <a:rPr dirty="0" err="1"/>
              <a:t>собой</a:t>
            </a:r>
            <a:r>
              <a:rPr dirty="0"/>
              <a:t> </a:t>
            </a:r>
            <a:r>
              <a:rPr dirty="0" err="1"/>
              <a:t>MedSim</a:t>
            </a:r>
            <a:r>
              <a:rPr dirty="0"/>
              <a:t>?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статичный</a:t>
            </a:r>
            <a:r>
              <a:rPr dirty="0"/>
              <a:t> </a:t>
            </a:r>
            <a:r>
              <a:rPr dirty="0" err="1"/>
              <a:t>квиз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полноценная</a:t>
            </a:r>
            <a:r>
              <a:rPr dirty="0"/>
              <a:t> </a:t>
            </a:r>
            <a:r>
              <a:rPr dirty="0" err="1"/>
              <a:t>цифровая</a:t>
            </a:r>
            <a:r>
              <a:rPr dirty="0"/>
              <a:t> </a:t>
            </a:r>
            <a:r>
              <a:rPr dirty="0" err="1"/>
              <a:t>рабочая</a:t>
            </a:r>
            <a:r>
              <a:rPr dirty="0"/>
              <a:t> </a:t>
            </a:r>
            <a:r>
              <a:rPr dirty="0" err="1"/>
              <a:t>станция</a:t>
            </a:r>
            <a:r>
              <a:rPr dirty="0"/>
              <a:t> </a:t>
            </a:r>
            <a:r>
              <a:rPr dirty="0" err="1"/>
              <a:t>врача</a:t>
            </a:r>
            <a:r>
              <a:rPr dirty="0"/>
              <a:t>.</a:t>
            </a:r>
          </a:p>
          <a:p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курирует</a:t>
            </a:r>
            <a:r>
              <a:rPr dirty="0"/>
              <a:t> </a:t>
            </a:r>
            <a:r>
              <a:rPr dirty="0" err="1"/>
              <a:t>пациентов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4 </a:t>
            </a:r>
            <a:r>
              <a:rPr dirty="0" err="1"/>
              <a:t>отделениях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экстренного</a:t>
            </a:r>
            <a:r>
              <a:rPr dirty="0"/>
              <a:t> ОРИТ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живым</a:t>
            </a:r>
            <a:r>
              <a:rPr dirty="0"/>
              <a:t> </a:t>
            </a:r>
            <a:r>
              <a:rPr dirty="0" err="1"/>
              <a:t>монитором</a:t>
            </a:r>
            <a:r>
              <a:rPr dirty="0"/>
              <a:t> ЭКГ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давления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многодневного</a:t>
            </a:r>
            <a:r>
              <a:rPr dirty="0"/>
              <a:t> </a:t>
            </a:r>
            <a:r>
              <a:rPr dirty="0" err="1"/>
              <a:t>терапевтического</a:t>
            </a:r>
            <a:r>
              <a:rPr dirty="0"/>
              <a:t> </a:t>
            </a:r>
            <a:r>
              <a:rPr dirty="0" err="1"/>
              <a:t>стационара</a:t>
            </a:r>
            <a:r>
              <a:rPr dirty="0"/>
              <a:t>.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лежит</a:t>
            </a:r>
            <a:r>
              <a:rPr dirty="0"/>
              <a:t> </a:t>
            </a:r>
            <a:r>
              <a:rPr dirty="0" err="1"/>
              <a:t>наше</a:t>
            </a:r>
            <a:r>
              <a:rPr dirty="0"/>
              <a:t> </a:t>
            </a:r>
            <a:r>
              <a:rPr dirty="0" err="1"/>
              <a:t>технологическое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динамический</a:t>
            </a:r>
            <a:r>
              <a:rPr dirty="0"/>
              <a:t> </a:t>
            </a:r>
            <a:r>
              <a:rPr dirty="0" err="1"/>
              <a:t>детериорационный</a:t>
            </a:r>
            <a:r>
              <a:rPr dirty="0"/>
              <a:t> </a:t>
            </a:r>
            <a:r>
              <a:rPr dirty="0" err="1"/>
              <a:t>движок</a:t>
            </a:r>
            <a:r>
              <a:rPr dirty="0"/>
              <a:t>. </a:t>
            </a:r>
            <a:r>
              <a:rPr dirty="0" err="1"/>
              <a:t>Каждые</a:t>
            </a:r>
            <a:r>
              <a:rPr dirty="0"/>
              <a:t> 30 </a:t>
            </a:r>
            <a:r>
              <a:rPr dirty="0" err="1"/>
              <a:t>секунд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пересчитывает</a:t>
            </a:r>
            <a:r>
              <a:rPr dirty="0"/>
              <a:t> </a:t>
            </a:r>
            <a:r>
              <a:rPr dirty="0" err="1"/>
              <a:t>физиологические</a:t>
            </a:r>
            <a:r>
              <a:rPr dirty="0"/>
              <a:t> </a:t>
            </a:r>
            <a:r>
              <a:rPr dirty="0" err="1"/>
              <a:t>показатели</a:t>
            </a:r>
            <a:r>
              <a:rPr dirty="0"/>
              <a:t>: АД, ЧСС, </a:t>
            </a:r>
            <a:r>
              <a:rPr dirty="0" err="1"/>
              <a:t>сатурацию</a:t>
            </a:r>
            <a:r>
              <a:rPr dirty="0"/>
              <a:t>, </a:t>
            </a:r>
            <a:r>
              <a:rPr dirty="0" err="1"/>
              <a:t>шкалу</a:t>
            </a:r>
            <a:r>
              <a:rPr dirty="0"/>
              <a:t> </a:t>
            </a:r>
            <a:r>
              <a:rPr dirty="0" err="1"/>
              <a:t>Глазго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учётом</a:t>
            </a:r>
            <a:r>
              <a:rPr dirty="0"/>
              <a:t> </a:t>
            </a:r>
            <a:r>
              <a:rPr dirty="0" err="1"/>
              <a:t>введенных</a:t>
            </a:r>
            <a:r>
              <a:rPr dirty="0"/>
              <a:t> </a:t>
            </a:r>
            <a:r>
              <a:rPr dirty="0" err="1"/>
              <a:t>препаратов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медлит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назначает</a:t>
            </a:r>
            <a:r>
              <a:rPr dirty="0"/>
              <a:t> </a:t>
            </a:r>
            <a:r>
              <a:rPr dirty="0" err="1"/>
              <a:t>противопоказанные</a:t>
            </a:r>
            <a:r>
              <a:rPr dirty="0"/>
              <a:t> </a:t>
            </a:r>
            <a:r>
              <a:rPr dirty="0" err="1"/>
              <a:t>препараты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острая</a:t>
            </a:r>
            <a:r>
              <a:rPr dirty="0"/>
              <a:t> </a:t>
            </a:r>
            <a:r>
              <a:rPr dirty="0" err="1"/>
              <a:t>декомпенсация</a:t>
            </a:r>
            <a:r>
              <a:rPr dirty="0"/>
              <a:t>.</a:t>
            </a:r>
          </a:p>
          <a:p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уникальная</a:t>
            </a:r>
            <a:r>
              <a:rPr dirty="0"/>
              <a:t> </a:t>
            </a:r>
            <a:r>
              <a:rPr dirty="0" err="1"/>
              <a:t>авторская</a:t>
            </a:r>
            <a:r>
              <a:rPr dirty="0"/>
              <a:t> </a:t>
            </a:r>
            <a:r>
              <a:rPr dirty="0" err="1"/>
              <a:t>механика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«</a:t>
            </a:r>
            <a:r>
              <a:rPr dirty="0" err="1"/>
              <a:t>слепая</a:t>
            </a:r>
            <a:r>
              <a:rPr dirty="0"/>
              <a:t>» </a:t>
            </a:r>
            <a:r>
              <a:rPr dirty="0" err="1"/>
              <a:t>лаборатория</a:t>
            </a:r>
            <a:r>
              <a:rPr dirty="0"/>
              <a:t>: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заказывает</a:t>
            </a:r>
            <a:r>
              <a:rPr dirty="0"/>
              <a:t> </a:t>
            </a:r>
            <a:r>
              <a:rPr dirty="0" err="1"/>
              <a:t>биохимию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мочу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выносит</a:t>
            </a:r>
            <a:r>
              <a:rPr dirty="0"/>
              <a:t> </a:t>
            </a:r>
            <a:r>
              <a:rPr dirty="0" err="1"/>
              <a:t>вердикт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отклонениям</a:t>
            </a:r>
            <a:r>
              <a:rPr dirty="0"/>
              <a:t>,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спойлеров</a:t>
            </a:r>
            <a:r>
              <a:rPr dirty="0"/>
              <a:t>.</a:t>
            </a:r>
          </a:p>
          <a:p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финале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11-точечный </a:t>
            </a:r>
            <a:r>
              <a:rPr dirty="0" err="1"/>
              <a:t>дебрифинг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детальный</a:t>
            </a:r>
            <a:r>
              <a:rPr dirty="0"/>
              <a:t>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стандартам</a:t>
            </a:r>
            <a:r>
              <a:rPr dirty="0"/>
              <a:t> </a:t>
            </a:r>
            <a:r>
              <a:rPr dirty="0" err="1"/>
              <a:t>Минздрава</a:t>
            </a:r>
            <a:r>
              <a:rPr dirty="0"/>
              <a:t> РФ.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суверенная</a:t>
            </a:r>
            <a:r>
              <a:rPr dirty="0"/>
              <a:t> </a:t>
            </a:r>
            <a:r>
              <a:rPr dirty="0" err="1"/>
              <a:t>разработка</a:t>
            </a:r>
            <a:r>
              <a:rPr dirty="0"/>
              <a:t>, </a:t>
            </a:r>
            <a:r>
              <a:rPr dirty="0" err="1"/>
              <a:t>относящаяся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критической</a:t>
            </a:r>
            <a:r>
              <a:rPr dirty="0"/>
              <a:t> </a:t>
            </a:r>
            <a:r>
              <a:rPr dirty="0" err="1"/>
              <a:t>технологии</a:t>
            </a:r>
            <a:r>
              <a:rPr dirty="0"/>
              <a:t> </a:t>
            </a:r>
            <a:r>
              <a:rPr dirty="0" err="1"/>
              <a:t>моделирования</a:t>
            </a:r>
            <a:r>
              <a:rPr dirty="0"/>
              <a:t> </a:t>
            </a:r>
            <a:r>
              <a:rPr dirty="0" err="1"/>
              <a:t>биологических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4 (6:00 - 7:30) | УРОВЕНЬ ГОТОВНОСТИ (TRL 5-6)</a:t>
            </a:r>
          </a:p>
          <a:p>
            <a:r>
              <a:t>«На какой стадии проект сегодня? Мы находимся на уровне TRL 5 с переходом в TRL 6.</a:t>
            </a:r>
          </a:p>
          <a:p>
            <a:r>
              <a:t>Это не презентация идеи, а готовый работающий программный комплекс. В системе развернуто 88 клинических кейсов по 7 ключевым специальностям: от инфаркта миокарда и ТЭЛА до острой кишечной непроходимости и цирроза печени. Все кейсы прошли медицинский аудит и сопоставлены с рубрикатором Минздрава.</a:t>
            </a:r>
          </a:p>
          <a:p>
            <a:r>
              <a:t>Наши артефакты: действующий веб-тренажер, который мы готовы продемонстрировать в браузере прямо сейчас; полный сьют автоматических тестов; реестр клинического ревью и акты пилотных апробаций в СНО кафедры госпитальной терапии СЗГМУ им. Мечникова на выборке более 70 студентов, показавшие рост клинической точности на 35%.»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/>
              <a:t>СЛАЙД 5 | ЦА, СТЕЙКХОЛДЕРЫ </a:t>
            </a:r>
            <a:r>
              <a:rPr dirty="0" err="1"/>
              <a:t>И</a:t>
            </a:r>
            <a:r>
              <a:rPr dirty="0"/>
              <a:t> ПАРТНЕРЫ</a:t>
            </a:r>
          </a:p>
          <a:p>
            <a:r>
              <a:rPr dirty="0"/>
              <a:t>«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нашим</a:t>
            </a:r>
            <a:r>
              <a:rPr dirty="0"/>
              <a:t> </a:t>
            </a:r>
            <a:r>
              <a:rPr dirty="0" err="1"/>
              <a:t>клиентом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партнером</a:t>
            </a:r>
            <a:r>
              <a:rPr dirty="0"/>
              <a:t>?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структуре</a:t>
            </a:r>
            <a:r>
              <a:rPr dirty="0"/>
              <a:t> </a:t>
            </a:r>
            <a:r>
              <a:rPr dirty="0" err="1"/>
              <a:t>продаж</a:t>
            </a:r>
            <a:r>
              <a:rPr dirty="0"/>
              <a:t> 85% </a:t>
            </a:r>
            <a:r>
              <a:rPr dirty="0" err="1"/>
              <a:t>выручки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сегмент</a:t>
            </a:r>
            <a:r>
              <a:rPr dirty="0"/>
              <a:t> B2B </a:t>
            </a:r>
            <a:r>
              <a:rPr dirty="0" err="1"/>
              <a:t>и</a:t>
            </a:r>
            <a:r>
              <a:rPr dirty="0"/>
              <a:t> B2G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медицинские</a:t>
            </a:r>
            <a:r>
              <a:rPr dirty="0"/>
              <a:t> </a:t>
            </a:r>
            <a:r>
              <a:rPr dirty="0" err="1"/>
              <a:t>университеты</a:t>
            </a:r>
            <a:r>
              <a:rPr dirty="0"/>
              <a:t> </a:t>
            </a:r>
            <a:r>
              <a:rPr dirty="0" err="1"/>
              <a:t>Минздрава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Минобрнауки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симуляционные</a:t>
            </a:r>
            <a:r>
              <a:rPr dirty="0"/>
              <a:t> </a:t>
            </a:r>
            <a:r>
              <a:rPr dirty="0" err="1"/>
              <a:t>центры</a:t>
            </a:r>
            <a:r>
              <a:rPr dirty="0"/>
              <a:t>. </a:t>
            </a:r>
            <a:r>
              <a:rPr dirty="0" err="1"/>
              <a:t>Лица</a:t>
            </a:r>
            <a:r>
              <a:rPr dirty="0"/>
              <a:t>, </a:t>
            </a:r>
            <a:r>
              <a:rPr dirty="0" err="1"/>
              <a:t>принимающие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,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проректоры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руководители</a:t>
            </a:r>
            <a:r>
              <a:rPr dirty="0"/>
              <a:t> </a:t>
            </a:r>
            <a:r>
              <a:rPr dirty="0" err="1"/>
              <a:t>аккредитационных</a:t>
            </a:r>
            <a:r>
              <a:rPr dirty="0"/>
              <a:t> </a:t>
            </a:r>
            <a:r>
              <a:rPr dirty="0" err="1"/>
              <a:t>центров</a:t>
            </a:r>
            <a:r>
              <a:rPr dirty="0"/>
              <a:t>.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боль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колоссальные</a:t>
            </a:r>
            <a:r>
              <a:rPr dirty="0"/>
              <a:t> </a:t>
            </a:r>
            <a:r>
              <a:rPr dirty="0" err="1"/>
              <a:t>затраты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зарубежные</a:t>
            </a:r>
            <a:r>
              <a:rPr dirty="0"/>
              <a:t> </a:t>
            </a:r>
            <a:r>
              <a:rPr dirty="0" err="1"/>
              <a:t>манекены</a:t>
            </a:r>
            <a:r>
              <a:rPr dirty="0"/>
              <a:t>, </a:t>
            </a: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европейского</a:t>
            </a:r>
            <a:r>
              <a:rPr dirty="0"/>
              <a:t> </a:t>
            </a:r>
            <a:r>
              <a:rPr dirty="0" err="1"/>
              <a:t>софта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сдать</a:t>
            </a:r>
            <a:r>
              <a:rPr dirty="0"/>
              <a:t> </a:t>
            </a:r>
            <a:r>
              <a:rPr dirty="0" err="1"/>
              <a:t>первичную</a:t>
            </a:r>
            <a:r>
              <a:rPr dirty="0"/>
              <a:t> </a:t>
            </a:r>
            <a:r>
              <a:rPr dirty="0" err="1"/>
              <a:t>аккредитацию</a:t>
            </a:r>
            <a:r>
              <a:rPr dirty="0"/>
              <a:t> </a:t>
            </a:r>
            <a:r>
              <a:rPr dirty="0" err="1"/>
              <a:t>выпускниками</a:t>
            </a:r>
            <a:r>
              <a:rPr dirty="0"/>
              <a:t>.</a:t>
            </a:r>
          </a:p>
          <a:p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сегмент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B2C: </a:t>
            </a:r>
            <a:r>
              <a:rPr dirty="0" err="1"/>
              <a:t>сами</a:t>
            </a:r>
            <a:r>
              <a:rPr dirty="0"/>
              <a:t> </a:t>
            </a:r>
            <a:r>
              <a:rPr dirty="0" err="1"/>
              <a:t>студенты</a:t>
            </a:r>
            <a:r>
              <a:rPr dirty="0"/>
              <a:t> </a:t>
            </a:r>
            <a:r>
              <a:rPr dirty="0" err="1"/>
              <a:t>старших</a:t>
            </a:r>
            <a:r>
              <a:rPr dirty="0"/>
              <a:t> </a:t>
            </a:r>
            <a:r>
              <a:rPr dirty="0" err="1"/>
              <a:t>курсов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ординаторы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готовятся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ОСКЭ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дежурствам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действует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Freemium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подпиской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углубленные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.</a:t>
            </a:r>
          </a:p>
          <a:p>
            <a:r>
              <a:rPr dirty="0" err="1"/>
              <a:t>Наши</a:t>
            </a:r>
            <a:r>
              <a:rPr dirty="0"/>
              <a:t>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партнеры</a:t>
            </a:r>
            <a:r>
              <a:rPr dirty="0"/>
              <a:t>: </a:t>
            </a:r>
            <a:r>
              <a:rPr dirty="0" err="1"/>
              <a:t>во-первых</a:t>
            </a:r>
            <a:r>
              <a:rPr dirty="0"/>
              <a:t>, СЗГМУ </a:t>
            </a:r>
            <a:r>
              <a:rPr dirty="0" err="1"/>
              <a:t>им</a:t>
            </a:r>
            <a:r>
              <a:rPr dirty="0"/>
              <a:t>. </a:t>
            </a:r>
            <a:r>
              <a:rPr dirty="0" err="1"/>
              <a:t>Мечникова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клинический</a:t>
            </a:r>
            <a:r>
              <a:rPr dirty="0"/>
              <a:t> </a:t>
            </a:r>
            <a:r>
              <a:rPr dirty="0" err="1"/>
              <a:t>дом</a:t>
            </a:r>
            <a:r>
              <a:rPr dirty="0"/>
              <a:t>, </a:t>
            </a:r>
            <a:r>
              <a:rPr dirty="0" err="1"/>
              <a:t>предоставивший</a:t>
            </a:r>
            <a:r>
              <a:rPr dirty="0"/>
              <a:t> </a:t>
            </a:r>
            <a:r>
              <a:rPr dirty="0" err="1"/>
              <a:t>кафедры</a:t>
            </a:r>
            <a:r>
              <a:rPr dirty="0"/>
              <a:t> </a:t>
            </a:r>
            <a:r>
              <a:rPr dirty="0" err="1"/>
              <a:t>госпитальной</a:t>
            </a:r>
            <a:r>
              <a:rPr dirty="0"/>
              <a:t> </a:t>
            </a:r>
            <a:r>
              <a:rPr dirty="0" err="1"/>
              <a:t>терапии</a:t>
            </a:r>
            <a:r>
              <a:rPr dirty="0"/>
              <a:t>, </a:t>
            </a:r>
            <a:r>
              <a:rPr dirty="0" err="1"/>
              <a:t>анестезиологии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симуляционный</a:t>
            </a:r>
            <a:r>
              <a:rPr dirty="0"/>
              <a:t> </a:t>
            </a:r>
            <a:r>
              <a:rPr dirty="0" err="1"/>
              <a:t>центр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верификации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пилотных</a:t>
            </a:r>
            <a:r>
              <a:rPr dirty="0"/>
              <a:t> </a:t>
            </a:r>
            <a:r>
              <a:rPr dirty="0" err="1"/>
              <a:t>испытаний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70+ </a:t>
            </a:r>
            <a:r>
              <a:rPr dirty="0" err="1"/>
              <a:t>студентах</a:t>
            </a:r>
            <a:r>
              <a:rPr dirty="0"/>
              <a:t>. </a:t>
            </a:r>
            <a:r>
              <a:rPr dirty="0" err="1"/>
              <a:t>Во-вторых</a:t>
            </a:r>
            <a:r>
              <a:rPr dirty="0"/>
              <a:t>, </a:t>
            </a:r>
            <a:r>
              <a:rPr dirty="0" err="1"/>
              <a:t>СПбГЭТУ</a:t>
            </a:r>
            <a:r>
              <a:rPr dirty="0"/>
              <a:t> «ЛЭТИ»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«</a:t>
            </a: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суверенитет</a:t>
            </a:r>
            <a:r>
              <a:rPr dirty="0"/>
              <a:t>»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трекерский</a:t>
            </a:r>
            <a:r>
              <a:rPr dirty="0"/>
              <a:t> </a:t>
            </a:r>
            <a:r>
              <a:rPr dirty="0" err="1"/>
              <a:t>акселератор</a:t>
            </a:r>
            <a:r>
              <a:rPr dirty="0"/>
              <a:t>, </a:t>
            </a:r>
            <a:r>
              <a:rPr dirty="0" err="1"/>
              <a:t>помогающий</a:t>
            </a:r>
            <a:r>
              <a:rPr dirty="0"/>
              <a:t> </a:t>
            </a:r>
            <a:r>
              <a:rPr dirty="0" err="1"/>
              <a:t>упаковать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HealthNet НТИ. </a:t>
            </a:r>
            <a:r>
              <a:rPr dirty="0" err="1"/>
              <a:t>Главные</a:t>
            </a:r>
            <a:r>
              <a:rPr dirty="0"/>
              <a:t> </a:t>
            </a:r>
            <a:r>
              <a:rPr dirty="0" err="1"/>
              <a:t>регуляторы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Минздрав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Минобрнауки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создали</a:t>
            </a:r>
            <a:r>
              <a:rPr dirty="0"/>
              <a:t> </a:t>
            </a:r>
            <a:r>
              <a:rPr dirty="0" err="1"/>
              <a:t>идеальные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внедрения</a:t>
            </a:r>
            <a:r>
              <a:rPr dirty="0"/>
              <a:t> </a:t>
            </a:r>
            <a:r>
              <a:rPr dirty="0" err="1"/>
              <a:t>отечественного</a:t>
            </a:r>
            <a:r>
              <a:rPr dirty="0"/>
              <a:t> </a:t>
            </a:r>
            <a:r>
              <a:rPr dirty="0" err="1"/>
              <a:t>симулятора</a:t>
            </a:r>
            <a:r>
              <a:rPr dirty="0"/>
              <a:t>.»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СЛАЙД 6 (7:30 - 9:00) | ЦЕННОСТНОЕ ПРЕДЛОЖЕНИЕ </a:t>
            </a:r>
            <a:r>
              <a:rPr dirty="0" err="1"/>
              <a:t>И</a:t>
            </a:r>
            <a:r>
              <a:rPr dirty="0"/>
              <a:t> ТЕХСУВЕРЕНИТЕТ</a:t>
            </a:r>
          </a:p>
          <a:p>
            <a:r>
              <a:rPr dirty="0"/>
              <a:t>«</a:t>
            </a:r>
            <a:r>
              <a:rPr dirty="0" err="1"/>
              <a:t>Наше</a:t>
            </a:r>
            <a:r>
              <a:rPr dirty="0"/>
              <a:t> </a:t>
            </a:r>
            <a:r>
              <a:rPr dirty="0" err="1"/>
              <a:t>ценностное</a:t>
            </a:r>
            <a:r>
              <a:rPr dirty="0"/>
              <a:t> </a:t>
            </a:r>
            <a:r>
              <a:rPr dirty="0" err="1"/>
              <a:t>предложение</a:t>
            </a:r>
            <a:r>
              <a:rPr dirty="0"/>
              <a:t>: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даем</a:t>
            </a:r>
            <a:r>
              <a:rPr dirty="0"/>
              <a:t> </a:t>
            </a:r>
            <a:r>
              <a:rPr dirty="0" err="1"/>
              <a:t>вузам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студентам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безопасно</a:t>
            </a:r>
            <a:r>
              <a:rPr dirty="0"/>
              <a:t> </a:t>
            </a:r>
            <a:r>
              <a:rPr dirty="0" err="1"/>
              <a:t>совершить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возможные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симуляторе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постели</a:t>
            </a:r>
            <a:r>
              <a:rPr dirty="0"/>
              <a:t> </a:t>
            </a:r>
            <a:r>
              <a:rPr dirty="0" err="1"/>
              <a:t>живого</a:t>
            </a:r>
            <a:r>
              <a:rPr dirty="0"/>
              <a:t> </a:t>
            </a:r>
            <a:r>
              <a:rPr dirty="0" err="1"/>
              <a:t>больного</a:t>
            </a:r>
            <a:r>
              <a:rPr dirty="0"/>
              <a:t>, </a:t>
            </a:r>
            <a:r>
              <a:rPr dirty="0" err="1"/>
              <a:t>снижая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часа</a:t>
            </a:r>
            <a:r>
              <a:rPr dirty="0"/>
              <a:t> </a:t>
            </a:r>
            <a:r>
              <a:rPr dirty="0" err="1"/>
              <a:t>клинической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10 </a:t>
            </a:r>
            <a:r>
              <a:rPr dirty="0" err="1"/>
              <a:t>раз</a:t>
            </a:r>
            <a:r>
              <a:rPr dirty="0"/>
              <a:t>.</a:t>
            </a:r>
          </a:p>
          <a:p>
            <a:r>
              <a:rPr dirty="0" err="1"/>
              <a:t>Вклад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суверенитет</a:t>
            </a:r>
            <a:r>
              <a:rPr dirty="0"/>
              <a:t> РФ:</a:t>
            </a:r>
          </a:p>
          <a:p>
            <a:r>
              <a:rPr dirty="0"/>
              <a:t>1. </a:t>
            </a:r>
            <a:r>
              <a:rPr dirty="0" err="1"/>
              <a:t>Полное</a:t>
            </a:r>
            <a:r>
              <a:rPr dirty="0"/>
              <a:t> </a:t>
            </a:r>
            <a:r>
              <a:rPr dirty="0" err="1"/>
              <a:t>импортозамещение</a:t>
            </a:r>
            <a:r>
              <a:rPr dirty="0"/>
              <a:t>: Body Interact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SimX</a:t>
            </a:r>
            <a:r>
              <a:rPr dirty="0"/>
              <a:t> </a:t>
            </a:r>
            <a:r>
              <a:rPr dirty="0" err="1"/>
              <a:t>ушли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РФ, </a:t>
            </a:r>
            <a:r>
              <a:rPr dirty="0" err="1"/>
              <a:t>лицензии</a:t>
            </a:r>
            <a:r>
              <a:rPr dirty="0"/>
              <a:t> </a:t>
            </a:r>
            <a:r>
              <a:rPr dirty="0" err="1"/>
              <a:t>отозваны</a:t>
            </a:r>
            <a:r>
              <a:rPr dirty="0"/>
              <a:t>. </a:t>
            </a:r>
            <a:r>
              <a:rPr dirty="0" err="1"/>
              <a:t>MedSim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100% </a:t>
            </a:r>
            <a:r>
              <a:rPr dirty="0" err="1"/>
              <a:t>независимый</a:t>
            </a:r>
            <a:r>
              <a:rPr dirty="0"/>
              <a:t> </a:t>
            </a:r>
            <a:r>
              <a:rPr dirty="0" err="1"/>
              <a:t>российский</a:t>
            </a:r>
            <a:r>
              <a:rPr dirty="0"/>
              <a:t> </a:t>
            </a:r>
            <a:r>
              <a:rPr dirty="0" err="1"/>
              <a:t>стек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Клинический</a:t>
            </a:r>
            <a:r>
              <a:rPr dirty="0"/>
              <a:t> </a:t>
            </a:r>
            <a:r>
              <a:rPr dirty="0" err="1"/>
              <a:t>суверенитет</a:t>
            </a:r>
            <a:r>
              <a:rPr dirty="0"/>
              <a:t>: </a:t>
            </a:r>
            <a:r>
              <a:rPr dirty="0" err="1"/>
              <a:t>западные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учат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протоколам</a:t>
            </a:r>
            <a:r>
              <a:rPr dirty="0"/>
              <a:t> AHA </a:t>
            </a:r>
            <a:r>
              <a:rPr dirty="0" err="1"/>
              <a:t>и</a:t>
            </a:r>
            <a:r>
              <a:rPr dirty="0"/>
              <a:t> FDA, </a:t>
            </a:r>
            <a:r>
              <a:rPr dirty="0" err="1"/>
              <a:t>используя</a:t>
            </a:r>
            <a:r>
              <a:rPr dirty="0"/>
              <a:t> </a:t>
            </a:r>
            <a:r>
              <a:rPr dirty="0" err="1"/>
              <a:t>препараты</a:t>
            </a:r>
            <a:r>
              <a:rPr dirty="0"/>
              <a:t>, </a:t>
            </a:r>
            <a:r>
              <a:rPr dirty="0" err="1"/>
              <a:t>которых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РФ.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закону</a:t>
            </a:r>
            <a:r>
              <a:rPr dirty="0"/>
              <a:t> 323-ФЗ </a:t>
            </a:r>
            <a:r>
              <a:rPr dirty="0" err="1"/>
              <a:t>врач</a:t>
            </a:r>
            <a:r>
              <a:rPr dirty="0"/>
              <a:t> </a:t>
            </a:r>
            <a:r>
              <a:rPr dirty="0" err="1"/>
              <a:t>обязан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КР </a:t>
            </a:r>
            <a:r>
              <a:rPr dirty="0" err="1"/>
              <a:t>Минздрава</a:t>
            </a:r>
            <a:r>
              <a:rPr dirty="0"/>
              <a:t> </a:t>
            </a:r>
            <a:r>
              <a:rPr dirty="0" err="1"/>
              <a:t>России</a:t>
            </a:r>
            <a:r>
              <a:rPr dirty="0"/>
              <a:t>. </a:t>
            </a:r>
            <a:r>
              <a:rPr dirty="0" err="1"/>
              <a:t>MedSim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единственный</a:t>
            </a:r>
            <a:r>
              <a:rPr dirty="0"/>
              <a:t> </a:t>
            </a:r>
            <a:r>
              <a:rPr dirty="0" err="1"/>
              <a:t>симулятор</a:t>
            </a:r>
            <a:r>
              <a:rPr dirty="0"/>
              <a:t>,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построенный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КР </a:t>
            </a:r>
            <a:r>
              <a:rPr dirty="0" err="1"/>
              <a:t>Минздрава</a:t>
            </a:r>
            <a:r>
              <a:rPr dirty="0"/>
              <a:t> РФ.</a:t>
            </a:r>
          </a:p>
          <a:p>
            <a:r>
              <a:rPr dirty="0"/>
              <a:t>3. </a:t>
            </a:r>
            <a:r>
              <a:rPr dirty="0" err="1"/>
              <a:t>Информационная</a:t>
            </a:r>
            <a:r>
              <a:rPr dirty="0"/>
              <a:t> </a:t>
            </a:r>
            <a:r>
              <a:rPr dirty="0" err="1"/>
              <a:t>безопасность</a:t>
            </a:r>
            <a:r>
              <a:rPr dirty="0"/>
              <a:t>: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защищенном</a:t>
            </a:r>
            <a:r>
              <a:rPr dirty="0"/>
              <a:t> </a:t>
            </a:r>
            <a:r>
              <a:rPr dirty="0" err="1"/>
              <a:t>контуре</a:t>
            </a:r>
            <a:r>
              <a:rPr dirty="0"/>
              <a:t> </a:t>
            </a:r>
            <a:r>
              <a:rPr dirty="0" err="1"/>
              <a:t>вуза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152-ФЗ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зарубежных</a:t>
            </a:r>
            <a:r>
              <a:rPr dirty="0"/>
              <a:t> </a:t>
            </a:r>
            <a:r>
              <a:rPr dirty="0" err="1"/>
              <a:t>облаков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утечки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Экономия</a:t>
            </a:r>
            <a:r>
              <a:rPr dirty="0"/>
              <a:t> </a:t>
            </a:r>
            <a:r>
              <a:rPr dirty="0" err="1"/>
              <a:t>бюджета</a:t>
            </a:r>
            <a:r>
              <a:rPr dirty="0"/>
              <a:t>: </a:t>
            </a: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закупки</a:t>
            </a:r>
            <a:r>
              <a:rPr dirty="0"/>
              <a:t> </a:t>
            </a:r>
            <a:r>
              <a:rPr dirty="0" err="1"/>
              <a:t>манекенов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параллельному</a:t>
            </a:r>
            <a:r>
              <a:rPr dirty="0"/>
              <a:t> </a:t>
            </a:r>
            <a:r>
              <a:rPr dirty="0" err="1"/>
              <a:t>импорту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экономией</a:t>
            </a:r>
            <a:r>
              <a:rPr dirty="0"/>
              <a:t> </a:t>
            </a:r>
            <a:r>
              <a:rPr dirty="0" err="1"/>
              <a:t>десятков</a:t>
            </a:r>
            <a:r>
              <a:rPr dirty="0"/>
              <a:t> </a:t>
            </a:r>
            <a:r>
              <a:rPr dirty="0" err="1"/>
              <a:t>миллионов</a:t>
            </a:r>
            <a:r>
              <a:rPr dirty="0"/>
              <a:t> </a:t>
            </a:r>
            <a:r>
              <a:rPr dirty="0" err="1"/>
              <a:t>рублей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медвуз</a:t>
            </a:r>
            <a:r>
              <a:rPr dirty="0"/>
              <a:t>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4" name="Google Shape;26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683B0-1630-4B46-9FAE-6FA236EE01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1838" y="1854199"/>
            <a:ext cx="5656162" cy="1655763"/>
          </a:xfrm>
        </p:spPr>
        <p:txBody>
          <a:bodyPr anchor="b"/>
          <a:lstStyle>
            <a:lvl1pPr algn="l">
              <a:defRPr sz="6000" b="1">
                <a:solidFill>
                  <a:srgbClr val="27376B"/>
                </a:solidFill>
              </a:defRPr>
            </a:lvl1pPr>
          </a:lstStyle>
          <a:p>
            <a:r>
              <a:rPr lang="ru-RU" dirty="0"/>
              <a:t>Название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53E253-DCDD-9879-32D8-AFDC084F85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11836" y="3602038"/>
            <a:ext cx="5656163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solidFill>
                  <a:srgbClr val="27376B"/>
                </a:solidFill>
                <a:latin typeface="HelveticaNeueCyr" panose="02000503040000020004" pitchFamily="2" charset="-52"/>
              </a:rPr>
              <a:t>Спикер - ФИО</a:t>
            </a:r>
            <a:br>
              <a:rPr lang="ru-RU" dirty="0">
                <a:solidFill>
                  <a:srgbClr val="27376B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7376B"/>
                </a:solidFill>
                <a:latin typeface="HelveticaNeueCyr" panose="02000503040000020004" pitchFamily="2" charset="-52"/>
              </a:rPr>
              <a:t>Трекер проекта - ФИО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D978CD-6C9A-0567-624B-802EB1C4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162350-988B-D298-30C0-20B7ABBF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2862C4-5936-0330-5387-61EB84DE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62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9A8DA-89DF-0044-11AC-46BB826B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926" y="117936"/>
            <a:ext cx="10206873" cy="1078664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81E8D3-81B2-49FC-1A53-8C15D64A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926" y="1825625"/>
            <a:ext cx="10206874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478B7F-0338-4128-DB5E-57D4AC3F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6926" y="6356350"/>
            <a:ext cx="2434474" cy="365125"/>
          </a:xfrm>
        </p:spPr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C62C31-3DAA-B6FB-E5E1-4DA1F4F7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CBB3B1-7BE6-D7C4-1FF6-5A01B31A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B5369F3C-B140-92F4-B54E-1338761EE424}"/>
              </a:ext>
            </a:extLst>
          </p:cNvPr>
          <p:cNvGrpSpPr/>
          <p:nvPr userDrawn="1"/>
        </p:nvGrpSpPr>
        <p:grpSpPr>
          <a:xfrm>
            <a:off x="0" y="97825"/>
            <a:ext cx="1193800" cy="6385807"/>
            <a:chOff x="0" y="-6350"/>
            <a:chExt cx="1193800" cy="6385807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A5F0F21D-F15A-D6B8-3E4C-3647E15C23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8864" r="58007" b="24892"/>
            <a:stretch/>
          </p:blipFill>
          <p:spPr>
            <a:xfrm rot="16200000">
              <a:off x="-1189470" y="1183120"/>
              <a:ext cx="3572740" cy="1193800"/>
            </a:xfrm>
            <a:prstGeom prst="rect">
              <a:avLst/>
            </a:prstGeom>
          </p:spPr>
        </p:pic>
        <p:pic>
          <p:nvPicPr>
            <p:cNvPr id="16" name="Объект 13">
              <a:extLst>
                <a:ext uri="{FF2B5EF4-FFF2-40B4-BE49-F238E27FC236}">
                  <a16:creationId xmlns:a16="http://schemas.microsoft.com/office/drawing/2014/main" id="{912A2968-BC46-5A0A-89D5-4AAE1EE9F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487" y="4269133"/>
              <a:ext cx="772669" cy="772669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200388DE-D507-A201-9DB5-423BD09C3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7999"/>
            <a:stretch/>
          </p:blipFill>
          <p:spPr>
            <a:xfrm>
              <a:off x="105976" y="2652925"/>
              <a:ext cx="969148" cy="53348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71B66306-F6F9-A967-36E8-095966D7D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2793"/>
            <a:stretch/>
          </p:blipFill>
          <p:spPr>
            <a:xfrm>
              <a:off x="84522" y="3293278"/>
              <a:ext cx="990601" cy="76212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4150225-7686-A1FC-034A-A8B5E6BF2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76" y="5255532"/>
              <a:ext cx="1040951" cy="1123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601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0E0BB-4CBC-447E-BCAF-83CFFF77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6C0DB6-6370-E99B-FCEE-1829222EC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2B2876-3F33-179D-069C-37CD1854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D2CBF7-B590-7DD2-7F4B-D058A642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D0172-782C-BC97-55EA-B2CE25FC3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31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4A306-6713-86C1-6FC4-49C54033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86C1E-FA73-334C-ADEC-71587E513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2D8AE2-D7D4-219A-2CE9-71F31A373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CCE500-B9C2-3578-F11B-15F68D49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63B64C-8DE7-0B33-079F-16A48FB3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67595D-0E44-DDE9-60A5-B9279D7E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42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82DB6-E3E5-695E-66DC-D5941AD5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125773-366D-5225-5993-3E7427239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ACD5DB-A333-EB7B-E7DA-253276FC5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CE6DAB-72A7-4AD2-3DBB-C230F2A23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F096A8-4C13-584A-7056-72A6B97B8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481D45-33AE-ADF0-2963-44192662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603D4F-59E8-F542-58ED-62691684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5DF0597-FA30-0D9B-BDED-764CABFE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0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6EDEB-A371-9CDE-924B-67B47A76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9636D5-0D1C-690C-D53E-F8CC0913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C92129A-D364-9668-0B76-B681DD0C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ED3D81-6F59-7F36-F1F3-797DE390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63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8F7573-9C76-DAA8-BB98-687CC88F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2B3B6E-6576-9D9A-3A56-30D83DCB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EAA9E0-F89D-42B3-FAAB-9B0039B5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9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803C2-EFA4-FB44-F638-C733A743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88460-5D4E-B933-6170-415D3D1C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B75A96-7CFE-9532-32AB-91C6B2CEC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2803B0-06AD-020D-122A-56585460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F268F4-2E8A-0795-D485-2AB4406B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BC88A-6D1D-6B62-3BED-B20241D0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44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B5C82-64E8-2B44-87A4-0D471ABE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FE01E47-3590-72DA-1441-325155EEB11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B40B74-48AB-89EE-DC40-6E6B29B8A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FCA6A4-55B4-6181-1C57-FD24A211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0B6CB7-42C1-9434-6E35-730BFD0F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8901C6-A4E5-B440-A1AD-9F0F6D35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83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C3ECA-8410-1AC7-6326-07EDB9F3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946F9C-C446-BAF2-3753-C2C638ECC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7E37FF-218E-6221-625A-09326850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6ED3C-5BE6-CF52-21A5-DF70A45F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33FBE5-1564-3C21-57E6-42CCA501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90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BE17B2-5742-31B9-3183-5F0763F6E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B85E04-AE7C-FC71-F40D-A10620430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8454D2-2911-E13E-E5B1-199AA6B5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9E1C-7297-41DF-B486-B88AF9DE17A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BC18F-B5EB-9FCD-68ED-25854073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1A8EC9-1573-0DD0-E70E-AFD4B987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7A37-F9F2-4DFE-B6D3-9CC5B38B3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2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59E3B-27F2-4C1E-2547-89E9B76A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710170-3F5E-B252-42E0-C93F95C20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BCA4CC-9597-3C0D-4593-CDAFDFDA7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39E1C-7297-41DF-B486-B88AF9DE17A2}" type="datetimeFigureOut">
              <a:rPr lang="ru-RU" smtClean="0"/>
              <a:t>23.10.2026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409D9A-9F07-96FF-6DDF-93BFEBA13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55F17-29A1-D1BD-6640-8DCC4B77F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7A37-F9F2-4DFE-B6D3-9CC5B38B330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8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14.emf"/><Relationship Id="rId7" Type="http://schemas.openxmlformats.org/officeDocument/2006/relationships/image" Target="../media/image4.emf"/><Relationship Id="rId12" Type="http://schemas.openxmlformats.org/officeDocument/2006/relationships/image" Target="../media/image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11" Type="http://schemas.openxmlformats.org/officeDocument/2006/relationships/image" Target="../media/image19.emf"/><Relationship Id="rId5" Type="http://schemas.openxmlformats.org/officeDocument/2006/relationships/image" Target="../media/image2.emf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5166360" y="2359152"/>
            <a:ext cx="5532120" cy="1417320"/>
          </a:xfrm>
        </p:spPr>
        <p:txBody>
          <a:bodyPr anchor="t"/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MedSim</a:t>
            </a:r>
            <a:endParaRPr lang="ru-RU" altLang="en-US" sz="4800" dirty="0">
              <a:sym typeface="+mn-ea"/>
            </a:endParaRPr>
          </a:p>
          <a:p>
            <a:pPr>
              <a:spcAft>
                <a:spcPts val="300"/>
              </a:spcAft>
              <a:defRPr sz="1150" b="1">
                <a:solidFill>
                  <a:srgbClr val="0369A1"/>
                </a:solidFill>
                <a:latin typeface="Trebuchet MS"/>
              </a:defRPr>
            </a:pPr>
            <a:r>
              <a:t>Интерактивный симулятор клинического мышления на основе математического моделирования физиологии и стандартов Минздрава РФ</a:t>
            </a:r>
          </a:p>
          <a:p>
            <a:pPr>
              <a:defRPr sz="950" b="1">
                <a:solidFill>
                  <a:srgbClr val="64748B"/>
                </a:solidFill>
                <a:latin typeface="Trebuchet MS"/>
              </a:defRPr>
            </a:pPr>
            <a:r>
              <a:t>Акселерационная программа СПбГЭТУ «ЛЭТИ» «Технологический суверенитет» (Осень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029968"/>
            <a:ext cx="4389120" cy="256032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00" b="1">
                <a:solidFill>
                  <a:srgbClr val="0369A1"/>
                </a:solidFill>
                <a:latin typeface="Trebuchet MS"/>
              </a:defRPr>
            </a:pPr>
            <a:r>
              <a:t>HEALTHNET НТИ  •  СИМУЛЯЦИОННОЕ ОБУЧЕНИЕ  •  ИМПОРТОЗАМЕЩЕНИЕ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3931920"/>
            <a:ext cx="5532120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04800" rIns="152400" bIns="76200" rtlCol="0" anchor="t"/>
          <a:lstStyle/>
          <a:p>
            <a:pPr algn="ctr">
              <a:spcAft>
                <a:spcPts val="350"/>
              </a:spcAft>
            </a:pPr>
            <a:r>
              <a:rPr sz="850" b="1" dirty="0" err="1">
                <a:solidFill>
                  <a:srgbClr val="64748B"/>
                </a:solidFill>
                <a:latin typeface="Trebuchet MS"/>
              </a:rPr>
              <a:t>Организация-разработчик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: 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ФГБОУ ВО «СЗГМУ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им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. И.И.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Мечникова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»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Минздрава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России</a:t>
            </a:r>
            <a:endParaRPr sz="850" b="0" dirty="0">
              <a:solidFill>
                <a:srgbClr val="0F172A"/>
              </a:solidFill>
              <a:latin typeface="Trebuchet MS"/>
            </a:endParaRPr>
          </a:p>
          <a:p>
            <a:pPr>
              <a:spcAft>
                <a:spcPts val="350"/>
              </a:spcAft>
            </a:pPr>
            <a:r>
              <a:rPr sz="850" b="1" dirty="0" err="1">
                <a:solidFill>
                  <a:srgbClr val="64748B"/>
                </a:solidFill>
                <a:latin typeface="Trebuchet MS"/>
              </a:rPr>
              <a:t>Лидер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64748B"/>
                </a:solidFill>
                <a:latin typeface="Trebuchet MS"/>
              </a:rPr>
              <a:t>стартап-проекта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: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Голощапов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Михаил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(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студент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3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курса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лечебного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факультета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СЗГМУ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им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.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Мечникова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)</a:t>
            </a:r>
          </a:p>
          <a:p>
            <a:pPr>
              <a:spcAft>
                <a:spcPts val="350"/>
              </a:spcAft>
            </a:pPr>
            <a:r>
              <a:rPr sz="850" b="1" dirty="0" err="1">
                <a:solidFill>
                  <a:srgbClr val="64748B"/>
                </a:solidFill>
                <a:latin typeface="Trebuchet MS"/>
              </a:rPr>
              <a:t>Трекер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64748B"/>
                </a:solidFill>
                <a:latin typeface="Trebuchet MS"/>
              </a:rPr>
              <a:t>проекта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: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Кичова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Виктория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(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СПбГЭТУ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«ЛЭТИ»)</a:t>
            </a:r>
          </a:p>
          <a:p>
            <a:pPr>
              <a:spcAft>
                <a:spcPts val="350"/>
              </a:spcAft>
            </a:pPr>
            <a:r>
              <a:rPr sz="850" b="1" dirty="0" err="1">
                <a:solidFill>
                  <a:srgbClr val="64748B"/>
                </a:solidFill>
                <a:latin typeface="Trebuchet MS"/>
              </a:rPr>
              <a:t>Наставник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64748B"/>
                </a:solidFill>
                <a:latin typeface="Trebuchet MS"/>
              </a:rPr>
              <a:t>проекта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: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Расмагина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Ирина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Алексеевна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(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как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Вас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записать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лучше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всего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?</a:t>
            </a:r>
            <a:r>
              <a:rPr lang="ru-RU" sz="850" b="0" dirty="0">
                <a:solidFill>
                  <a:srgbClr val="0F172A"/>
                </a:solidFill>
                <a:latin typeface="Trebuchet MS"/>
              </a:rPr>
              <a:t>)</a:t>
            </a:r>
            <a:endParaRPr sz="850" b="0" dirty="0">
              <a:solidFill>
                <a:srgbClr val="0F172A"/>
              </a:solidFill>
              <a:latin typeface="Trebuchet MS"/>
            </a:endParaRPr>
          </a:p>
          <a:p>
            <a:pPr>
              <a:spcAft>
                <a:spcPts val="350"/>
              </a:spcAft>
            </a:pPr>
            <a:r>
              <a:rPr sz="850" b="1" dirty="0" err="1">
                <a:solidFill>
                  <a:srgbClr val="64748B"/>
                </a:solidFill>
                <a:latin typeface="Trebuchet MS"/>
              </a:rPr>
              <a:t>Куратор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64748B"/>
                </a:solidFill>
                <a:latin typeface="Trebuchet MS"/>
              </a:rPr>
              <a:t>направления</a:t>
            </a:r>
            <a:r>
              <a:rPr sz="850" b="1" dirty="0">
                <a:solidFill>
                  <a:srgbClr val="64748B"/>
                </a:solidFill>
                <a:latin typeface="Trebuchet MS"/>
              </a:rPr>
              <a:t>: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Направление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HealthNet / ИИ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в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медицине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, </a:t>
            </a:r>
            <a:r>
              <a:rPr sz="850" b="0" dirty="0" err="1">
                <a:solidFill>
                  <a:srgbClr val="0F172A"/>
                </a:solidFill>
                <a:latin typeface="Trebuchet MS"/>
              </a:rPr>
              <a:t>СПбГЭТУ</a:t>
            </a:r>
            <a:r>
              <a:rPr sz="850" b="0" dirty="0">
                <a:solidFill>
                  <a:srgbClr val="0F172A"/>
                </a:solidFill>
                <a:latin typeface="Trebuchet MS"/>
              </a:rPr>
              <a:t> «ЛЭТИ»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94376" y="4005072"/>
            <a:ext cx="2011680" cy="201168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50" b="1">
                <a:solidFill>
                  <a:srgbClr val="0369A1"/>
                </a:solidFill>
                <a:latin typeface="Trebuchet MS"/>
              </a:defRPr>
            </a:pPr>
            <a:r>
              <a:t>ПАСПОРТ СТАРТАП-ПРОЕКТА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АКТУАЛЬНОСТЬ И ПРОБЛЕМАТИКА ПРОЕКТА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097280"/>
            <a:ext cx="2999232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57200" rIns="152400" bIns="127000" rtlCol="0" anchor="ctr"/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rPr dirty="0" err="1"/>
              <a:t>ст</a:t>
            </a:r>
            <a:r>
              <a:rPr dirty="0"/>
              <a:t>. 37 ФЗ-323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endParaRPr lang="ru-RU" dirty="0"/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Обязательность</a:t>
            </a:r>
            <a:r>
              <a:rPr dirty="0"/>
              <a:t> КР </a:t>
            </a:r>
            <a:r>
              <a:rPr dirty="0" err="1"/>
              <a:t>Минздрава</a:t>
            </a:r>
            <a:r>
              <a:rPr dirty="0"/>
              <a:t> РФ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Нормативный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переход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Клинические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рекомендации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(КР)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стали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законодательно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обязательными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Врача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оценивают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строго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протоколам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Минздрава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РФ.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Санкционный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вакуум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Полный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уход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европейских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систем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(Body Interact,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SimX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).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Отзыв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лицензий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невозможность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закупки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зарубежного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ПО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медвузах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РФ.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Рынок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HealthNet: 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120+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медицинских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вузов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, 110+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центров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аккредитации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, &gt;350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тыс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обучающихся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Целевой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рынок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симуляторов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lang="ru-RU" sz="900" dirty="0">
                <a:solidFill>
                  <a:srgbClr val="334155"/>
                </a:solidFill>
                <a:latin typeface="Trebuchet MS"/>
              </a:rPr>
              <a:t>–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4.2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млрд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₽/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год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8176" y="1207008"/>
            <a:ext cx="2194560" cy="237744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369A1"/>
                </a:solidFill>
                <a:latin typeface="Trebuchet MS"/>
              </a:defRPr>
            </a:pPr>
            <a:r>
              <a:t>01 / РЕГУЛЯТОРИКА И РЫНОК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097280"/>
            <a:ext cx="2999232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57200" rIns="152400" bIns="127000" rtlCol="0" anchor="ctr"/>
          <a:lstStyle/>
          <a:p>
            <a:pPr algn="ctr">
              <a:defRPr sz="2200" b="1">
                <a:solidFill>
                  <a:srgbClr val="E11D48"/>
                </a:solidFill>
                <a:latin typeface="Trebuchet MS"/>
              </a:defRPr>
            </a:pPr>
            <a:r>
              <a:rPr dirty="0"/>
              <a:t>28% </a:t>
            </a:r>
            <a:r>
              <a:rPr dirty="0" err="1"/>
              <a:t>дефектов</a:t>
            </a:r>
            <a:endParaRPr dirty="0"/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endParaRPr lang="ru-RU" dirty="0"/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Тактические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интернов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1-й </a:t>
            </a:r>
            <a:r>
              <a:rPr dirty="0" err="1"/>
              <a:t>год</a:t>
            </a:r>
            <a:endParaRPr dirty="0"/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«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Книжная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»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медицина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85%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подготовки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клинического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мышления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lang="ru-RU" sz="900" dirty="0">
                <a:solidFill>
                  <a:srgbClr val="334155"/>
                </a:solidFill>
                <a:latin typeface="Trebuchet MS"/>
              </a:rPr>
              <a:t>–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статичные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тесты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без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динамики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ухудшения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больного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цейтнота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цены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ошибки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Деонтологический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барьер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Студентов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нельзя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допускать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к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экстренным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пациентам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ОРИТ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из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соображений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безопасности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врачебной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этики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Синдром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растерянности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Молодые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врачи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испытывают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страх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перед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реальным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пациентом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условиях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цейтнота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(10–15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минут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на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решение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07008"/>
            <a:ext cx="2194560" cy="237744"/>
          </a:xfrm>
          <a:prstGeom prst="roundRect">
            <a:avLst>
              <a:gd name="adj" fmla="val 40000"/>
            </a:avLst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E11D48"/>
                </a:solidFill>
                <a:latin typeface="Trebuchet MS"/>
              </a:defRPr>
            </a:pPr>
            <a:r>
              <a:t>02 / КЛИНИЧЕСКИЙ БАРЬЕР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7808" y="1097280"/>
            <a:ext cx="2999232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57200" rIns="152400" bIns="127000" rtlCol="0" anchor="ctr"/>
          <a:lstStyle/>
          <a:p>
            <a:pPr algn="ctr">
              <a:defRPr sz="2200" b="1">
                <a:solidFill>
                  <a:srgbClr val="D97706"/>
                </a:solidFill>
                <a:latin typeface="Trebuchet MS"/>
              </a:defRPr>
            </a:pPr>
            <a:r>
              <a:rPr dirty="0"/>
              <a:t>25–45 </a:t>
            </a:r>
            <a:r>
              <a:rPr dirty="0" err="1"/>
              <a:t>млн</a:t>
            </a:r>
            <a:r>
              <a:rPr dirty="0"/>
              <a:t> ₽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endParaRPr lang="ru-RU" dirty="0"/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Стоимость</a:t>
            </a:r>
            <a:r>
              <a:rPr dirty="0"/>
              <a:t> 1 </a:t>
            </a:r>
            <a:r>
              <a:rPr dirty="0" err="1"/>
              <a:t>робота-манекена</a:t>
            </a:r>
            <a:r>
              <a:rPr dirty="0"/>
              <a:t> (Laerdal)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Колоссальные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капзатраты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Закупка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роботов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параллельному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импорту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требует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сотен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миллионов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рублей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несет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валютные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риски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«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Бутылочное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горлышко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»: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Аппаратный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центр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пропускает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не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более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5–10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студентов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смену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 90%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студентов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остаются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без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личной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практики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Дороговизна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00" b="1" dirty="0" err="1">
                <a:solidFill>
                  <a:srgbClr val="0F172A"/>
                </a:solidFill>
                <a:latin typeface="Trebuchet MS"/>
              </a:rPr>
              <a:t>владения</a:t>
            </a:r>
            <a:r>
              <a:rPr sz="90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Запчасти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расходные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датчики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ремонт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зарубежных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роботов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заблокированы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обходятся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миллионы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рублей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900" dirty="0" err="1">
                <a:solidFill>
                  <a:srgbClr val="334155"/>
                </a:solidFill>
                <a:latin typeface="Trebuchet MS"/>
              </a:rPr>
              <a:t>ежегодно</a:t>
            </a:r>
            <a:r>
              <a:rPr sz="900" dirty="0">
                <a:solidFill>
                  <a:srgbClr val="334155"/>
                </a:solidFill>
                <a:latin typeface="Trebuchet M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1207008"/>
            <a:ext cx="2194560" cy="237744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D97706"/>
                </a:solidFill>
                <a:latin typeface="Trebuchet MS"/>
              </a:defRPr>
            </a:pPr>
            <a:r>
              <a:t>03 / АППАРАТНЫЙ БАРЬЕР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983480"/>
            <a:ext cx="9326880" cy="1234440"/>
          </a:xfrm>
          <a:prstGeom prst="roundRect">
            <a:avLst>
              <a:gd name="adj" fmla="val 35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369A1"/>
                </a:solidFill>
                <a:latin typeface="Trebuchet MS"/>
              </a:defRPr>
            </a:pPr>
            <a:r>
              <a:rPr dirty="0"/>
              <a:t>ЗАДАЧА ПАРТНЕРА </a:t>
            </a:r>
            <a:r>
              <a:rPr dirty="0" err="1"/>
              <a:t>И</a:t>
            </a:r>
            <a:r>
              <a:rPr dirty="0"/>
              <a:t> КАНОНИЧЕСКАЯ ФОРМУЛА АКСЕЛЕРАТОРА:</a:t>
            </a:r>
          </a:p>
          <a:p>
            <a:r>
              <a:rPr sz="950" dirty="0">
                <a:solidFill>
                  <a:srgbClr val="0F172A"/>
                </a:solidFill>
                <a:latin typeface="Trebuchet MS"/>
              </a:rPr>
              <a:t>«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связи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законодательным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переходом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на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обязательные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КР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Минздрава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РФ (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. 37 ФЗ-323)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уходом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зарубежного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ПО (Body Interact),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дефицит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практики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клинического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мышления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стал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критическим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.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Из-за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дороговизны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импортных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манекенов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(25–45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млн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₽)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медвузы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РФ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не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могут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дать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каждому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студенту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личный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опыт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дежурства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.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MedSim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устраняет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этот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разрыв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,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обеспечивая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100%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охват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персональной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практикой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снижая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затраты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более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чем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10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раз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РЕШЕНИЕ и ТЕХНОЛОГИЧЕСКОЕ ЯДРО ПРОЕКТА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097280"/>
            <a:ext cx="4553712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022600" rIns="152400" bIns="76200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F172A"/>
                </a:solidFill>
                <a:latin typeface="Trebuchet MS"/>
              </a:defRPr>
            </a:pPr>
            <a:r>
              <a:t>4 клинических отделения: ОРИТ • Приёмное • Поликлиника • Стационар</a:t>
            </a:r>
          </a:p>
          <a:p>
            <a:pPr>
              <a:defRPr sz="800">
                <a:solidFill>
                  <a:srgbClr val="64748B"/>
                </a:solidFill>
                <a:latin typeface="Trebuchet MS"/>
              </a:defRPr>
            </a:pPr>
            <a:r>
              <a:t>Сквозная клиническая траектория: от 12-минутной реанимации до суточного обхода и амбулаторной маршрутизации.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8176" y="120700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369A1"/>
                </a:solidFill>
                <a:latin typeface="Trebuchet MS"/>
              </a:defRPr>
            </a:pPr>
            <a:r>
              <a:t>РАБОЧАЯ СТАНЦИЯ ВРАЧА • MEDSIM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536192"/>
            <a:ext cx="429768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16752" y="1097280"/>
            <a:ext cx="459028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55600" rIns="152400" bIns="762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369A1"/>
                </a:solidFill>
                <a:latin typeface="Trebuchet MS"/>
              </a:defRPr>
            </a:pPr>
            <a:r>
              <a:rPr dirty="0"/>
              <a:t>30 </a:t>
            </a:r>
            <a:r>
              <a:rPr dirty="0" err="1"/>
              <a:t>секунд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такт</a:t>
            </a:r>
            <a:r>
              <a:rPr dirty="0"/>
              <a:t> </a:t>
            </a:r>
            <a:r>
              <a:rPr dirty="0" err="1"/>
              <a:t>пересчета</a:t>
            </a:r>
            <a:r>
              <a:rPr dirty="0"/>
              <a:t> </a:t>
            </a:r>
            <a:r>
              <a:rPr dirty="0" err="1"/>
              <a:t>динамики</a:t>
            </a:r>
            <a:r>
              <a:rPr dirty="0"/>
              <a:t> ЖП</a:t>
            </a:r>
            <a:endParaRPr lang="ru-RU" dirty="0"/>
          </a:p>
          <a:p>
            <a:pPr algn="ctr">
              <a:spcAft>
                <a:spcPts val="300"/>
              </a:spcAft>
              <a:defRPr sz="1100" b="1">
                <a:solidFill>
                  <a:srgbClr val="0369A1"/>
                </a:solidFill>
                <a:latin typeface="Trebuchet MS"/>
              </a:defRPr>
            </a:pPr>
            <a:endParaRPr dirty="0"/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Динамическая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физиология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Математическое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моделирование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7 ЖП (АД, ЧСС, SpO2, ЧДД,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темп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ШКГ, SOFA)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реальном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времени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Фармакодинамика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60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препаратов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Учет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времени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начала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(onset),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пика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эффекта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кумуляции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клиренса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Ошибочный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выбор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ведет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шоку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смерти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«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Слепая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»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лаборатория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Студент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сам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выбирает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из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38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методов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оценивает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биохимию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(15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параметров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)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ОАМ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без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подсказок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системы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188720"/>
            <a:ext cx="2377440" cy="219456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369A1"/>
                </a:solidFill>
                <a:latin typeface="Trebuchet MS"/>
              </a:defRPr>
            </a:pPr>
            <a:r>
              <a:t>01 / МАТЕМАТИЧЕСКАЯ ФИЗИОЛОГИЯ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3035808"/>
            <a:ext cx="4590288" cy="185623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30200" rIns="152400" bIns="7620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59669"/>
                </a:solidFill>
                <a:latin typeface="Trebuchet MS"/>
              </a:defRPr>
            </a:pPr>
            <a:r>
              <a:rPr dirty="0"/>
              <a:t>100% КР </a:t>
            </a:r>
            <a:r>
              <a:rPr lang="ru-RU" dirty="0"/>
              <a:t>–</a:t>
            </a:r>
            <a:r>
              <a:rPr dirty="0"/>
              <a:t> 88 </a:t>
            </a:r>
            <a:r>
              <a:rPr dirty="0" err="1"/>
              <a:t>протоколов</a:t>
            </a:r>
            <a:r>
              <a:rPr dirty="0"/>
              <a:t> </a:t>
            </a:r>
            <a:r>
              <a:rPr dirty="0" err="1"/>
              <a:t>cr.minzdrav.gov.ru</a:t>
            </a:r>
            <a:endParaRPr lang="ru-RU" dirty="0"/>
          </a:p>
          <a:p>
            <a:pPr algn="ctr">
              <a:spcAft>
                <a:spcPts val="300"/>
              </a:spcAft>
              <a:defRPr sz="1100" b="1">
                <a:solidFill>
                  <a:srgbClr val="059669"/>
                </a:solidFill>
                <a:latin typeface="Trebuchet MS"/>
              </a:defRPr>
            </a:pPr>
            <a:endParaRPr dirty="0"/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11-точечный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дебрифинг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Автоматический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аудит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диагностической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траектории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пропущенных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находок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полипрагмазии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ятрогенных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ошибок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Критическая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технология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РФ: 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«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Создание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доверенного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отечественного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ПО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моделирование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биосистем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» (HealthNet НТИ).</a:t>
            </a:r>
          </a:p>
          <a:p>
            <a:pPr>
              <a:spcAft>
                <a:spcPts val="2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Суверенный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стек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по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152-ФЗ: 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100%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браузерный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запуск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zero-dependency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зарубежных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серверов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облаков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3108960"/>
            <a:ext cx="2377440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59669"/>
                </a:solidFill>
                <a:latin typeface="Trebuchet MS"/>
              </a:defRPr>
            </a:pPr>
            <a:r>
              <a:t>02 / КРИТИЧЕСКАЯ ТЕХНОЛОГИЯ РФ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983480"/>
            <a:ext cx="9326880" cy="1234440"/>
          </a:xfrm>
          <a:prstGeom prst="roundRect">
            <a:avLst>
              <a:gd name="adj" fmla="val 3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59669"/>
                </a:solidFill>
                <a:latin typeface="Trebuchet MS"/>
              </a:defRPr>
            </a:pPr>
            <a:r>
              <a:rPr dirty="0"/>
              <a:t>КАНОНИЧЕСКАЯ ФОРМУЛИРОВКА РЕШЕНИЯ (ШАБЛОН АКСЕЛЕРАТОРА):</a:t>
            </a:r>
          </a:p>
          <a:p>
            <a:r>
              <a:rPr sz="950" dirty="0">
                <a:solidFill>
                  <a:srgbClr val="0F172A"/>
                </a:solidFill>
                <a:latin typeface="Trebuchet MS"/>
              </a:rPr>
              <a:t>«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Используя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отечественный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математический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детериорационный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движок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динамической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физиологии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алгоритмическую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валидацию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по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КР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Минздрава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РФ,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MedSim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устраняет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дефицит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практики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,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повышая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клиническую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точность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решений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студентов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на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35%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и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сокращая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затраты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медвузов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на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симуляционное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обучение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более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чем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в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 10 </a:t>
            </a:r>
            <a:r>
              <a:rPr sz="950" dirty="0" err="1">
                <a:solidFill>
                  <a:srgbClr val="0F172A"/>
                </a:solidFill>
                <a:latin typeface="Trebuchet MS"/>
              </a:rPr>
              <a:t>раз</a:t>
            </a:r>
            <a:r>
              <a:rPr sz="950" dirty="0">
                <a:solidFill>
                  <a:srgbClr val="0F172A"/>
                </a:solidFill>
                <a:latin typeface="Trebuchet MS"/>
              </a:rPr>
              <a:t>.»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УРОВЕНЬ ГОТОВНОСТИ ТЕХНОЛОГИИ (TRL 5–6)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051560"/>
            <a:ext cx="9326880" cy="621792"/>
          </a:xfrm>
          <a:prstGeom prst="roundRect">
            <a:avLst>
              <a:gd name="adj" fmla="val 3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59669"/>
                </a:solidFill>
                <a:latin typeface="Trebuchet MS"/>
              </a:defRPr>
            </a:pPr>
            <a:r>
              <a:t>ТЕКУЩИЙ УРОВЕНЬ ГОТОВНОСТИ ТЕХНОЛОГИИ: TRL 5 (С ЭЛЕМЕНТАМИ TRL 6)</a:t>
            </a:r>
          </a:p>
          <a:p>
            <a:r>
              <a:rPr sz="900">
                <a:solidFill>
                  <a:srgbClr val="0F172A"/>
                </a:solidFill>
                <a:latin typeface="Trebuchet MS"/>
              </a:rPr>
              <a:t>Полнофункциональный лабораторный образец испытан в релевантной среде (веб-комплекс 4 отделений) • Опытная эксплуатация прототипа на кафедре госпитальной терапии и в СНО СЗГМУ им. Мечникова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9696" y="1764792"/>
            <a:ext cx="2194560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88</a:t>
            </a:r>
          </a:p>
          <a:p>
            <a:pPr>
              <a:defRPr sz="900" b="1">
                <a:solidFill>
                  <a:srgbClr val="0F172A"/>
                </a:solidFill>
                <a:latin typeface="Trebuchet MS"/>
              </a:defRPr>
            </a:pPr>
            <a:r>
              <a:t>Клинических сценариев</a:t>
            </a:r>
          </a:p>
          <a:p>
            <a:pPr>
              <a:defRPr sz="750">
                <a:solidFill>
                  <a:srgbClr val="64748B"/>
                </a:solidFill>
                <a:latin typeface="Trebuchet MS"/>
              </a:defRPr>
            </a:pPr>
            <a:r>
              <a:t>38 ОРИТ • 27 приёмное • 16 поликлиника • 7 стационар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36592" y="1764792"/>
            <a:ext cx="2194560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rPr dirty="0"/>
              <a:t>60 / 38</a:t>
            </a:r>
          </a:p>
          <a:p>
            <a:pPr>
              <a:defRPr sz="900" b="1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Лекарств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диагностик</a:t>
            </a:r>
            <a:endParaRPr dirty="0"/>
          </a:p>
          <a:p>
            <a:pPr>
              <a:defRPr sz="750">
                <a:solidFill>
                  <a:srgbClr val="64748B"/>
                </a:solidFill>
                <a:latin typeface="Trebuchet MS"/>
              </a:defRPr>
            </a:pPr>
            <a:r>
              <a:rPr dirty="0"/>
              <a:t>60 </a:t>
            </a:r>
            <a:r>
              <a:rPr dirty="0" err="1"/>
              <a:t>препаратов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фармакодинамикой</a:t>
            </a:r>
            <a:r>
              <a:rPr dirty="0"/>
              <a:t> • 38 </a:t>
            </a:r>
            <a:r>
              <a:rPr dirty="0" err="1"/>
              <a:t>методов</a:t>
            </a:r>
            <a:r>
              <a:rPr dirty="0"/>
              <a:t> </a:t>
            </a:r>
            <a:r>
              <a:rPr dirty="0" err="1"/>
              <a:t>обследования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232904" y="1755648"/>
            <a:ext cx="2194560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ctr">
              <a:defRPr sz="1800" b="1">
                <a:solidFill>
                  <a:srgbClr val="059669"/>
                </a:solidFill>
                <a:latin typeface="Trebuchet MS"/>
              </a:defRPr>
            </a:pPr>
            <a:r>
              <a:t>100% КР</a:t>
            </a:r>
          </a:p>
          <a:p>
            <a:pPr>
              <a:defRPr sz="900" b="1">
                <a:solidFill>
                  <a:srgbClr val="0F172A"/>
                </a:solidFill>
                <a:latin typeface="Trebuchet MS"/>
              </a:defRPr>
            </a:pPr>
            <a:r>
              <a:t>Стандарты Минздрава РФ</a:t>
            </a:r>
          </a:p>
          <a:p>
            <a:pPr>
              <a:defRPr sz="750">
                <a:solidFill>
                  <a:srgbClr val="64748B"/>
                </a:solidFill>
                <a:latin typeface="Trebuchet MS"/>
              </a:defRPr>
            </a:pPr>
            <a:r>
              <a:t>Полное соответствие рубрикатору cr.minzdrav.gov.ru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779776"/>
            <a:ext cx="4553712" cy="2121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55600" rIns="152400" bIns="101600" rtlCol="0" anchor="ctr"/>
          <a:lstStyle/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Действующий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веб-симулятор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MedSim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Полнофункциональная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кроссплатформенная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рабочая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станция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врача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развернутая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тестовом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стенде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Математическое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ядро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детериорации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Непрерывный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пересчет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витальных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показателей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каждые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30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сек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учетом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фармакодинамики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полиорганной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недостаточности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Инженерный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сьют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верификации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100%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покрытие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авто-валидаторами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20+ e2e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тестов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Playwright, 0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ошибок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формул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,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строгий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клинический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интерфейс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08176" y="2871216"/>
            <a:ext cx="2926080" cy="219456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284C7"/>
                </a:solidFill>
                <a:latin typeface="Trebuchet MS"/>
              </a:defRPr>
            </a:pPr>
            <a:r>
              <a:t>АРТЕФАКТЫ TRL 5 (ЛАБОРАТОРНЫЙ ОБРАЗЕЦ)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2779776"/>
            <a:ext cx="4553712" cy="2121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55600" rIns="152400" bIns="101600" rtlCol="0" anchor="ctr"/>
          <a:lstStyle/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Клиническая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база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испытаний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Кафедра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госпитальной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терапии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СНО СЗГМУ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 И.И.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Мечникова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Минздрава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России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Протоколы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пилотных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апробаций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Успешные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испытания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выборке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из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70+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студентов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старших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курсов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подтвержденным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ростом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точности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диагнозов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на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35%.</a:t>
            </a:r>
          </a:p>
          <a:p>
            <a:pPr>
              <a:spcAft>
                <a:spcPts val="300"/>
              </a:spcAft>
            </a:pPr>
            <a:r>
              <a:rPr sz="850" b="1" dirty="0">
                <a:solidFill>
                  <a:srgbClr val="0F172A"/>
                </a:solidFill>
                <a:latin typeface="Trebuchet MS"/>
              </a:rPr>
              <a:t>•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Официальный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реестр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 </a:t>
            </a:r>
            <a:r>
              <a:rPr sz="850" b="1" dirty="0" err="1">
                <a:solidFill>
                  <a:srgbClr val="0F172A"/>
                </a:solidFill>
                <a:latin typeface="Trebuchet MS"/>
              </a:rPr>
              <a:t>верификации</a:t>
            </a:r>
            <a:r>
              <a:rPr sz="850" b="1" dirty="0">
                <a:solidFill>
                  <a:srgbClr val="0F172A"/>
                </a:solidFill>
                <a:latin typeface="Trebuchet MS"/>
              </a:rPr>
              <a:t>: 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88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клинических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паспортов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сценариев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сопоставлены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с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утвержденными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КР 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Минздрава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 РФ (</a:t>
            </a:r>
            <a:r>
              <a:rPr sz="850" dirty="0" err="1">
                <a:solidFill>
                  <a:srgbClr val="334155"/>
                </a:solidFill>
                <a:latin typeface="Trebuchet MS"/>
              </a:rPr>
              <a:t>cr.minzdrav.gov.ru</a:t>
            </a:r>
            <a:r>
              <a:rPr sz="850" dirty="0">
                <a:solidFill>
                  <a:srgbClr val="334155"/>
                </a:solidFill>
                <a:latin typeface="Trebuchet MS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871216"/>
            <a:ext cx="2926080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800" b="1">
                <a:solidFill>
                  <a:srgbClr val="059669"/>
                </a:solidFill>
                <a:latin typeface="Trebuchet MS"/>
              </a:defRPr>
            </a:pPr>
            <a:r>
              <a:t>АРТЕФАКТЫ TRL 6 (ОПЫТНАЯ ЭКСПЛУАТАЦИЯ)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983480"/>
            <a:ext cx="9326880" cy="12344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64748B"/>
                </a:solidFill>
                <a:latin typeface="Trebuchet MS"/>
              </a:defRPr>
            </a:pPr>
            <a:r>
              <a:t>СООТВЕТСТВИЕ КРИТЕРИЯМ АКСЕЛЕРАТОРА И ГОРИЗОНТ РАЗВИТИЯ TRL: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TRL 1–4 [Завершено]: </a:t>
            </a:r>
            <a:r>
              <a:rPr sz="850">
                <a:solidFill>
                  <a:srgbClr val="334155"/>
                </a:solidFill>
                <a:latin typeface="Trebuchet MS"/>
              </a:rPr>
              <a:t>Концепция, математические модели динамики гемодинамики, лабораторный веб-прототип движка.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TRL 5–6 [ТЕКУЩИЙ СТАТУС]: </a:t>
            </a:r>
            <a:r>
              <a:rPr sz="850">
                <a:solidFill>
                  <a:srgbClr val="334155"/>
                </a:solidFill>
                <a:latin typeface="Trebuchet MS"/>
              </a:rPr>
              <a:t>Полнофункциональная рабочая станция в релевантной среде, 88 клинических сценариев, пилотирование на 70+ студентах.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TRL 7 [Цель акселератора 2026–2027]: </a:t>
            </a:r>
            <a:r>
              <a:rPr sz="850">
                <a:solidFill>
                  <a:srgbClr val="334155"/>
                </a:solidFill>
                <a:latin typeface="Trebuchet MS"/>
              </a:rPr>
              <a:t>Опытно-промышленное внедрение в симуляционные центры 3 медвузов РФ, регистрация программы ЭВМ в Роспатенте.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ЦА и СТЕЙКХОЛДЕРЫ. ПАРТНЕРЫ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1097280"/>
            <a:ext cx="4553712" cy="3017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30200" rIns="152400" bIns="101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F172A"/>
                </a:solidFill>
                <a:latin typeface="Trebuchet MS"/>
              </a:defRPr>
            </a:pPr>
            <a:r>
              <a:t>120+ медицинских вузов, 110+ центров аккредитации, 400+ колледжей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ЛПР (Принимают решение): </a:t>
            </a:r>
            <a:r>
              <a:rPr sz="850">
                <a:solidFill>
                  <a:srgbClr val="334155"/>
                </a:solidFill>
                <a:latin typeface="Trebuchet MS"/>
              </a:rPr>
              <a:t>Проректоры по учебной работе, руководители симуляционно-аттестационных центров, деканы факультетов.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Влияют на закупку: </a:t>
            </a:r>
            <a:r>
              <a:rPr sz="850">
                <a:solidFill>
                  <a:srgbClr val="334155"/>
                </a:solidFill>
                <a:latin typeface="Trebuchet MS"/>
              </a:rPr>
              <a:t>Заведующие кафедрами терапии, анестезиологии, хирургии, преподаватели, актив СНО.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Ключевая ценность: </a:t>
            </a:r>
            <a:r>
              <a:rPr sz="850">
                <a:solidFill>
                  <a:srgbClr val="334155"/>
                </a:solidFill>
                <a:latin typeface="Trebuchet MS"/>
              </a:rPr>
              <a:t>100% импортозамещение (замена Body Interact), выполнение ст. 37 ФЗ-323, подготовка к аккредитации (ОСКЭ), снижение затрат в 10 раз.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Модель монетизации: </a:t>
            </a:r>
            <a:r>
              <a:rPr sz="850">
                <a:solidFill>
                  <a:srgbClr val="334155"/>
                </a:solidFill>
                <a:latin typeface="Trebuchet MS"/>
              </a:rPr>
              <a:t>Корпоративная годовая лицензия на вуз (от 1.2 до 3.5 млн ₽/год) в зависимости от контингента обучающихся.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8176" y="1188720"/>
            <a:ext cx="2286000" cy="219456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50" b="1">
                <a:solidFill>
                  <a:srgbClr val="0284C7"/>
                </a:solidFill>
                <a:latin typeface="Trebuchet MS"/>
              </a:defRPr>
            </a:pPr>
            <a:r>
              <a:t>01 / B2B &amp; B2G: МЕДВУЗЫ И ЦЕНТРЫ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224528"/>
            <a:ext cx="4553712" cy="19933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30200" rIns="152400" bIns="101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F172A"/>
                </a:solidFill>
                <a:latin typeface="Trebuchet MS"/>
              </a:defRPr>
            </a:pPr>
            <a:r>
              <a:t>Студенты 3–6 курсов (лечебное дело, педиатрия), врачи-ординаторы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Профиль и боль: </a:t>
            </a:r>
            <a:r>
              <a:rPr sz="850">
                <a:solidFill>
                  <a:srgbClr val="334155"/>
                </a:solidFill>
                <a:latin typeface="Trebuchet MS"/>
              </a:rPr>
              <a:t>20–27 лет, РФ. Преодоление страха первого самостоятельного дежурства, дефицит практики у постели больного, подготовка к станциям ОСКЭ.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Модель монетизации: </a:t>
            </a:r>
            <a:r>
              <a:rPr sz="850">
                <a:solidFill>
                  <a:srgbClr val="334155"/>
                </a:solidFill>
                <a:latin typeface="Trebuchet MS"/>
              </a:rPr>
              <a:t>Freemium (15 базовых кейсов бесплатно) + PRO-подписка (490–990 ₽/мес за полный банк 88 кейсов, дебрифинг и сертификаты).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8176" y="4315968"/>
            <a:ext cx="2286000" cy="219456"/>
          </a:xfrm>
          <a:prstGeom prst="roundRect">
            <a:avLst>
              <a:gd name="adj" fmla="val 40000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50" b="1">
                <a:solidFill>
                  <a:srgbClr val="0369A1"/>
                </a:solidFill>
                <a:latin typeface="Trebuchet MS"/>
              </a:defRPr>
            </a:pPr>
            <a:r>
              <a:t>02 / B2C: СТУДЕНТЫ И ОРДИНАТОРЫ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1097280"/>
            <a:ext cx="4553712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30200" rIns="152400" bIns="101600" rtlCol="0" anchor="ctr"/>
          <a:lstStyle/>
          <a:p>
            <a:pPr algn="ctr"/>
            <a:endParaRPr/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ФГБОУ ВО «СЗГМУ им. И.И. Мечникова» Минздрава РФ: </a:t>
            </a:r>
            <a:r>
              <a:rPr sz="850">
                <a:solidFill>
                  <a:srgbClr val="334155"/>
                </a:solidFill>
                <a:latin typeface="Trebuchet MS"/>
              </a:rPr>
              <a:t>Клиническая база и академический соорганизатор. Врачебный аудит кейсов профессорами кафедры госпитальной терапии, симуляционный центр, площадка для пилотирования (70+ студентов).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СПбГЭТУ «ЛЭТИ» (Акселератор «Технологический суверенитет»): </a:t>
            </a:r>
            <a:r>
              <a:rPr sz="850">
                <a:solidFill>
                  <a:srgbClr val="334155"/>
                </a:solidFill>
                <a:latin typeface="Trebuchet MS"/>
              </a:rPr>
              <a:t>Технологическая и бизнес-акселерация, трекинг продуктовых гипотез, инженерная IT-экспертиза, упаковка для рынка HealthNet НТИ, вывод на институты развития.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188720"/>
            <a:ext cx="2194560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50" b="1">
                <a:solidFill>
                  <a:srgbClr val="059669"/>
                </a:solidFill>
                <a:latin typeface="Trebuchet MS"/>
              </a:defRPr>
            </a:pPr>
            <a:r>
              <a:t>СТРАТЕГИЧЕСКИЕ ПАРТНЕРЫ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3630168"/>
            <a:ext cx="4553712" cy="25877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30200" rIns="152400" bIns="101600" rtlCol="0" anchor="ctr"/>
          <a:lstStyle/>
          <a:p>
            <a:pPr algn="ctr"/>
            <a:endParaRPr/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Минздрав России (Развивающее влияние): </a:t>
            </a:r>
            <a:r>
              <a:rPr sz="850">
                <a:solidFill>
                  <a:srgbClr val="334155"/>
                </a:solidFill>
                <a:latin typeface="Trebuchet MS"/>
              </a:rPr>
              <a:t>Закрепил обязательность соблюдения КР (ст. 37 ФЗ-323) и периодическую аккредитацию специалистов. Формирует нормативную рамку симуляционного обучения.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Минобрнауки РФ &amp; Фонд содействия инновациям: </a:t>
            </a:r>
            <a:r>
              <a:rPr sz="850">
                <a:solidFill>
                  <a:srgbClr val="334155"/>
                </a:solidFill>
                <a:latin typeface="Trebuchet MS"/>
              </a:rPr>
              <a:t>Финансовая и грантовая поддержка программ технологического суверенитета («Приоритет 2030», гранты «Студенческий стартап» 1 млн ₽).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Trebuchet MS"/>
              </a:rPr>
              <a:t>• Руководство медвузов РФ (Ключевой закупщик): </a:t>
            </a:r>
            <a:r>
              <a:rPr sz="850">
                <a:solidFill>
                  <a:srgbClr val="334155"/>
                </a:solidFill>
                <a:latin typeface="Trebuchet MS"/>
              </a:rPr>
              <a:t>Формируют планы закупок симуляционного ПО. Заинтересованы в снижении издержек на зарубежные комплексы и повышении сдаваемости первичной аккредитации.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721608"/>
            <a:ext cx="2194560" cy="219456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defRPr sz="750" b="1">
                <a:solidFill>
                  <a:srgbClr val="64748B"/>
                </a:solidFill>
                <a:latin typeface="Trebuchet MS"/>
              </a:defRPr>
            </a:pPr>
            <a:r>
              <a:t>КЛЮЧЕВЫЕ СТЕЙКХОЛДЕРЫ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ЦЕННОСТНОЕ ПРЕДЛОЖЕНИЕ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280160" y="1188720"/>
            <a:ext cx="9326880" cy="4754880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  <a:latin typeface="Trebuchet MS"/>
              </a:defRPr>
            </a:pPr>
            <a:r>
              <a:rPr dirty="0"/>
              <a:t>ФОРМУЛА ЦЕННОСТНОГО ПРЕДЛОЖЕНИЯ (ШАБЛОН АКСЕЛЕРАТОРА):</a:t>
            </a:r>
          </a:p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Trebuchet MS"/>
              </a:defRPr>
            </a:pPr>
            <a:r>
              <a:rPr dirty="0"/>
              <a:t>«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интерактивный</a:t>
            </a:r>
            <a:r>
              <a:rPr dirty="0"/>
              <a:t> </a:t>
            </a:r>
            <a:r>
              <a:rPr dirty="0" err="1"/>
              <a:t>симулятор-тренажер</a:t>
            </a:r>
            <a:r>
              <a:rPr dirty="0"/>
              <a:t> </a:t>
            </a:r>
            <a:r>
              <a:rPr dirty="0" err="1"/>
              <a:t>MedSim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медицинским</a:t>
            </a:r>
            <a:r>
              <a:rPr dirty="0"/>
              <a:t> </a:t>
            </a:r>
            <a:r>
              <a:rPr dirty="0" err="1"/>
              <a:t>вузам</a:t>
            </a:r>
            <a:r>
              <a:rPr dirty="0"/>
              <a:t>, </a:t>
            </a:r>
            <a:r>
              <a:rPr dirty="0" err="1"/>
              <a:t>симуляционным</a:t>
            </a:r>
            <a:r>
              <a:rPr dirty="0"/>
              <a:t> </a:t>
            </a:r>
            <a:r>
              <a:rPr dirty="0" err="1"/>
              <a:t>центрам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студентам-медикам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хотят</a:t>
            </a:r>
            <a:r>
              <a:rPr dirty="0"/>
              <a:t> </a:t>
            </a:r>
            <a:r>
              <a:rPr dirty="0" err="1"/>
              <a:t>эффективно</a:t>
            </a:r>
            <a:r>
              <a:rPr dirty="0"/>
              <a:t> </a:t>
            </a:r>
            <a:r>
              <a:rPr dirty="0" err="1"/>
              <a:t>освоить</a:t>
            </a:r>
            <a:r>
              <a:rPr dirty="0"/>
              <a:t> </a:t>
            </a:r>
            <a:r>
              <a:rPr dirty="0" err="1"/>
              <a:t>практические</a:t>
            </a:r>
            <a:r>
              <a:rPr dirty="0"/>
              <a:t> </a:t>
            </a:r>
            <a:r>
              <a:rPr dirty="0" err="1"/>
              <a:t>навыки</a:t>
            </a:r>
            <a:r>
              <a:rPr dirty="0"/>
              <a:t> </a:t>
            </a:r>
            <a:r>
              <a:rPr dirty="0" err="1"/>
              <a:t>экстренной</a:t>
            </a:r>
            <a:r>
              <a:rPr dirty="0"/>
              <a:t> </a:t>
            </a:r>
            <a:r>
              <a:rPr dirty="0" err="1"/>
              <a:t>помощи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подготовиться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аккредитации</a:t>
            </a:r>
            <a:r>
              <a:rPr dirty="0"/>
              <a:t> (ОСКЭ),</a:t>
            </a:r>
          </a:p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тем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погружает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реалистичное</a:t>
            </a:r>
            <a:r>
              <a:rPr dirty="0"/>
              <a:t> </a:t>
            </a:r>
            <a:r>
              <a:rPr dirty="0" err="1"/>
              <a:t>клиническое</a:t>
            </a:r>
            <a:r>
              <a:rPr dirty="0"/>
              <a:t> </a:t>
            </a:r>
            <a:r>
              <a:rPr dirty="0" err="1"/>
              <a:t>дежурство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динамическим</a:t>
            </a:r>
            <a:r>
              <a:rPr dirty="0"/>
              <a:t> </a:t>
            </a:r>
            <a:r>
              <a:rPr dirty="0" err="1"/>
              <a:t>ухудшением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пациента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пошаговым</a:t>
            </a:r>
            <a:r>
              <a:rPr dirty="0"/>
              <a:t> </a:t>
            </a:r>
            <a:r>
              <a:rPr dirty="0" err="1"/>
              <a:t>разбором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стандартам</a:t>
            </a:r>
            <a:r>
              <a:rPr dirty="0"/>
              <a:t> </a:t>
            </a:r>
            <a:r>
              <a:rPr dirty="0" err="1"/>
              <a:t>Минздрава</a:t>
            </a:r>
            <a:r>
              <a:rPr dirty="0"/>
              <a:t> РФ,</a:t>
            </a:r>
          </a:p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Trebuchet MS"/>
              </a:defRPr>
            </a:pP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специалиста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10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сравнению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аппаратными</a:t>
            </a:r>
            <a:r>
              <a:rPr dirty="0"/>
              <a:t> </a:t>
            </a:r>
            <a:r>
              <a:rPr dirty="0" err="1"/>
              <a:t>манекенами</a:t>
            </a:r>
            <a:r>
              <a:rPr dirty="0"/>
              <a:t>,</a:t>
            </a:r>
          </a:p>
          <a:p>
            <a:pPr>
              <a:spcAft>
                <a:spcPts val="400"/>
              </a:spcAft>
              <a:defRPr sz="1000" b="1">
                <a:solidFill>
                  <a:srgbClr val="0369A1"/>
                </a:solidFill>
                <a:latin typeface="Trebuchet MS"/>
              </a:defRPr>
            </a:pPr>
            <a:r>
              <a:rPr dirty="0"/>
              <a:t>(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зарубежных</a:t>
            </a:r>
            <a:r>
              <a:rPr dirty="0"/>
              <a:t> </a:t>
            </a:r>
            <a:r>
              <a:rPr dirty="0" err="1"/>
              <a:t>симуляторов</a:t>
            </a:r>
            <a:r>
              <a:rPr dirty="0"/>
              <a:t> Body Interact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SimX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стоят</a:t>
            </a:r>
            <a:r>
              <a:rPr dirty="0"/>
              <a:t> </a:t>
            </a:r>
            <a:r>
              <a:rPr dirty="0" err="1"/>
              <a:t>миллионы</a:t>
            </a:r>
            <a:r>
              <a:rPr dirty="0"/>
              <a:t> </a:t>
            </a:r>
            <a:r>
              <a:rPr dirty="0" err="1"/>
              <a:t>рублей</a:t>
            </a:r>
            <a:r>
              <a:rPr dirty="0"/>
              <a:t>, </a:t>
            </a:r>
            <a:r>
              <a:rPr dirty="0" err="1"/>
              <a:t>заблокированы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РФ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противоречат</a:t>
            </a:r>
            <a:r>
              <a:rPr dirty="0"/>
              <a:t> </a:t>
            </a:r>
            <a:r>
              <a:rPr dirty="0" err="1"/>
              <a:t>российским</a:t>
            </a:r>
            <a:r>
              <a:rPr dirty="0"/>
              <a:t> </a:t>
            </a:r>
            <a:r>
              <a:rPr dirty="0" err="1"/>
              <a:t>клиническим</a:t>
            </a:r>
            <a:r>
              <a:rPr dirty="0"/>
              <a:t> </a:t>
            </a:r>
            <a:r>
              <a:rPr dirty="0" err="1"/>
              <a:t>рекомендациям</a:t>
            </a:r>
            <a:r>
              <a:rPr dirty="0"/>
              <a:t>).»</a:t>
            </a:r>
          </a:p>
          <a:p>
            <a:pPr>
              <a:spcAft>
                <a:spcPts val="400"/>
              </a:spcAft>
              <a:defRPr sz="800" b="0">
                <a:solidFill>
                  <a:srgbClr val="0F172A"/>
                </a:solidFill>
                <a:latin typeface="Trebuchet MS"/>
              </a:defRPr>
            </a:pPr>
            <a:endParaRPr dirty="0"/>
          </a:p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  <a:latin typeface="Trebuchet MS"/>
              </a:defRPr>
            </a:pPr>
            <a:r>
              <a:rPr dirty="0"/>
              <a:t>КЛЮЧЕВОЙ ELEVATOR PITCH (ОДНА ФРАЗА):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rPr dirty="0"/>
              <a:t>«</a:t>
            </a:r>
            <a:r>
              <a:rPr dirty="0" err="1"/>
              <a:t>MedSim</a:t>
            </a:r>
            <a:r>
              <a:rPr dirty="0"/>
              <a:t> </a:t>
            </a:r>
            <a:r>
              <a:rPr lang="ru-RU" dirty="0"/>
              <a:t>–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тренажер</a:t>
            </a:r>
            <a:r>
              <a:rPr dirty="0"/>
              <a:t> </a:t>
            </a:r>
            <a:r>
              <a:rPr dirty="0" err="1"/>
              <a:t>клинического</a:t>
            </a:r>
            <a:r>
              <a:rPr dirty="0"/>
              <a:t> </a:t>
            </a:r>
            <a:r>
              <a:rPr dirty="0" err="1"/>
              <a:t>мышления</a:t>
            </a:r>
            <a:r>
              <a:rPr dirty="0"/>
              <a:t>, </a:t>
            </a:r>
            <a:r>
              <a:rPr dirty="0" err="1"/>
              <a:t>превращающий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уверенного</a:t>
            </a:r>
            <a:r>
              <a:rPr dirty="0"/>
              <a:t> </a:t>
            </a:r>
            <a:r>
              <a:rPr dirty="0" err="1"/>
              <a:t>врача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встречи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реальным</a:t>
            </a:r>
            <a:r>
              <a:rPr dirty="0"/>
              <a:t> </a:t>
            </a:r>
            <a:r>
              <a:rPr dirty="0" err="1"/>
              <a:t>тяжелым</a:t>
            </a:r>
            <a:r>
              <a:rPr dirty="0"/>
              <a:t> </a:t>
            </a:r>
            <a:r>
              <a:rPr dirty="0" err="1"/>
              <a:t>пациентом</a:t>
            </a:r>
            <a:r>
              <a:rPr dirty="0"/>
              <a:t>.»</a:t>
            </a:r>
          </a:p>
        </p:txBody>
      </p:sp>
      <p:pic>
        <p:nvPicPr>
          <p:cNvPr id="6" name="Picture 2" descr="https://www.pvsm.ru/images/2016/05/11/samaya-bolshaya-bol-investora-nestrukturirovannoe-izlojenie-startapom-svoego-proekta-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85" y="1727835"/>
            <a:ext cx="9959658" cy="4880610"/>
          </a:xfrm>
          <a:prstGeom prst="rect">
            <a:avLst/>
          </a:prstGeom>
          <a:noFill/>
          <a:ln>
            <a:solidFill>
              <a:srgbClr val="05336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0160" y="256032"/>
            <a:ext cx="9326880" cy="749808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КОНКУРЕНТЫ и АНАЛОГИ. РЫНОК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43940" y="1217930"/>
            <a:ext cx="11069955" cy="2107565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spc="-20">
                <a:sym typeface="+mn-ea"/>
              </a:rPr>
              <a:t>Сравните свой продукт с конкурентами (по /функциональным и количественным показателям). </a:t>
            </a:r>
          </a:p>
          <a:p>
            <a:pPr>
              <a:defRPr/>
            </a:pPr>
            <a:r>
              <a:rPr lang="ru-RU" spc="-20">
                <a:sym typeface="+mn-ea"/>
              </a:rPr>
              <a:t>По объему рынка</a:t>
            </a:r>
            <a:endParaRPr lang="ru-RU" spc="-20"/>
          </a:p>
          <a:p>
            <a:pPr>
              <a:defRPr/>
            </a:pPr>
            <a:r>
              <a:rPr lang="ru-RU" spc="-20">
                <a:sym typeface="+mn-ea"/>
              </a:rPr>
              <a:t>В сравнительном анализе указывайте ключевые характеристики для продукта, важные критерии для категории</a:t>
            </a:r>
            <a:endParaRPr lang="ru-RU" spc="-20"/>
          </a:p>
          <a:p>
            <a:pPr>
              <a:defRPr/>
            </a:pPr>
            <a:r>
              <a:rPr lang="ru-RU" spc="-20">
                <a:sym typeface="+mn-ea"/>
              </a:rPr>
              <a:t>Обязательно указывайте название компаний/институтов, страну. </a:t>
            </a:r>
            <a:endParaRPr lang="ru-RU" spc="-20"/>
          </a:p>
          <a:p>
            <a:pPr>
              <a:defRPr/>
            </a:pPr>
            <a:r>
              <a:rPr lang="ru-RU" spc="-20">
                <a:sym typeface="+mn-ea"/>
              </a:rPr>
              <a:t>Укажите уровень локализации и соответстви технологическому суверенитету</a:t>
            </a:r>
            <a:endParaRPr lang="ru-RU" spc="-20"/>
          </a:p>
          <a:p>
            <a:endParaRPr lang="ru-RU" altLang="en-US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80160" y="1371600"/>
          <a:ext cx="10737850" cy="30137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4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491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>
                          <a:latin typeface="Calibri Light" panose="020F0302020204030204" charset="0"/>
                          <a:cs typeface="Calibri Light" panose="020F0302020204030204" charset="0"/>
                        </a:rPr>
                        <a:t>Характеристики продукта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MedSim</a:t>
                      </a:r>
                    </a:p>
                    <a:p>
                      <a:r>
                        <a:t>(СЗГМУ / ЛЭТИ, РФ)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Body Interact</a:t>
                      </a:r>
                    </a:p>
                    <a:p>
                      <a:r>
                        <a:t>(Португалия/США)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Clinical Sense</a:t>
                      </a:r>
                    </a:p>
                    <a:p>
                      <a:r>
                        <a:t>(США)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Манекены Laerdal</a:t>
                      </a:r>
                    </a:p>
                    <a:p>
                      <a:r>
                        <a:t>(Норвегия)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r>
                        <a:t>Соответствие КР Минздрава РФ и ФЗ-323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 (88 кейсов по cr.minzdrav.gov.ru)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 (только гайдлайны США/ЕС)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 (гайдлайны США, FDA)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Частично (зависит от очного тьютора)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65">
                <a:tc>
                  <a:txBody>
                    <a:bodyPr/>
                    <a:lstStyle/>
                    <a:p>
                      <a:r>
                        <a:t>Технологический суверенитет и стоимость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Российский стек, 0 санкционных рисков, веб 24/7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Лицензии заблокированы в РФ, валютный риск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Заблокирован, только базовые квизы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Импорт от 25 млн ₽/комплекс, очереди в центрах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/>
              <a:t>МОДЕЛЬ МОНЕТИЗАЦИИ. БИЗНЕС-МОДЕЛЬ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ym typeface="+mn-ea"/>
              </a:rPr>
              <a:t>Опишите путь коммерциализации Вашего проекта: количественный объем продаж; объем продаж в денежном выражении; кому и сколько планируете продавать, как.</a:t>
            </a:r>
          </a:p>
          <a:p>
            <a:pPr>
              <a:defRPr/>
            </a:pPr>
            <a:r>
              <a:rPr lang="ru-RU" dirty="0">
                <a:sym typeface="+mn-ea"/>
              </a:rPr>
              <a:t>коротко и четко объяснить, по каким каналам будет осуществляться сбыт продукта и по каким каналам будет приходить средства на существование и развитие продукта</a:t>
            </a:r>
            <a:endParaRPr lang="ru-RU" dirty="0"/>
          </a:p>
          <a:p>
            <a:pPr>
              <a:defRPr/>
            </a:pPr>
            <a:br>
              <a:rPr lang="ru-RU">
                <a:sym typeface="+mn-ea"/>
              </a:rPr>
            </a:br>
            <a:r>
              <a:rPr lang="ru-RU">
                <a:sym typeface="+mn-ea"/>
              </a:rPr>
              <a:t>Оцените размер целевого рынка, на котором компания планирует продавать решение в ближайшей перспективе. </a:t>
            </a:r>
          </a:p>
          <a:p>
            <a:pPr>
              <a:defRPr/>
            </a:pPr>
            <a:endParaRPr lang="ru-RU" altLang="en-US">
              <a:sym typeface="+mn-ea"/>
            </a:endParaRPr>
          </a:p>
          <a:p>
            <a:pPr>
              <a:defRPr/>
            </a:pPr>
            <a:endParaRPr lang="ru-RU" altLang="en-US"/>
          </a:p>
          <a:p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ФИНАНСОВАЯ МОДЕЛЬ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dirty="0">
                <a:sym typeface="+mn-ea"/>
              </a:rPr>
              <a:t>Объем финансового обеспечения достаточно указать для первого этапа - дойти до MVP ;</a:t>
            </a:r>
            <a:endParaRPr lang="ru-RU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dirty="0">
                <a:sym typeface="+mn-ea"/>
              </a:rPr>
              <a:t>NPV, </a:t>
            </a:r>
            <a:r>
              <a:rPr lang="ru-RU" dirty="0">
                <a:sym typeface="+mn-ea"/>
              </a:rPr>
              <a:t>Окупаемость;</a:t>
            </a:r>
            <a:endParaRPr lang="ru-RU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dirty="0">
                <a:sym typeface="+mn-ea"/>
              </a:rPr>
              <a:t>Юнит-экономика (</a:t>
            </a:r>
            <a:r>
              <a:rPr lang="en-US" dirty="0">
                <a:sym typeface="+mn-ea"/>
              </a:rPr>
              <a:t>LTV, CAC</a:t>
            </a:r>
            <a:r>
              <a:rPr lang="ru-RU" dirty="0">
                <a:sym typeface="+mn-ea"/>
              </a:rPr>
              <a:t>, С</a:t>
            </a:r>
            <a:r>
              <a:rPr lang="en-US" dirty="0">
                <a:sym typeface="+mn-ea"/>
              </a:rPr>
              <a:t>M </a:t>
            </a:r>
            <a:r>
              <a:rPr lang="ru-RU" dirty="0">
                <a:sym typeface="+mn-ea"/>
              </a:rPr>
              <a:t>и др.)</a:t>
            </a:r>
            <a:endParaRPr lang="ru-RU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ru-RU" dirty="0">
                <a:sym typeface="+mn-ea"/>
              </a:rPr>
              <a:t>Выручка через 1 год, 2 года, 3 года</a:t>
            </a:r>
            <a:endParaRPr lang="ru-RU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dirty="0">
                <a:sym typeface="+mn-ea"/>
              </a:rPr>
              <a:t>IRR </a:t>
            </a:r>
            <a:endParaRPr dirty="0"/>
          </a:p>
          <a:p>
            <a:endParaRPr lang="ru-RU" altLang="en-US"/>
          </a:p>
        </p:txBody>
      </p:sp>
      <p:pic>
        <p:nvPicPr>
          <p:cNvPr id="243" name="Google Shape;243;g275a8c1f4a1_0_3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89295" y="1920213"/>
            <a:ext cx="6108065" cy="4373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ПРОДВИЖЕНИЕ ПРОЕКТА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43940" y="1217930"/>
            <a:ext cx="11069955" cy="555879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1800" b="1" dirty="0">
              <a:sym typeface="+mn-ea"/>
            </a:endParaRPr>
          </a:p>
          <a:p>
            <a:pPr marL="0" indent="0">
              <a:buNone/>
            </a:pPr>
            <a:r>
              <a:rPr lang="ru-RU" sz="1900" b="1" dirty="0">
                <a:sym typeface="+mn-ea"/>
              </a:rPr>
              <a:t>Продвижение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900" b="1" dirty="0">
                <a:sym typeface="+mn-ea"/>
              </a:rPr>
              <a:t>Перечислить каналы коммуникации, характерные хотя бы для одной (основной ЦА-идеальный клиент</a:t>
            </a:r>
            <a:endParaRPr lang="ru-RU" sz="19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900" i="1" dirty="0">
                <a:sym typeface="+mn-ea"/>
              </a:rPr>
              <a:t>(отраслевые конференции. блогеры, </a:t>
            </a:r>
            <a:r>
              <a:rPr lang="ru-RU" sz="1900" i="1" dirty="0" err="1">
                <a:sym typeface="+mn-ea"/>
              </a:rPr>
              <a:t>тг</a:t>
            </a:r>
            <a:r>
              <a:rPr lang="ru-RU" sz="1900" i="1" dirty="0">
                <a:sym typeface="+mn-ea"/>
              </a:rPr>
              <a:t> каналы, новости компании, </a:t>
            </a:r>
            <a:r>
              <a:rPr lang="ru-RU" sz="1900" i="1" dirty="0" err="1">
                <a:sym typeface="+mn-ea"/>
              </a:rPr>
              <a:t>емейл</a:t>
            </a:r>
            <a:r>
              <a:rPr lang="ru-RU" sz="1900" i="1" dirty="0">
                <a:sym typeface="+mn-ea"/>
              </a:rPr>
              <a:t> рассылка,  прямые продажи и </a:t>
            </a:r>
            <a:r>
              <a:rPr lang="ru-RU" sz="1900" i="1" dirty="0" err="1">
                <a:sym typeface="+mn-ea"/>
              </a:rPr>
              <a:t>тд</a:t>
            </a:r>
            <a:r>
              <a:rPr lang="ru-RU" sz="1900" i="1" dirty="0">
                <a:sym typeface="+mn-ea"/>
              </a:rPr>
              <a:t>.)</a:t>
            </a:r>
            <a:endParaRPr lang="ru-RU" sz="1900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ru-RU" sz="1900" i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900" i="1" dirty="0">
                <a:sym typeface="+mn-ea"/>
              </a:rPr>
              <a:t>Использовать как основу путь потребителя (</a:t>
            </a:r>
            <a:r>
              <a:rPr lang="en-US" sz="1900" i="1" dirty="0">
                <a:sym typeface="+mn-ea"/>
              </a:rPr>
              <a:t>CJM</a:t>
            </a:r>
            <a:r>
              <a:rPr lang="ru-RU" sz="1900" i="1" dirty="0">
                <a:sym typeface="+mn-ea"/>
              </a:rPr>
              <a:t>), степень осведомленности о продукте на каждом этапе</a:t>
            </a:r>
            <a:endParaRPr sz="1900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tabLst>
                <a:tab pos="266700" algn="l"/>
              </a:tabLst>
            </a:pPr>
            <a:r>
              <a:rPr lang="ru-RU" sz="1900" b="1" dirty="0">
                <a:sym typeface="+mn-ea"/>
              </a:rPr>
              <a:t>Обозначить коммуникационные форматы для каналов </a:t>
            </a:r>
            <a:endParaRPr lang="ru-RU" sz="19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tabLst>
                <a:tab pos="266700" algn="l"/>
              </a:tabLst>
            </a:pPr>
            <a:r>
              <a:rPr lang="ru-RU" sz="1900" dirty="0">
                <a:sym typeface="+mn-ea"/>
              </a:rPr>
              <a:t>(видео, интервью, статьи в пабликах, блоги на собственном сайте или отраслевых площадках,  демо на выставках, реклама, </a:t>
            </a:r>
            <a:r>
              <a:rPr lang="ru-RU" sz="1900" dirty="0" err="1">
                <a:sym typeface="+mn-ea"/>
              </a:rPr>
              <a:t>смм</a:t>
            </a:r>
            <a:r>
              <a:rPr lang="ru-RU" sz="1900" dirty="0">
                <a:sym typeface="+mn-ea"/>
              </a:rPr>
              <a:t> и </a:t>
            </a:r>
            <a:r>
              <a:rPr lang="ru-RU" sz="1900" dirty="0" err="1">
                <a:sym typeface="+mn-ea"/>
              </a:rPr>
              <a:t>тд</a:t>
            </a:r>
            <a:r>
              <a:rPr lang="ru-RU" sz="1900" dirty="0">
                <a:sym typeface="+mn-ea"/>
              </a:rPr>
              <a:t>)</a:t>
            </a:r>
            <a:endParaRPr lang="ru-RU" sz="19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tabLst>
                <a:tab pos="266700" algn="l"/>
              </a:tabLst>
            </a:pPr>
            <a:endParaRPr lang="ru-RU" sz="19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tabLst>
                <a:tab pos="266700" algn="l"/>
              </a:tabLst>
            </a:pPr>
            <a:endParaRPr lang="ru-RU" sz="19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tabLst>
                <a:tab pos="266700" algn="l"/>
              </a:tabLst>
            </a:pPr>
            <a:r>
              <a:rPr lang="ru-RU" sz="1900" b="1" dirty="0">
                <a:sym typeface="+mn-ea"/>
              </a:rPr>
              <a:t>Визуализировать форматы (возможно с помощью нон-код ресурсов)</a:t>
            </a:r>
            <a:endParaRPr lang="ru-RU" sz="1900" b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900" i="1" dirty="0">
                <a:sym typeface="+mn-ea"/>
              </a:rPr>
              <a:t>каналы коммуникации и форматы выясняются у ЦА по время </a:t>
            </a:r>
            <a:r>
              <a:rPr lang="ru-RU" sz="1900" i="1" dirty="0" err="1">
                <a:sym typeface="+mn-ea"/>
              </a:rPr>
              <a:t>кастдевов</a:t>
            </a:r>
            <a:r>
              <a:rPr lang="ru-RU" sz="1900" i="1" dirty="0">
                <a:sym typeface="+mn-ea"/>
              </a:rPr>
              <a:t> через вопрос - откуда вы получаете новую информацию? как вы получаете информацию о продуктах других </a:t>
            </a:r>
            <a:r>
              <a:rPr lang="ru-RU" sz="1900" i="1" dirty="0" err="1">
                <a:sym typeface="+mn-ea"/>
              </a:rPr>
              <a:t>производетелей</a:t>
            </a:r>
            <a:r>
              <a:rPr lang="ru-RU" sz="1900" i="1" dirty="0">
                <a:sym typeface="+mn-ea"/>
              </a:rPr>
              <a:t>?</a:t>
            </a:r>
            <a:endParaRPr lang="ru-RU" altLang="en-US" sz="1700" i="1" dirty="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>
                <a:sym typeface="+mn-ea"/>
              </a:rPr>
              <a:t>ПЛАНЫ РАЗВИТИЯ. </a:t>
            </a:r>
            <a:r>
              <a:rPr lang="ru-RU" altLang="en-US"/>
              <a:t>ДОРОЖНАЯ КАРТА ПРОЕКТА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/>
              <a:t>Календраный план проекта</a:t>
            </a:r>
          </a:p>
          <a:p>
            <a:r>
              <a:rPr lang="ru-RU" altLang="en-US"/>
              <a:t>Фин цель для первого этапа</a:t>
            </a:r>
          </a:p>
          <a:p>
            <a:r>
              <a:rPr lang="ru-RU" spc="-20">
                <a:sym typeface="+mn-ea"/>
              </a:rPr>
              <a:t>Опишите ваши планы по направлениям: - иследования и разработка;  защита интеллектуальной собственности;  маркетинг, внедрение и продвижение; привлечение инвестиций и др</a:t>
            </a:r>
            <a:endParaRPr lang="ru-RU" altLang="en-US"/>
          </a:p>
        </p:txBody>
      </p:sp>
      <p:pic>
        <p:nvPicPr>
          <p:cNvPr id="288" name="Google Shape;288;g275a8c1f4a1_0_41"/>
          <p:cNvPicPr preferRelativeResize="0"/>
          <p:nvPr/>
        </p:nvPicPr>
        <p:blipFill rotWithShape="1">
          <a:blip r:embed="rId2"/>
          <a:srcRect t="7049" b="17749"/>
          <a:stretch>
            <a:fillRect/>
          </a:stretch>
        </p:blipFill>
        <p:spPr>
          <a:xfrm>
            <a:off x="1294130" y="3441700"/>
            <a:ext cx="8912225" cy="302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ИНВЕСТИЦИОННЫЙ ЗАПРОС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spc="-20">
                <a:sym typeface="+mn-ea"/>
              </a:rPr>
              <a:t>Опишите чего сейчас не хватает проекту для достижения ближайших шагов, обоснуйте.</a:t>
            </a:r>
            <a:br>
              <a:rPr lang="ru-RU" spc="-20">
                <a:sym typeface="+mn-ea"/>
              </a:rPr>
            </a:br>
            <a:r>
              <a:rPr lang="ru-RU" spc="-20">
                <a:sym typeface="+mn-ea"/>
              </a:rPr>
              <a:t>Возможные категории: </a:t>
            </a:r>
            <a:br>
              <a:rPr lang="ru-RU" spc="-20">
                <a:sym typeface="+mn-ea"/>
              </a:rPr>
            </a:br>
            <a:r>
              <a:rPr lang="ru-RU" spc="-20">
                <a:sym typeface="+mn-ea"/>
              </a:rPr>
              <a:t>- компетенции и экспертиза </a:t>
            </a:r>
            <a:br>
              <a:rPr lang="ru-RU" spc="-20">
                <a:sym typeface="+mn-ea"/>
              </a:rPr>
            </a:br>
            <a:r>
              <a:rPr lang="ru-RU" spc="-20">
                <a:sym typeface="+mn-ea"/>
              </a:rPr>
              <a:t>- финансирование</a:t>
            </a:r>
            <a:br>
              <a:rPr lang="ru-RU" spc="-20">
                <a:sym typeface="+mn-ea"/>
              </a:rPr>
            </a:br>
            <a:r>
              <a:rPr lang="ru-RU" spc="-20">
                <a:sym typeface="+mn-ea"/>
              </a:rPr>
              <a:t>- продвижение</a:t>
            </a:r>
            <a:br>
              <a:rPr lang="ru-RU" spc="-20">
                <a:sym typeface="+mn-ea"/>
              </a:rPr>
            </a:br>
            <a:r>
              <a:rPr lang="ru-RU" spc="-20">
                <a:sym typeface="+mn-ea"/>
              </a:rPr>
              <a:t>- нетворкинг и партнерства</a:t>
            </a:r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ru-RU" i="1" dirty="0">
                <a:sym typeface="+mn-ea"/>
              </a:rPr>
              <a:t>Что нужно на текущей стадии проекту поддержка какого рода в каком объеме?</a:t>
            </a:r>
            <a:endParaRPr lang="ru-RU" i="1" dirty="0"/>
          </a:p>
          <a:p>
            <a:pPr>
              <a:defRPr/>
            </a:pPr>
            <a:endParaRPr lang="ru-RU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ЭКСПЕРТНОЕ ЗАКЛЮЧЕНИЕ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>
                <a:sym typeface="+mn-ea"/>
              </a:rPr>
              <a:t>Прикрепите комментарии экспертов по вашему проекту (не менее 5 заключений) – в экспертизе должно быть отражено: теоретическая реализуемость, коммерческий потенциал, соответствие основным научным принципам. </a:t>
            </a:r>
            <a:endParaRPr lang="ru-RU"/>
          </a:p>
          <a:p>
            <a:pPr>
              <a:defRPr/>
            </a:pPr>
            <a:r>
              <a:rPr lang="ru-RU" spc="-20">
                <a:sym typeface="+mn-ea"/>
              </a:rPr>
              <a:t>Укажите ФИО эксперта и ссылку на профиль в ИС «Эксперты НТИ».</a:t>
            </a:r>
            <a:endParaRPr lang="ru-R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/>
              <a:t>ПРОГРЕСС КОМАНДЫ И ПРОЕКТА за ВРЕМЯ АКСЕЛЕРАЦИИ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defTabSz="914400" rtl="0" eaLnBrk="1" fontAlgn="auto" latinLnBrk="0" hangingPunct="1">
              <a:lnSpc>
                <a:spcPct val="90000"/>
              </a:lnSpc>
            </a:pPr>
            <a:r>
              <a:rPr lang="ru-RU" altLang="en-US">
                <a:ea typeface="+mj-ea"/>
                <a:sym typeface="+mn-ea"/>
              </a:rPr>
              <a:t>Опишите чего удалось достигнуть за время акселерации относительно решения, партнерства, проработки бизнес-составляющей.</a:t>
            </a:r>
            <a:endParaRPr lang="ru-RU" altLang="en-US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50340" y="1948815"/>
          <a:ext cx="10346690" cy="43053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7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До участия в акселерационной программе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После участия в акселерационной программе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Уровень готовности технологии -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Уровень готовности технологии - </a:t>
                      </a:r>
                    </a:p>
                    <a:p>
                      <a:pPr>
                        <a:defRPr/>
                      </a:pPr>
                      <a:endParaRPr lang="ru-RU" sz="2000">
                        <a:latin typeface="Calibri Light" panose="020F0302020204030204" charset="0"/>
                        <a:cs typeface="Calibri Light" panose="020F03020202040302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Производственная готовность -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Производственная готовность - </a:t>
                      </a:r>
                    </a:p>
                    <a:p>
                      <a:pPr>
                        <a:defRPr/>
                      </a:pPr>
                      <a:endParaRPr lang="ru-RU" sz="2000">
                        <a:latin typeface="Calibri Light" panose="020F0302020204030204" charset="0"/>
                        <a:cs typeface="Calibri Light" panose="020F03020202040302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Рыночная готовность -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Рыночная готовность -</a:t>
                      </a:r>
                    </a:p>
                    <a:p>
                      <a:pPr>
                        <a:defRPr/>
                      </a:pPr>
                      <a:endParaRPr lang="ru-RU" sz="2000">
                        <a:latin typeface="Calibri Light" panose="020F0302020204030204" charset="0"/>
                        <a:cs typeface="Calibri Light" panose="020F03020202040302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Партнерства -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Партнерства -</a:t>
                      </a:r>
                    </a:p>
                    <a:p>
                      <a:pPr>
                        <a:defRPr/>
                      </a:pPr>
                      <a:endParaRPr lang="ru-RU" sz="2000">
                        <a:latin typeface="Calibri Light" panose="020F0302020204030204" charset="0"/>
                        <a:cs typeface="Calibri Light" panose="020F03020202040302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ru-RU" altLang="en-US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Компетенции команды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ru-RU" altLang="en-US" sz="2000">
                          <a:latin typeface="Calibri Light" panose="020F0302020204030204" charset="0"/>
                          <a:cs typeface="Calibri Light" panose="020F0302020204030204" charset="0"/>
                        </a:rPr>
                        <a:t>Компетенции команды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РИСКИ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КОНТАКТЫ КОМАНДЫ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86B6-C684-D456-8A8E-5EB0B6F6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CE18A-6E81-63D6-AA1E-96C8B9FE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Calibri Light" panose="020F0302020204030204" charset="0"/>
                <a:cs typeface="Calibri Light" panose="020F0302020204030204" charset="0"/>
              </a:rPr>
              <a:t>ПРИЛОЖЕНИЯ</a:t>
            </a:r>
            <a:endParaRPr lang="ru-RU" altLang="en-US" dirty="0"/>
          </a:p>
        </p:txBody>
      </p:sp>
      <p:sp>
        <p:nvSpPr>
          <p:cNvPr id="3" name="Замещающее содержимое 2">
            <a:extLst>
              <a:ext uri="{FF2B5EF4-FFF2-40B4-BE49-F238E27FC236}">
                <a16:creationId xmlns:a16="http://schemas.microsoft.com/office/drawing/2014/main" id="{675F7507-D9D3-4ACE-F962-F07F658C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Артефакты и другие достижения по развитию проекта за период акселерации</a:t>
            </a:r>
          </a:p>
          <a:p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87622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FF0000"/>
                </a:solidFill>
                <a:sym typeface="+mn-ea"/>
              </a:rPr>
              <a:t>Пункты паспорта «Актуальность». Трекинг-сессия №1-2</a:t>
            </a:r>
            <a:endParaRPr lang="ru-RU" altLang="en-US" sz="32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1. </a:t>
            </a:r>
            <a:r>
              <a:rPr lang="ru-RU" i="1" dirty="0">
                <a:sym typeface="+mn-ea"/>
              </a:rPr>
              <a:t>Название стартап проекта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2. </a:t>
            </a:r>
            <a:r>
              <a:rPr lang="ru-RU" i="1" dirty="0">
                <a:sym typeface="+mn-ea"/>
              </a:rPr>
              <a:t>Тема стартап-проекта 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Укажите тему стартап-проекта в рамках темы акселерационной программы, основанной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на Технологических направлениях в соответствии с перечнем критических технологий РФ,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Рынках НТИ и Сквозных технологиях.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3. </a:t>
            </a:r>
            <a:r>
              <a:rPr lang="ru-RU" i="1" dirty="0">
                <a:sym typeface="+mn-ea"/>
              </a:rPr>
              <a:t>Технологическое направление в соответствии с перечнем критических технологий РФ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4. </a:t>
            </a:r>
            <a:r>
              <a:rPr lang="ru-RU" i="1" dirty="0">
                <a:sym typeface="+mn-ea"/>
              </a:rPr>
              <a:t>Рынок НТИ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5. </a:t>
            </a:r>
            <a:r>
              <a:rPr lang="ru-RU" i="1" dirty="0">
                <a:sym typeface="+mn-ea"/>
              </a:rPr>
              <a:t>Сквозные технологии и критические технологии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9. </a:t>
            </a:r>
            <a:r>
              <a:rPr lang="ru-RU" i="1" dirty="0">
                <a:sym typeface="+mn-ea"/>
              </a:rPr>
              <a:t>Какой продукт (товар/ услуга/ устройство/ ПО/ технология/ процесс и т.д.) будет продаваться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Указывается максимально понятно и емко информация о продукте, лежащем в основе стартап-проекта, благодаря реализации которого планируется получать основной дохо</a:t>
            </a:r>
            <a:endParaRPr lang="ru-RU" i="1" dirty="0"/>
          </a:p>
          <a:p>
            <a:pPr marL="2286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i="1" dirty="0">
                <a:sym typeface="+mn-ea"/>
              </a:rPr>
              <a:t>22. </a:t>
            </a:r>
            <a:r>
              <a:rPr lang="ru-RU" i="1" dirty="0">
                <a:sym typeface="+mn-ea"/>
              </a:rPr>
              <a:t>Соответствие проекта научным и(или) научно-техническим приоритетам образовательной организации/региона заявителя/предприятия </a:t>
            </a:r>
            <a:endParaRPr i="1" dirty="0"/>
          </a:p>
          <a:p>
            <a:endParaRPr lang="ru-RU" altLang="en-US"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FF0000"/>
                </a:solidFill>
                <a:sym typeface="+mn-ea"/>
              </a:rPr>
              <a:t>Пункты паспорта «Проблема». Трекинг-сессия №1-2</a:t>
            </a:r>
            <a:endParaRPr lang="ru-RU" altLang="en-US" sz="32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>
                <a:sym typeface="+mn-ea"/>
              </a:rPr>
              <a:t>10. </a:t>
            </a:r>
            <a:r>
              <a:rPr lang="ru-RU" dirty="0">
                <a:sym typeface="+mn-ea"/>
              </a:rPr>
              <a:t>Какую и чью (какого типа потребителей) проблему решает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Указывается максимально и емко информация о проблеме потенциального потребителя, которую (полностью или частично) сможет решить ваш продукт</a:t>
            </a:r>
            <a:endParaRPr i="1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>
                <a:sym typeface="+mn-ea"/>
              </a:rPr>
              <a:t>25. </a:t>
            </a:r>
            <a:r>
              <a:rPr lang="ru-RU" dirty="0">
                <a:sym typeface="+mn-ea"/>
              </a:rPr>
              <a:t>Какая часть проблемы решается (может быть решена)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Необходимо детально раскрыть вопрос, поставленный в пункте 10, описав, какая часть проблемы или вся проблема решается с помощью стартап-проекта</a:t>
            </a:r>
            <a:endParaRPr i="1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>
                <a:sym typeface="+mn-ea"/>
              </a:rPr>
              <a:t>27. </a:t>
            </a:r>
            <a:r>
              <a:rPr lang="ru-RU" dirty="0">
                <a:sym typeface="+mn-ea"/>
              </a:rPr>
              <a:t>Каким способом будет решена проблема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i="1" dirty="0">
                <a:sym typeface="+mn-ea"/>
              </a:rPr>
              <a:t>Необходимо описать детально, как именно ваши товары и услуги помогут потребителям справляться с проблемой</a:t>
            </a:r>
            <a:endParaRPr i="1" dirty="0"/>
          </a:p>
          <a:p>
            <a:endParaRPr lang="ru-RU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1199046" y="75040"/>
            <a:ext cx="10992954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«Решение». Трекинг-сессия №3-4</a:t>
            </a:r>
          </a:p>
        </p:txBody>
      </p:sp>
      <p:sp>
        <p:nvSpPr>
          <p:cNvPr id="189" name="Google Shape;189;p28"/>
          <p:cNvSpPr txBox="1">
            <a:spLocks noGrp="1"/>
          </p:cNvSpPr>
          <p:nvPr>
            <p:ph idx="1"/>
          </p:nvPr>
        </p:nvSpPr>
        <p:spPr>
          <a:xfrm>
            <a:off x="1267860" y="1556109"/>
            <a:ext cx="10815555" cy="28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12. </a:t>
            </a:r>
            <a:r>
              <a:rPr lang="ru-RU" sz="1800" dirty="0"/>
              <a:t>На основе какого научно-технического решения и/или результата будет создан продукт (с указанием использования собственных или существующих разработок) 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Указывается необходимый перечень научно-технических решений с их кратким описанием для создания и выпуска на рынок продукта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17. </a:t>
            </a:r>
            <a:r>
              <a:rPr lang="ru-RU" sz="1800" dirty="0"/>
              <a:t>Основные технические параметры, включая обоснование соответствия идеи/задела тематическому направлению (лоту) 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Необходимо привести основные технические параметры продукта, которые обеспечивают их конкурентоспособность и соответствуют выбранному тематическому направлению</a:t>
            </a:r>
            <a:endParaRPr sz="1800" i="1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>
            <a:spLocks noGrp="1"/>
          </p:cNvSpPr>
          <p:nvPr>
            <p:ph type="title"/>
          </p:nvPr>
        </p:nvSpPr>
        <p:spPr>
          <a:xfrm>
            <a:off x="1035685" y="32385"/>
            <a:ext cx="1083818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«ЦА, стейкхолдеры». Трекинг-сессия №3-4</a:t>
            </a:r>
          </a:p>
        </p:txBody>
      </p:sp>
      <p:sp>
        <p:nvSpPr>
          <p:cNvPr id="164" name="Google Shape;164;p26"/>
          <p:cNvSpPr txBox="1">
            <a:spLocks noGrp="1"/>
          </p:cNvSpPr>
          <p:nvPr>
            <p:ph idx="1"/>
          </p:nvPr>
        </p:nvSpPr>
        <p:spPr>
          <a:xfrm>
            <a:off x="1026160" y="1290320"/>
            <a:ext cx="10829290" cy="546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2400" b="1" dirty="0"/>
              <a:t>11. </a:t>
            </a:r>
            <a:r>
              <a:rPr lang="ru-RU" sz="2400" dirty="0"/>
              <a:t>Потенциальные потребительские сегменты 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Указывается краткая информация о потенциальных потребителях с указанием их характеристик (детализация предусмотрена в части 3 данной таблицы): для юридических лиц – категория бизнеса, отрасль, и т.д.; для физических лиц – демографические данные, вкусы, уровень образования, уровень потребления и т.д.; географическое расположение потребителей, сектор рынка (B2B, B2C и др.)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ru-RU" sz="18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2400" b="1" dirty="0"/>
              <a:t>26. </a:t>
            </a:r>
            <a:r>
              <a:rPr lang="ru-RU" sz="2400" dirty="0"/>
              <a:t>«Держатель» проблемы, его мотивации и возможности решения проблемы с использованием продукции 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Необходимо детально описать взаимосвязь между выявленной проблемой и потенциальным потребителем (см. пункты 9, 10 и 24)</a:t>
            </a:r>
            <a:endParaRPr sz="180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1041400" y="32385"/>
            <a:ext cx="1083119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«Ценностное предложение» </a:t>
            </a:r>
            <a:br>
              <a:rPr lang="ru-RU" sz="3200" b="1" dirty="0">
                <a:solidFill>
                  <a:srgbClr val="FF0000"/>
                </a:solidFill>
              </a:rPr>
            </a:br>
            <a:r>
              <a:rPr lang="ru-RU" sz="3200" b="1" dirty="0">
                <a:solidFill>
                  <a:srgbClr val="FF0000"/>
                </a:solidFill>
              </a:rPr>
              <a:t>Трекинг-сессия №4-5</a:t>
            </a:r>
          </a:p>
        </p:txBody>
      </p:sp>
      <p:sp>
        <p:nvSpPr>
          <p:cNvPr id="206" name="Google Shape;206;p32"/>
          <p:cNvSpPr txBox="1">
            <a:spLocks noGrp="1"/>
          </p:cNvSpPr>
          <p:nvPr>
            <p:ph idx="1"/>
          </p:nvPr>
        </p:nvSpPr>
        <p:spPr>
          <a:xfrm>
            <a:off x="1076325" y="1245870"/>
            <a:ext cx="10797540" cy="5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15</a:t>
            </a:r>
            <a:r>
              <a:rPr lang="ru-RU" dirty="0"/>
              <a:t>. Ценностное предложение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Формулируется объяснение, почему клиенты должны вести дела с вами, а не с вашими конкурентами, и с самого начала делает очевидными преимущества ваших продуктов или услуг</a:t>
            </a:r>
            <a:endParaRPr sz="18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19</a:t>
            </a:r>
            <a:r>
              <a:rPr lang="ru-RU" dirty="0"/>
              <a:t>. Основные конкурентные преимущества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Необходимо привести описание наиболее значимых качественных и количественных характеристик продукта, которые обеспечивают конкурентные преимущества в сравнении с существующими аналогами (сравнение по стоимостным, техническим параметрам и проч.)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20. </a:t>
            </a:r>
            <a:r>
              <a:rPr lang="ru-RU" dirty="0"/>
              <a:t>Научно-техническое решение и/или результаты, необходимые для создания продукции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Описываются технические параметры научно-технических решений/ результатов, указанных пункте 12, подтверждающие/ обосновывающие достижение характеристик продукта, обеспечивающих их конкурентоспособность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sz="1800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1095375" y="85324"/>
            <a:ext cx="1110234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</a:t>
            </a:r>
            <a:r>
              <a:rPr lang="en-US" sz="3200" b="1" dirty="0">
                <a:solidFill>
                  <a:srgbClr val="FF0000"/>
                </a:solidFill>
              </a:rPr>
              <a:t>MVP </a:t>
            </a:r>
            <a:r>
              <a:rPr lang="ru-RU" sz="3200" b="1" dirty="0">
                <a:solidFill>
                  <a:srgbClr val="FF0000"/>
                </a:solidFill>
              </a:rPr>
              <a:t>И КОНЕЧНЫЙ ПРОДУКТ» </a:t>
            </a:r>
            <a:br>
              <a:rPr lang="ru-RU" sz="3200" b="1" dirty="0">
                <a:solidFill>
                  <a:srgbClr val="FF0000"/>
                </a:solidFill>
              </a:rPr>
            </a:br>
            <a:r>
              <a:rPr lang="ru-RU" sz="3200" b="1" dirty="0">
                <a:solidFill>
                  <a:srgbClr val="FF0000"/>
                </a:solidFill>
              </a:rPr>
              <a:t>Трекинг-сессия №3</a:t>
            </a:r>
          </a:p>
        </p:txBody>
      </p:sp>
      <p:sp>
        <p:nvSpPr>
          <p:cNvPr id="198" name="Google Shape;198;p31"/>
          <p:cNvSpPr txBox="1">
            <a:spLocks noGrp="1"/>
          </p:cNvSpPr>
          <p:nvPr>
            <p:ph idx="1"/>
          </p:nvPr>
        </p:nvSpPr>
        <p:spPr>
          <a:xfrm>
            <a:off x="1173480" y="1323671"/>
            <a:ext cx="11094085" cy="3001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Clr>
                <a:schemeClr val="dk1"/>
              </a:buClr>
              <a:buSzPts val="1800"/>
              <a:buNone/>
            </a:pPr>
            <a:r>
              <a:rPr lang="ru-RU" sz="1800" b="1" dirty="0"/>
              <a:t>20. </a:t>
            </a:r>
            <a:r>
              <a:rPr lang="ru-RU" sz="1800" dirty="0"/>
              <a:t>Научно-техническое решение и/или результаты, необходимые для создания продукции </a:t>
            </a:r>
          </a:p>
          <a:p>
            <a:pPr marL="0" lvl="0" indent="0">
              <a:buClr>
                <a:schemeClr val="dk1"/>
              </a:buClr>
              <a:buSzPts val="1800"/>
              <a:buNone/>
            </a:pPr>
            <a:r>
              <a:rPr lang="ru-RU" i="1" dirty="0"/>
              <a:t>Описываются технические параметры научно-технических решений/ результатов, указанных пункте 12, подтверждающие/ обосновывающие достижение характеристик продукта, обеспечивающих их конкурентоспособность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1045845" y="32385"/>
            <a:ext cx="1079119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«Рынок и анализ конкурентов». </a:t>
            </a:r>
            <a:br>
              <a:rPr lang="ru-RU" sz="3200" b="1" dirty="0">
                <a:solidFill>
                  <a:srgbClr val="FF0000"/>
                </a:solidFill>
              </a:rPr>
            </a:br>
            <a:r>
              <a:rPr lang="ru-RU" sz="3200" b="1" dirty="0">
                <a:solidFill>
                  <a:srgbClr val="FF0000"/>
                </a:solidFill>
              </a:rPr>
              <a:t>Трекинг-сессия №5</a:t>
            </a:r>
          </a:p>
        </p:txBody>
      </p:sp>
      <p:sp>
        <p:nvSpPr>
          <p:cNvPr id="224" name="Google Shape;224;p30"/>
          <p:cNvSpPr txBox="1">
            <a:spLocks noGrp="1"/>
          </p:cNvSpPr>
          <p:nvPr>
            <p:ph idx="1"/>
          </p:nvPr>
        </p:nvSpPr>
        <p:spPr>
          <a:xfrm>
            <a:off x="1049020" y="1245870"/>
            <a:ext cx="11075035" cy="5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14. Основные конкуренты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dirty="0"/>
              <a:t>Кратко указываются основные конкуренты (не менее 5): прямые; косвенные; в РФ, МИР</a:t>
            </a:r>
            <a:endParaRPr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1063625" y="32385"/>
            <a:ext cx="1080135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«Бизнес-модель». Трекинг-сессия №6-7</a:t>
            </a:r>
          </a:p>
        </p:txBody>
      </p:sp>
      <p:sp>
        <p:nvSpPr>
          <p:cNvPr id="251" name="Google Shape;251;p34"/>
          <p:cNvSpPr txBox="1">
            <a:spLocks noGrp="1"/>
          </p:cNvSpPr>
          <p:nvPr>
            <p:ph idx="1"/>
          </p:nvPr>
        </p:nvSpPr>
        <p:spPr>
          <a:xfrm>
            <a:off x="1054100" y="1016000"/>
            <a:ext cx="11103610" cy="587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13. </a:t>
            </a:r>
            <a:r>
              <a:rPr lang="ru-RU" sz="1800" dirty="0"/>
              <a:t>Бизнес-модель 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400" i="1" dirty="0"/>
              <a:t>Указывается кратко описание способа, который планируется использовать для создания ценности и получения прибыли, в том числе, как планируется выстраивать отношения с потребителями и поставщиками, способы привлечения финансовых и иных ресурсов, какие каналы продвижения и сбыта продукта планируется использовать и развивать, и т.д.</a:t>
            </a:r>
            <a:endParaRPr sz="1400" i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Arial" panose="020B0604020202020204" pitchFamily="34" charset="0"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16.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Обоснование реализуемости (устойчивости) бизнеса (конкурентные преимущества (включая наличие уникальных РИД, действующих индустриальных партнеров, доступ к ограниченным ресурсам и т.д.); дефицит, дешевизна, уникальность и т.п.)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Arial" panose="020B0604020202020204" pitchFamily="34" charset="0"/>
              <a:buNone/>
              <a:defRPr/>
            </a:pP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Приведите аргументы в пользу реализуемости бизнес-идеи, в чем ее полезность и востребованность продукта по сравнению с другими продуктами на рынке, чем обосновывается потенциальная прибыльность бизнеса, насколько будет бизнес устойчивым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Arial" panose="020B0604020202020204" pitchFamily="34" charset="0"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18.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Организационные, производственные и финансовые параметры бизнеса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Arial" panose="020B0604020202020204" pitchFamily="34" charset="0"/>
              <a:buNone/>
              <a:defRPr/>
            </a:pP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Приводится видение основателя (-лей) стартапа в части выстраивания внутренних процессов организации бизнеса, включая партнерские возможности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 typeface="Arial" panose="020B0604020202020204" pitchFamily="34" charset="0"/>
              <a:buNone/>
              <a:defRPr/>
            </a:pP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50" charset="0"/>
                <a:ea typeface="+mn-ea"/>
                <a:cs typeface="+mn-cs"/>
              </a:rPr>
              <a:t>Это не про идею, не про продукт, а про реализиуемость на деле, на возможность налаживания производства. Какой контекст и какой шанс выжить?</a:t>
            </a:r>
            <a:endParaRPr lang="ru-RU" sz="18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28</a:t>
            </a:r>
            <a:r>
              <a:rPr lang="ru-RU" sz="1800" dirty="0"/>
              <a:t>. Оценка потенциала «рынка» и рентабельности бизнеса 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400" dirty="0"/>
              <a:t>Необходимо привести кратко обоснование сегмента и доли рынка, потенциальные возможности для масштабирования бизнеса, а также детально раскрыть информацию, указанную в пункте 7.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-3175" y="-11430"/>
            <a:ext cx="1098550" cy="6569075"/>
            <a:chOff x="-5" y="-18"/>
            <a:chExt cx="1730" cy="10345"/>
          </a:xfrm>
        </p:grpSpPr>
        <p:pic>
          <p:nvPicPr>
            <p:cNvPr id="3" name="Рисунок 4"/>
            <p:cNvPicPr>
              <a:picLocks noChangeAspect="1"/>
            </p:cNvPicPr>
            <p:nvPr/>
          </p:nvPicPr>
          <p:blipFill rotWithShape="1">
            <a:blip r:embed="rId3"/>
            <a:srcRect r="46487"/>
            <a:stretch>
              <a:fillRect/>
            </a:stretch>
          </p:blipFill>
          <p:spPr>
            <a:xfrm>
              <a:off x="171" y="4448"/>
              <a:ext cx="1465" cy="886"/>
            </a:xfrm>
            <a:prstGeom prst="rect">
              <a:avLst/>
            </a:prstGeom>
          </p:spPr>
        </p:pic>
        <p:pic>
          <p:nvPicPr>
            <p:cNvPr id="10" name="Рисунок 5"/>
            <p:cNvPicPr>
              <a:picLocks noChangeAspect="1"/>
            </p:cNvPicPr>
            <p:nvPr/>
          </p:nvPicPr>
          <p:blipFill rotWithShape="1">
            <a:blip r:embed="rId3"/>
            <a:srcRect l="58319"/>
            <a:stretch>
              <a:fillRect/>
            </a:stretch>
          </p:blipFill>
          <p:spPr>
            <a:xfrm>
              <a:off x="47" y="5716"/>
              <a:ext cx="1630" cy="1266"/>
            </a:xfrm>
            <a:prstGeom prst="rect">
              <a:avLst/>
            </a:prstGeom>
          </p:spPr>
        </p:pic>
        <p:pic>
          <p:nvPicPr>
            <p:cNvPr id="12" name="Рисунок 6"/>
            <p:cNvPicPr>
              <a:picLocks noChangeAspect="1"/>
            </p:cNvPicPr>
            <p:nvPr/>
          </p:nvPicPr>
          <p:blipFill rotWithShape="1">
            <a:blip r:embed="rId4"/>
            <a:srcRect l="3408" r="75099"/>
            <a:stretch>
              <a:fillRect/>
            </a:stretch>
          </p:blipFill>
          <p:spPr>
            <a:xfrm>
              <a:off x="-5" y="-18"/>
              <a:ext cx="1730" cy="4143"/>
            </a:xfrm>
            <a:prstGeom prst="rect">
              <a:avLst/>
            </a:prstGeom>
          </p:spPr>
        </p:pic>
        <p:pic>
          <p:nvPicPr>
            <p:cNvPr id="13" name="Рисунок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" y="7200"/>
              <a:ext cx="1217" cy="1223"/>
            </a:xfrm>
            <a:prstGeom prst="rect">
              <a:avLst/>
            </a:prstGeom>
          </p:spPr>
        </p:pic>
        <p:pic>
          <p:nvPicPr>
            <p:cNvPr id="14" name="Рисунок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2" y="8810"/>
              <a:ext cx="1494" cy="15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>
            <a:spLocks noGrp="1"/>
          </p:cNvSpPr>
          <p:nvPr>
            <p:ph type="title"/>
          </p:nvPr>
        </p:nvSpPr>
        <p:spPr>
          <a:xfrm>
            <a:off x="1064260" y="32385"/>
            <a:ext cx="1105916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«Стратегия продвижения». Трекинг-сессия №7-8</a:t>
            </a:r>
          </a:p>
        </p:txBody>
      </p:sp>
      <p:sp>
        <p:nvSpPr>
          <p:cNvPr id="268" name="Google Shape;268;p36"/>
          <p:cNvSpPr txBox="1">
            <a:spLocks noGrp="1"/>
          </p:cNvSpPr>
          <p:nvPr>
            <p:ph idx="1"/>
          </p:nvPr>
        </p:nvSpPr>
        <p:spPr>
          <a:xfrm>
            <a:off x="1022350" y="1245870"/>
            <a:ext cx="11101070" cy="5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23</a:t>
            </a:r>
            <a:r>
              <a:rPr lang="ru-RU" dirty="0"/>
              <a:t>. Каналы продвижения будущей технологии/услуги/продукта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Необходимо указать, какую маркетинговую стратегию планируется применять, привести кратко аргументы в пользу выбора тех или иных каналов продвижения</a:t>
            </a:r>
            <a:endParaRPr sz="18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b="1" dirty="0"/>
              <a:t>24. </a:t>
            </a:r>
            <a:r>
              <a:rPr lang="ru-RU" dirty="0"/>
              <a:t>Каналы сбыта будущего продукта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i="1" dirty="0"/>
              <a:t>Указать какие каналы сбыта планируется использовать для реализации продукта и дать кратко обоснование выбора</a:t>
            </a:r>
            <a:endParaRPr sz="1800" i="1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9674352" y="0"/>
            <a:ext cx="251764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  <a:sym typeface="Calibri" panose="020F0502020204030204"/>
            </a:endParaRPr>
          </a:p>
        </p:txBody>
      </p:sp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1061085" y="32385"/>
            <a:ext cx="1106297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Пункты паспорта «Команда проекта». </a:t>
            </a:r>
            <a:r>
              <a:rPr lang="ru-RU" sz="3200" dirty="0">
                <a:solidFill>
                  <a:srgbClr val="FF0000"/>
                </a:solidFill>
                <a:sym typeface="+mn-ea"/>
              </a:rPr>
              <a:t>Трекинг-сессия №7-8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126" name="Google Shape;126;p22"/>
          <p:cNvSpPr txBox="1">
            <a:spLocks noGrp="1"/>
          </p:cNvSpPr>
          <p:nvPr>
            <p:ph idx="1"/>
          </p:nvPr>
        </p:nvSpPr>
        <p:spPr>
          <a:xfrm>
            <a:off x="1094740" y="1313815"/>
            <a:ext cx="10972799" cy="188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1" indent="0">
              <a:buClr>
                <a:schemeClr val="dk1"/>
              </a:buClr>
              <a:buSzPts val="1800"/>
              <a:buNone/>
            </a:pPr>
            <a:r>
              <a:rPr lang="ru-RU" sz="3300" b="1" dirty="0"/>
              <a:t>Раздел паспорта: «</a:t>
            </a:r>
            <a:r>
              <a:rPr lang="ru-RU" sz="3300" b="1" dirty="0">
                <a:solidFill>
                  <a:srgbClr val="FF0000"/>
                </a:solidFill>
              </a:rPr>
              <a:t>Информация о лидере и участниках стартап-проекта</a:t>
            </a:r>
            <a:r>
              <a:rPr lang="ru-RU" sz="3300" b="1" dirty="0"/>
              <a:t>»</a:t>
            </a:r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ru-RU" sz="1800" b="1" dirty="0"/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6</a:t>
            </a:r>
            <a:r>
              <a:rPr lang="ru-RU" sz="1800" dirty="0"/>
              <a:t>. Лидер </a:t>
            </a:r>
            <a:r>
              <a:rPr lang="ru-RU" sz="1800" dirty="0" err="1"/>
              <a:t>стартап</a:t>
            </a:r>
            <a:r>
              <a:rPr lang="ru-RU" sz="1800" dirty="0"/>
              <a:t>-проекта</a:t>
            </a:r>
            <a:endParaRPr sz="1800" dirty="0"/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ru-RU" sz="1800" dirty="0"/>
          </a:p>
          <a:p>
            <a:pPr marL="0" lvl="1" indent="0">
              <a:buNone/>
            </a:pPr>
            <a:r>
              <a:rPr lang="ru-RU" sz="1800" b="1" dirty="0"/>
              <a:t>7</a:t>
            </a:r>
            <a:r>
              <a:rPr lang="ru-RU" sz="1800" dirty="0"/>
              <a:t>. Команда </a:t>
            </a:r>
            <a:r>
              <a:rPr lang="ru-RU" sz="1800" dirty="0" err="1"/>
              <a:t>стартап</a:t>
            </a:r>
            <a:r>
              <a:rPr lang="ru-RU" sz="1800" dirty="0"/>
              <a:t>-проекта (участники </a:t>
            </a:r>
            <a:r>
              <a:rPr lang="ru-RU" sz="1800" dirty="0" err="1"/>
              <a:t>стартап</a:t>
            </a:r>
            <a:r>
              <a:rPr lang="ru-RU" sz="1800" dirty="0"/>
              <a:t>-проекта, которые работают в рамках акселерационной программы) </a:t>
            </a:r>
          </a:p>
          <a:p>
            <a:pPr marL="457200" lvl="1" indent="0">
              <a:buNone/>
            </a:pPr>
            <a:endParaRPr lang="ru-RU" sz="1800"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ru-RU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1069975" y="32385"/>
            <a:ext cx="11054080" cy="117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ru-RU" sz="3200" b="1" dirty="0">
                <a:solidFill>
                  <a:srgbClr val="FF0000"/>
                </a:solidFill>
              </a:rPr>
              <a:t>Текущий статус проекта, дорожная карта проекта и призыв к действию. </a:t>
            </a:r>
            <a:r>
              <a:rPr lang="ru-RU" sz="3200" b="1" dirty="0">
                <a:solidFill>
                  <a:srgbClr val="FF0000"/>
                </a:solidFill>
                <a:sym typeface="+mn-ea"/>
              </a:rPr>
              <a:t>Трекинг-сессия №6-7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126" name="Google Shape;126;p22"/>
          <p:cNvSpPr txBox="1">
            <a:spLocks noGrp="1"/>
          </p:cNvSpPr>
          <p:nvPr>
            <p:ph idx="1"/>
          </p:nvPr>
        </p:nvSpPr>
        <p:spPr>
          <a:xfrm>
            <a:off x="1203960" y="1339173"/>
            <a:ext cx="10842211" cy="263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ru-RU" sz="2000" b="1" dirty="0"/>
              <a:t>21. «Задел». Уровень готовности продукта TRL </a:t>
            </a:r>
          </a:p>
          <a:p>
            <a:pPr marL="0" lvl="0" indent="0" algn="just">
              <a:buClr>
                <a:schemeClr val="dk1"/>
              </a:buClr>
              <a:buSzPts val="1800"/>
              <a:buNone/>
            </a:pPr>
            <a:r>
              <a:rPr lang="ru-RU" sz="2000" i="1" dirty="0"/>
              <a:t>Необходимо указать максимально емко и кратко, насколько проработан стартап-проект по итогам прохождения акселерационной программы (организационные, кадровые, материальные и др.), позволяющие максимально эффективно развивать стартап дальше</a:t>
            </a:r>
          </a:p>
          <a:p>
            <a:pPr marL="0" lvl="0" indent="0" algn="just">
              <a:buClr>
                <a:schemeClr val="dk1"/>
              </a:buClr>
              <a:buSzPts val="1800"/>
              <a:buNone/>
            </a:pPr>
            <a:endParaRPr lang="ru-RU" sz="2000" b="1" i="1" dirty="0"/>
          </a:p>
          <a:p>
            <a:pPr marL="0" lvl="0" indent="0" algn="just">
              <a:buClr>
                <a:schemeClr val="dk1"/>
              </a:buClr>
              <a:buSzPts val="1800"/>
              <a:buNone/>
            </a:pPr>
            <a:r>
              <a:rPr lang="ru-RU" sz="2000" b="1" dirty="0"/>
              <a:t>29.  План дальнейшего развития стартап проекта</a:t>
            </a:r>
            <a:endParaRPr sz="2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1129182" y="77746"/>
            <a:ext cx="10971378" cy="12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"/>
              <a:buNone/>
            </a:pPr>
            <a:r>
              <a:rPr lang="ru-RU" sz="4800" b="1" dirty="0">
                <a:latin typeface="Calibri Light" panose="020F0302020204030204" charset="0"/>
                <a:cs typeface="Calibri Light" panose="020F0302020204030204" charset="0"/>
              </a:rPr>
              <a:t>ПРИЛОЖЕНИЕ. ВИЗУАЛЬНЫЕ ЭЛЕМЕНТЫ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7922">
            <a:off x="1302149" y="2047875"/>
            <a:ext cx="1099815" cy="114299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72649">
            <a:off x="2676123" y="2045025"/>
            <a:ext cx="992429" cy="11486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58776">
            <a:off x="3858892" y="1786656"/>
            <a:ext cx="2402870" cy="20756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665483"/>
            <a:ext cx="2682909" cy="23661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621" y="3167375"/>
            <a:ext cx="3952518" cy="113225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5554" y="4873191"/>
            <a:ext cx="4449162" cy="144134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9">
            <a:lum bright="4000" contrast="-8000"/>
          </a:blip>
          <a:stretch>
            <a:fillRect/>
          </a:stretch>
        </p:blipFill>
        <p:spPr>
          <a:xfrm>
            <a:off x="8959967" y="2264035"/>
            <a:ext cx="2425374" cy="1169027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095375" y="4238627"/>
            <a:ext cx="11096625" cy="2630804"/>
          </a:xfrm>
          <a:prstGeom prst="rect">
            <a:avLst/>
          </a:prstGeom>
          <a:solidFill>
            <a:srgbClr val="2737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9777" y="4888064"/>
            <a:ext cx="3565120" cy="1154955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0213" y="4888064"/>
            <a:ext cx="1094503" cy="115495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079358">
            <a:off x="6768241" y="4895588"/>
            <a:ext cx="1357557" cy="117300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030" y="4873191"/>
            <a:ext cx="861479" cy="83819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5*217"/>
  <p:tag name="TABLE_ENDDRAG_RECT" val="91*287*845*2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4*282"/>
  <p:tag name="TABLE_ENDDRAG_RECT" val="114*153*814*28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3958</Words>
  <Application>Microsoft Macintosh PowerPoint</Application>
  <PresentationFormat>Широкоэкранный</PresentationFormat>
  <Paragraphs>291</Paragraphs>
  <Slides>29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HelveticaNeueCyr</vt:lpstr>
      <vt:lpstr>Inter</vt:lpstr>
      <vt:lpstr>Libre Franklin</vt:lpstr>
      <vt:lpstr>Trebuchet MS</vt:lpstr>
      <vt:lpstr>Тема Office</vt:lpstr>
      <vt:lpstr>MedSim Интерактивный симулятор клинического мышления на основе математического моделирования физиологии и стандартов Минздрава РФ Акселерационная программа СПбГЭТУ «ЛЭТИ» «Технологический суверенитет» (Осень 2026)</vt:lpstr>
      <vt:lpstr>АКТУАЛЬНОСТЬ И ПРОБЛЕМАТИКА ПРОЕКТА</vt:lpstr>
      <vt:lpstr>РЕШЕНИЕ и ТЕХНОЛОГИЧЕСКОЕ ЯДРО ПРОЕКТА</vt:lpstr>
      <vt:lpstr>УРОВЕНЬ ГОТОВНОСТИ ТЕХНОЛОГИИ (TRL 5–6)</vt:lpstr>
      <vt:lpstr>ЦА и СТЕЙКХОЛДЕРЫ. ПАРТНЕРЫ</vt:lpstr>
      <vt:lpstr>ЦЕННОСТНОЕ ПРЕДЛОЖЕНИЕ</vt:lpstr>
      <vt:lpstr>КОНКУРЕНТЫ и АНАЛОГИ. РЫНОК</vt:lpstr>
      <vt:lpstr>МОДЕЛЬ МОНЕТИЗАЦИИ. БИЗНЕС-МОДЕЛЬ</vt:lpstr>
      <vt:lpstr>ФИНАНСОВАЯ МОДЕЛЬ</vt:lpstr>
      <vt:lpstr>ПРОДВИЖЕНИЕ ПРОЕКТА </vt:lpstr>
      <vt:lpstr>ПЛАНЫ РАЗВИТИЯ. ДОРОЖНАЯ КАРТА ПРОЕКТА</vt:lpstr>
      <vt:lpstr>ИНВЕСТИЦИОННЫЙ ЗАПРОС</vt:lpstr>
      <vt:lpstr>ЭКСПЕРТНОЕ ЗАКЛЮЧЕНИЕ</vt:lpstr>
      <vt:lpstr>ПРОГРЕСС КОМАНДЫ И ПРОЕКТА за ВРЕМЯ АКСЕЛЕРАЦИИ</vt:lpstr>
      <vt:lpstr>РИСКИ</vt:lpstr>
      <vt:lpstr>КОНТАКТЫ КОМАНДЫ</vt:lpstr>
      <vt:lpstr>ПРИЛОЖЕНИЯ</vt:lpstr>
      <vt:lpstr>Пункты паспорта «Актуальность». Трекинг-сессия №1-2</vt:lpstr>
      <vt:lpstr>Пункты паспорта «Проблема». Трекинг-сессия №1-2</vt:lpstr>
      <vt:lpstr>Пункты паспорта «Решение». Трекинг-сессия №3-4</vt:lpstr>
      <vt:lpstr>Пункты паспорта «ЦА, стейкхолдеры». Трекинг-сессия №3-4</vt:lpstr>
      <vt:lpstr>Пункты паспорта «Ценностное предложение»  Трекинг-сессия №4-5</vt:lpstr>
      <vt:lpstr>Пункты паспорта «MVP И КОНЕЧНЫЙ ПРОДУКТ»  Трекинг-сессия №3</vt:lpstr>
      <vt:lpstr>Пункты паспорта «Рынок и анализ конкурентов».  Трекинг-сессия №5</vt:lpstr>
      <vt:lpstr>Пункты паспорта «Бизнес-модель». Трекинг-сессия №6-7</vt:lpstr>
      <vt:lpstr>Пункты паспорта «Стратегия продвижения». Трекинг-сессия №7-8</vt:lpstr>
      <vt:lpstr>Пункты паспорта «Команда проекта». Трекинг-сессия №7-8</vt:lpstr>
      <vt:lpstr>Текущий статус проекта, дорожная карта проекта и призыв к действию. Трекинг-сессия №6-7</vt:lpstr>
      <vt:lpstr>ПРИЛОЖЕНИЕ. ВИЗУАЛЬНЫЕ ЭЛЕМЕНТЫ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</dc:creator>
  <cp:lastModifiedBy>Microsoft Office User</cp:lastModifiedBy>
  <cp:revision>41</cp:revision>
  <dcterms:created xsi:type="dcterms:W3CDTF">2025-09-18T20:24:00Z</dcterms:created>
  <dcterms:modified xsi:type="dcterms:W3CDTF">2026-10-23T17:52:15Z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D2733D9CE6F74A38BBE807DF712EF072_13</vt:lpwstr>
  </property>
  <property fmtid="{D5CDD505-2E9C-101B-9397-08002B2CF9AE}" pid="3" name="KSOProductBuildVer">
    <vt:lpwstr>1049-12.2.0.23196</vt:lpwstr>
  </property>
</Properties>
</file>